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12191695" cy="0"/>
          </a:xfrm>
          <a:prstGeom prst="bentConnector3">
            <a:avLst/>
          </a:prstGeom>
          <a:ln w="3810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115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國立高雄科技大學 · 海事資訊科技系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海勤人力資源與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作業安全決策系統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海象感知智慧排班 · 海事勤務雲端管理平台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114-2 巨量資料與雲端運算　|　第 2 組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組員　黃宇平（組長）· 傅瀚鋌 · 曾紹喆 · 劉家样 · 李翊丞 · 林秉賢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指導教師　張珀銀 老師　　　2026 年 6 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分析圖表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51392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897112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測試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4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76104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0.703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6104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ML AUC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009376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55096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55096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差距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355080"/>
            <a:ext cx="10911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整數規劃排班 · RandomForest 海況預測 · Isolation Forest 異常偵測 · Gradio 互動分析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核心定位 ·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海象只是輸入，輸出是「明天誰上哪艘船」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2461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輸入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明日海況預測（ML / Markov）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外海暴露輪換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2286000"/>
            <a:ext cx="32461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引擎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整數線性規劃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HiGHS 後端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ZONE_PRIORITY 加權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2286000"/>
            <a:ext cx="32461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輸出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明日三海域具名班表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建議輪休名單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決策可追溯理由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本系統整合值勤、人員、船艦、海象四類資料，最終輸出可執行的明日具名班表。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簡報大綱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從研究背景到決策引擎的完整技術鏈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上學期成果 · 三大不足 · 量化研究問題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9866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0258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0258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Docker 三容器 · 技術選型 · 一鍵部署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484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876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業務功能 · 權限分層 · 操作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最佳化 · 決策規則 · 實機班表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8698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9866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0258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0258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Schema · AR(1) 模擬 · 清洗品質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7316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8484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876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876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ANOVA · 卡方 · OLS · 相關矩陣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Holt · RandomForest · Markov · 異常偵測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68698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9866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0258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0258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公平性 · 船艦 · 雷達圖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8484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8876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8876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Gradio · Folium · GitHub CI · 總結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Background &amp; 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上學期系統成果回顧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量化研究問題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量化研究目的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上學期成果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從「紀錄工具」到「決策工具」的躍遷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212080" cy="36576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114-1 已完成（PHP + MySQL 雛形）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68880"/>
            <a:ext cx="46634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登入認證與 Session 管理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值勤打卡（上 / 下勤）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請假申請與審核流程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三層級權限（老闆 / 管理員 / 員工）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共 22 個 PHP 檔案，運行於 XAMPP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242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331720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41448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　部署侷限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788920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強依賴 Windows + XAMPP，無法跨平台移轉，不符雲端運維。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10712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410712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52044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　缺乏分析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67912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累積 1,200 筆紀錄卻產出 0 張圖表，管理層無從掌握趨勢。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89704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489704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99432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3　業務特性不足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946904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通用打卡 schema，未反映海域 / 海況 / 船艦等海事維度。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三個可量化的問題，對應三個明確目標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1226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環境不可重現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9631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原系統綁定 Windows + XAMPP，移轉新主機須手動安裝 Apache / PHP / MySQL 至少 3 套軟體，組態不可重現，異常時無法快速復原。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4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381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有資料、無洞察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2219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系統累積 1,200 筆值勤紀錄，卻產出 0 張分析圖表；管理層無法掌握工時負荷、海況與值勤量關聯，更無任何預測能力。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76402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排班全憑經驗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14807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排班未納入海況風險、人員疲勞、工時公平、船艦維護等至少 4 項決策因子，惡劣海況時段無法系統性縮減外海派遣員額。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對應問題設定三項可驗證的量化目標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跨平台容器化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 up 單一指令完成 web / db / analysis 三容器部署，啟動 &lt; 60 秒，異常可一鍵重建。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3938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538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資料分析能力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12538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12538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清洗 1,200 筆值勤 + 736 筆海象，產出 25 張涵蓋描述統計、檢定、預測、ML 的圖表，並附 Gradio 互動。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2538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2538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27796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6396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自動排班決策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56396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56396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build_schedule() 綜合 ML 海況預測、疲勞指數、外海暴露公平、船艦可用性 4 項輸入，自動產出明日具名班表。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6396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6396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Architecture &amp; Deployment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三容器架構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技術選型理由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一鍵部署流程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資料處理管線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三容器各司其職，共用網路與資料卷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pic>
        <p:nvPicPr>
          <p:cNvPr id="8" name="Picture 7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06" y="1828800"/>
            <a:ext cx="6842987" cy="42062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2880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28800"/>
            <a:ext cx="73152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4767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28600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php:8.2-apache ·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6032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22 個 PHP 檔 · 打卡 / 請假 / 排班 / 帳號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06324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063240"/>
            <a:ext cx="73152" cy="109728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318211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52044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mysql:8.0 · 內部網路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79476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張資料表 · db_data 卷持久化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429768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4297680"/>
            <a:ext cx="73152" cy="109728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41655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75488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python:3.11 · :7860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02920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/ ML / Gradio · 25 圖表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資料交換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analysis_output named volume 讓圖表與班表跨容器共用；連線憑證以 .env 注入，不寫死於程式碼。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技術選型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每一層的選擇都有明確理由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920240"/>
            <a:ext cx="30175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2024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6065215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192024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選用理由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40864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34086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4086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8.2 + Apache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34086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延用上學期成果，降低重寫成本、聚焦本學期分析與決策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76148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276148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76148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既有 schema 相容、生態完整、Docker 官方映像穩定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18211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608" y="318211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3.11 + Pandas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318211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課程必要技術，向量化處理與資料聚合能力強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02736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60273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視覺化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78608" y="360273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Matplotlib + Seaborn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60273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課程必要技術，靜態圖品質佳、可嵌入 PHP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2336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機器學習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402336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02336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/ IsolationForest / GridSearchCV 一站式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43984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44398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最佳化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44398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 (HiGHS)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444398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整數規劃求解器，排班全域最佳化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64608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86460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78608" y="486460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86460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免前端即建分析儀表板，port 7860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285232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528523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容器化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528523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528523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單指令啟動三服務、跨平台一致性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05856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70585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版控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70585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 / GitHub Actions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570585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commit 規範 + 45 項自動化測試 CI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1920240"/>
            <a:ext cx="10911535" cy="4206240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一行指令完成部署，並自動修復常見失敗點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858000" cy="416052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858000" cy="365760"/>
          </a:xfrm>
          <a:prstGeom prst="rect">
            <a:avLst/>
          </a:prstGeom>
          <a:solidFill>
            <a:srgbClr val="17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93391"/>
            <a:ext cx="128016" cy="128016"/>
          </a:xfrm>
          <a:prstGeom prst="ellipse">
            <a:avLst/>
          </a:prstGeom>
          <a:solidFill>
            <a:srgbClr val="E06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93391"/>
            <a:ext cx="128016" cy="128016"/>
          </a:xfrm>
          <a:prstGeom prst="ellipse">
            <a:avLst/>
          </a:prstGeom>
          <a:solidFill>
            <a:srgbClr val="E6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93391"/>
            <a:ext cx="128016" cy="128016"/>
          </a:xfrm>
          <a:prstGeom prst="ellipse">
            <a:avLst/>
          </a:prstGeom>
          <a:solidFill>
            <a:srgbClr val="5BB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38527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8AA0B2"/>
                </a:solidFill>
                <a:latin typeface="Consolas"/>
                <a:ea typeface="Microsoft JhengHei"/>
                <a:cs typeface="Consolas"/>
              </a:rPr>
              <a:t>bash ·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41447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git clone …/114-2_BigDataCC-2nd &amp;&amp; cd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6059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bash start_demo.sh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255263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6B450"/>
                </a:solidFill>
                <a:latin typeface="Consolas"/>
                <a:ea typeface="Microsoft JhengHei"/>
                <a:cs typeface="Consolas"/>
              </a:rPr>
              <a:t>✓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[1/5] 自動建立 .env（demo 預設密碼）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579875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[2/5] docker compose up --build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04487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[3/5] generate_mock_data.py  → 1,200 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29099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[4/5] fetch_sea_data.py      → 736 筆海象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553711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[5/5] analysis.py            → 25 張圖表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042915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localhost:8080  PHP 系統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367527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localhost:7860  Gradio 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1993391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&lt; 60 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423159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完整啟動時間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935223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3054095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.env 自動建立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483863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修正學校轉移失敗主因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95927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4114799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WSL2 後端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4544567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Desktop 跨平台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5056631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5175503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環境變數注入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5605271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帳密不入 repo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資料管線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從資料生成到決策呈現的單向流程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pic>
        <p:nvPicPr>
          <p:cNvPr id="8" name="Picture 7" descr="fig2_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673" y="2011680"/>
            <a:ext cx="8212347" cy="31089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管線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generate_mock_data → fetch_sea_data → analysis（清洗/統計/ML/排班）→ JSON+PNG → PHP &amp; Gradio 雙呈現。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Web Application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12 項業務功能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/ 打卡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管理員儀表板 Demo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功能總覽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完整業務系統，非僅展示用前端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login.php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· Session 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9866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punch.php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9866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打卡 · 即時海象橫幅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9866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records.php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個人值勤歷史查詢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999231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leave.php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請假申請（假別/起訖）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8698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9866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admin_status.php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全員值勤總覽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9866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7316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8484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admin_leave.php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8484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請假審核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8484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admin_users.php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帳號管理 / 停用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8698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68698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69866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admin_export.php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9866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 CSV 匯出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9866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7316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7316" y="4123943"/>
            <a:ext cx="64008" cy="96012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8484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scheduler.php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8484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明日排班決策頁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8484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admin_dashboard.php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分析儀表板 + 25 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8698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68698" y="5248655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69866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api_status.php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866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即時海況（60s 刷新）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69866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97316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97316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98484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reset_demo_pw.php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98484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Demo 密碼重設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98484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老闆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員工端：登入動畫與即時海象打卡頁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11</a:t>
            </a:r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1920240"/>
            <a:ext cx="4526280" cy="301752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02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040" y="1920240"/>
            <a:ext cx="4693920" cy="301752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029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登入頁 · 粒子波動動畫背景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029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打卡頁 · 即時海象橫幅 + 個人疲勞卡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測試帳號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boss1 / admin1 / em1　·　Demo 密碼 demo1234（種子密碼於首次啟動以 bcrypt 重設）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管理員端：25 張圖表 + 互動地圖整合儀表板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12</a:t>
            </a:r>
          </a:p>
        </p:txBody>
      </p:sp>
      <p:pic>
        <p:nvPicPr>
          <p:cNvPr id="8" name="Picture 7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163" y="1874519"/>
            <a:ext cx="3505032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0" y="1874519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儀表板內容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0" y="2203703"/>
            <a:ext cx="332201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0" y="2331719"/>
            <a:ext cx="33220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排班決策摘要（明日班表概覽）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互動海域地圖（可縮放點擊）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張統計圖表嵌入呈現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點選任一圖可展開原圖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每 60 秒自動刷新即時海象橫幅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響應式版面，行動裝置亦可瀏覽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Automated Scheduling Engine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為何排班是核心差異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scheduler.php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輸入 → 引擎 → 輸出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五條決策規則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數學模型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實機班表輸出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四項純海象資料系統無法產出的決策輸出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1860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73152" cy="13716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84832"/>
            <a:ext cx="4861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自動排班班表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87168"/>
            <a:ext cx="486140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綜合海況風險、人員疲勞、外海暴露、船艦可用性四項因子，自動產出明日具名值勤班表。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31860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920240"/>
            <a:ext cx="73152" cy="13716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9039" y="2084832"/>
            <a:ext cx="4861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039" y="2487168"/>
            <a:ext cx="486140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連續值勤天數（60%）× 近 7 日累計工時（40%）合成 0–100 疲勞分，高疲勞者自動降低外海負荷。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531860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73152" cy="137160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639312"/>
            <a:ext cx="4861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工時公平性 Gini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041648"/>
            <a:ext cx="486140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曲線量化人員工時分配均等度，Gini = 0.031，確保排班公平可追溯。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474720"/>
            <a:ext cx="531860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3474720"/>
            <a:ext cx="73152" cy="13716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9039" y="3639312"/>
            <a:ext cx="4861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船艦可用性管理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9039" y="4041648"/>
            <a:ext cx="486140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依累計趟次推估維護需求，可用度 ≤ 15% 自動排除於排班候選池。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四項功能共用同一個排班引擎，以 MILP 全域最佳化一次求解 — 不是分別看四張圖再人工判斷。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scheduler.php：海況機率自動產出明日班表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14</a:t>
            </a:r>
          </a:p>
        </p:txBody>
      </p:sp>
      <p:pic>
        <p:nvPicPr>
          <p:cNvPr id="8" name="Picture 7" descr="02_sched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36" y="1874519"/>
            <a:ext cx="3314047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852160" y="1874519"/>
            <a:ext cx="56994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頁面資訊架構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160" y="2203703"/>
            <a:ext cx="56994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52160" y="2331719"/>
            <a:ext cx="56994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頁頂 KPI：四項決策輸入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明日惡劣海況機率（ML 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高疲勞人數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可用 / 維護中船艦數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三欄班表：港口 · 近海 · 外海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每張人員卡：姓名 / 船艦 / 疲勞分 / 暴露%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附具體配置理由（可追溯）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下方：輪休建議 + 船艦可用性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顯示 MILP 引擎與最優性差距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運作流程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四項輸入經引擎整合，輸出可執行班表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15</a:t>
            </a:r>
          </a:p>
        </p:txBody>
      </p:sp>
      <p:pic>
        <p:nvPicPr>
          <p:cNvPr id="8" name="Picture 7" descr="fig3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026" y="1920240"/>
            <a:ext cx="5691641" cy="3200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海況、疲勞、暴露、船艦四訊號在引擎中被聯合最佳化 — 不是分別看四張圖，而是一次解出最優指派。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決策規則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五條規則編碼海事作業安全與公平原則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18607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48256"/>
            <a:ext cx="41298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海況風險調控員額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14016"/>
            <a:ext cx="4129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明日惡劣機率 ≥ 50% → 外海僅留 1 人；&lt; 25% → 外海最多 4 人。機率越高、外海員額越少。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318607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847" y="2048256"/>
            <a:ext cx="41298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外海輪換公平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47" y="2414016"/>
            <a:ext cx="4129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外海優先指派「疲勞低 AND 外海累積暴露低」者，兼顧安全與輪換公平。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5318607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328416"/>
            <a:ext cx="41298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過勞者輕負荷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94176"/>
            <a:ext cx="4129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疲勞 ≥ 65（高）自動配置港口值守；人力充足且疲勞 ≥ 80 列入建議輪休。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200400"/>
            <a:ext cx="5318607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847" y="3328416"/>
            <a:ext cx="41298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847" y="3694176"/>
            <a:ext cx="4129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≤ 15% 標記需維護，不進入候選池；每艦僅一組人員。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911535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608576"/>
            <a:ext cx="97228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全域最佳化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974336"/>
            <a:ext cx="9722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scipy.optimize.milp（HiGHS）對人員×船艦矩陣求全域最優，ZONE_PRIORITY 確保安全關鍵海域優先填滿。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最佳化求解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把排班問題交給數學求解器，找全域最優指派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4747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人員清單（疲勞分、外海暴露率）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可用船艦清單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明日惡劣海況機率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各海域可容員額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2011680"/>
            <a:ext cx="34747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求解器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scipy.optimize.milp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目標：最小化綜合成本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限制：每人一船、每船一組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安全關鍵海域優先填滿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2011680"/>
            <a:ext cx="34747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410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10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具名人員×船艦指派矩陣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三海域值勤班表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輪休建議清單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最優性驗證（差距 0%）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將所有限制同時納入求解，不會因順序不同而得到不同班表 — 結果可重現、可驗證。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最優性驗證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證明貪婪法在此規模已達全域最優（差距 0%）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18</a:t>
            </a:r>
          </a:p>
        </p:txBody>
      </p:sp>
      <p:pic>
        <p:nvPicPr>
          <p:cNvPr id="8" name="Picture 7" descr="schedu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3868628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745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74519"/>
            <a:ext cx="3687775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19842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3682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指派成本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7889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788919"/>
            <a:ext cx="3687775" cy="54864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28986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2" y="32826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貪婪基準成本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7033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3703319"/>
            <a:ext cx="3687775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38130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41970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09160"/>
            <a:ext cx="3687775" cy="123444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828032"/>
            <a:ext cx="33220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學術誠實：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差距 0% 不是缺陷，而是「在 8 艦×12 人規模下貪婪法恰好已達全域最優」的數學驗證 — 這是有意義的正確結果。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實機輸出 · 2026-06-07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明日惡劣海況 38.5%，引擎自動配置外海 2 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545003" cy="54864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MILP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求解引擎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3683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3683" y="1828800"/>
            <a:ext cx="2545003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8275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8275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1567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1567" y="1828800"/>
            <a:ext cx="2545003" cy="54864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38.5%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惡劣機率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451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51" y="1828800"/>
            <a:ext cx="2545003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043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043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外海員額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907792"/>
            <a:ext cx="118872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907792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2907792"/>
            <a:ext cx="182880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2907792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2907792"/>
            <a:ext cx="182880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67328" y="2907792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船艦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907792"/>
            <a:ext cx="118872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907792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疲勞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2907792"/>
            <a:ext cx="155448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2907792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外海暴露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907792"/>
            <a:ext cx="3322015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8" y="2907792"/>
            <a:ext cx="313913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配置理由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291840"/>
            <a:ext cx="10911535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291840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3291840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林佳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3291840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3291840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3291840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8.3%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291840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低疲勞且外海暴露低，適合輪派外海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593592"/>
            <a:ext cx="10911535" cy="301752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3593592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8528" y="3593592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劉燕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67328" y="3593592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3593592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4848" y="3593592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7.7%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3593592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低疲勞且外海暴露低，適合輪派外海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3895344"/>
            <a:ext cx="10911535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3895344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38528" y="3895344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鄭宇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7328" y="3895344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96128" y="3895344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3895344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3895344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197096"/>
            <a:ext cx="10911535" cy="301752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4197096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8528" y="4197096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孫芳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67328" y="4197096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4197096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4197096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33.3%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8" y="4197096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498848"/>
            <a:ext cx="10911535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4498848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38528" y="4498848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吳超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67328" y="4498848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96128" y="4498848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84848" y="4498848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4498848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4800600"/>
            <a:ext cx="10911535" cy="301752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9808" y="4800600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8528" y="4800600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陳偉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67328" y="4800600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96128" y="4800600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53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4800600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8" y="4800600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疲勞偏高，配置港口輕負荷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5102352"/>
            <a:ext cx="10911535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9808" y="5102352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8528" y="5102352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黃峻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8" y="5102352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96128" y="5102352"/>
            <a:ext cx="100584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84848" y="5102352"/>
            <a:ext cx="13716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12.5%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39328" y="5102352"/>
            <a:ext cx="313913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疲勞偏高，配置港口輕負荷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2907792"/>
            <a:ext cx="10911535" cy="2496312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決策亮點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系統自動將最低暴露者派外海、本次無人達輪休門檻、人力配置均衡 — 一次完成安全與公平兩個目標。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Data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Schema 設計與擴充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AR(1) 時序模擬模型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海域×海況機率設計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清洗與品質控管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在通用打卡表上擴充三個海事業務欄位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12648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attendance 表（核心）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377440"/>
            <a:ext cx="55778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att_id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流水號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user_id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FK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值班人員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work_date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值班日期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上勤 07–09h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下勤（依海況）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duty_zone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港口/近海/外海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平靜/輕/中/大浪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vessel_id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VARCHAR ←新增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MAR-001~008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1874519"/>
            <a:ext cx="4373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其他三張表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228600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432304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users</a:t>
            </a: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 13 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852928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347472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920" y="3621024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leaves</a:t>
            </a: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 60 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041648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請假申請/審核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78040" y="466344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4809744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sea_observations</a:t>
            </a: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 736 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230368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CWA 浮標觀測（無金鑰自動模擬）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模擬模型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海象具「持續性」：今天浪大、明天多半也大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設計出發點：真實海象的時序特性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23160"/>
            <a:ext cx="475488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786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天氣系統持續 3–7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52928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今日大浪，明日通常也是大浪，不會突然平靜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獨立隨機抽樣不夠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若每筆各自抽，海況沒有日際關聯，排班預測失去意義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時序自相關模型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462272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用前一日的海況嚴重度加上隨機擾動，生成下一日海況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926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效果驗證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66944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海況預測 AUC = 0.703（有時序訊號可學習）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74519"/>
            <a:ext cx="5196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機率結構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2203703"/>
            <a:ext cx="5196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2331719"/>
            <a:ext cx="5196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兩層機率設計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海域決定各海況基礎機率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外海大浪基礎率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港口大浪基礎率 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時序調整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前日惡劣 → 今日惡劣機率升高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生成 1,200 筆有時序結構的值勤紀錄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讓後續 Markov、ML 預測有意義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機率設計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海域決定海況分布，海況決定工時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0116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4086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平靜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4378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84378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輕浪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4670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4670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中浪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84962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84962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大浪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1920240"/>
            <a:ext cx="7498080" cy="243230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1920240"/>
            <a:ext cx="3230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設計邏輯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2249424"/>
            <a:ext cx="32305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40" y="2377440"/>
            <a:ext cx="32305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海域出勤：港口 35% / 近海 40% / 外海 25%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外海大浪機率 20%，是港口的 20 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大浪天提前下勤 100 分鐘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直接連動工時縮減效應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07:00–09:00 隨機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閉環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機率設計使「海域→海況→工時」三者環環相扣，後續 ANOVA、卡方、OLS 才能驗出顯著結構。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清洗品質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三步驟清洗，剔除率 &lt; 1%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9397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缺失值移除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244144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44144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dropna(check_in, check_out, duty_zone, sea_state, vessel_id)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2316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確保分析關鍵欄位完整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37413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工時計算與過濾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72160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2160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hours = (check_out − check_in)/3600；保留 4 ≤ hours ≤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70332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剔除未完整打卡與異常長工時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65429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衍生欄位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83080" y="500176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0" y="500176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month_str = work_date.strftime('%Y-%m')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98348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供月度分組與時序分析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Statistical Analysis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檢定結果總覽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ANOVA · 海況→工時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卡方 · 海域×海況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Spearman 相關矩陣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四項檢定，全部顯著（數值為實機輸出）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2522143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F = 249.1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單因子 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&lt; 0.0001 · 海況顯著影響工時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6543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6543" y="1920240"/>
            <a:ext cx="2522143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χ² = 232.8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卡方獨立性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df=6 · 海域與海況顯著關聯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920240"/>
            <a:ext cx="2522143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3007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R² = 0.801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特徵解釋 80.1% 工時變異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471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9471" y="1920240"/>
            <a:ext cx="2522143" cy="640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9471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Gini = 0.031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6631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工時公平性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近乎完全均等分配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26280"/>
            <a:ext cx="10911535" cy="14173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45152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統計意涵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983480"/>
            <a:ext cx="104543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大浪天工時較平靜天短約 1.5 小時（ANOVA）；外海大浪比例 20% vs 港口 1%（卡方）→ 排班引擎據此縮減外海員額；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工時受海況 / 海域 / 星期 / 打卡時刻共同決定，解釋力 80.1%，遠高於任何單維度模型。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海況等級越高，值勤工時越短（F = 249.1, p &lt; 0.0001）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pic>
        <p:nvPicPr>
          <p:cNvPr id="8" name="Picture 7" descr="hour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01" y="1874519"/>
            <a:ext cx="6493397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H0：各海況平均工時相同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F = 249.104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四組間至少一對顯著差異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大浪中位數較平靜低約 1.5h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對應機制：大浪提前下勤 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數據驗證了模擬設計的因果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卡方檢定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海域與海況並非獨立：外海明顯偏向惡劣海況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26</a:t>
            </a:r>
          </a:p>
        </p:txBody>
      </p:sp>
      <p:pic>
        <p:nvPicPr>
          <p:cNvPr id="8" name="Picture 7" descr="zone_se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99" y="1874519"/>
            <a:ext cx="5659441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98080" y="1874519"/>
            <a:ext cx="4053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0" y="2203703"/>
            <a:ext cx="4053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0" y="2331719"/>
            <a:ext cx="4053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H0：海域與海況彼此獨立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χ² = 232.811，df = 6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外海大浪佔比 ≈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港口大浪佔比 ≈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海域分配直接決定風險暴露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排班引擎縮減外海員額的依據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OLS 迴歸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上工時刻與海況是工時的兩大負向驅動因子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27</a:t>
            </a:r>
          </a:p>
        </p:txBody>
      </p:sp>
      <p:pic>
        <p:nvPicPr>
          <p:cNvPr id="8" name="Picture 7" descr="regression_co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0288"/>
            <a:ext cx="6766560" cy="3751821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模型結果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標準化 OLS（numpy.linalg.lstsq）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R² = 0.801（解釋 80.1% 變異）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β = −0.554（最強）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海況等級 β = −0.530（次強）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海域距岸 β ≈ 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星期 β = −0.018（可忽略）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β 已標準化，可直接比較重要性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相關矩陣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有序變數用 Spearman，揭示工時關聯結構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28</a:t>
            </a:r>
          </a:p>
        </p:txBody>
      </p:sp>
      <p:pic>
        <p:nvPicPr>
          <p:cNvPr id="8" name="Picture 7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36" y="1874519"/>
            <a:ext cx="4783328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80760" y="1874519"/>
            <a:ext cx="5470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方法與發現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203703"/>
            <a:ext cx="54708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80760" y="2331719"/>
            <a:ext cx="5470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海況為有序離散變數，Pearson 不適用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改用 Spearman 等級相關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主要發現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上工時刻：r ≈ −0.65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海況等級：r ≈ −0.56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 ↔ 海域：r ≈ +0.43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外海海況較惡劣的數值確認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亦作為 OLS 特徵共線性診斷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Forecasting &amp; Machine Learning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線性 + Holt 雙模型預測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海況分類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Markov 海況轉移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Isolation Forest 異常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時間序列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線性外推與 Holt 雙指數平滑並排對照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29</a:t>
            </a:r>
          </a:p>
        </p:txBody>
      </p:sp>
      <p:pic>
        <p:nvPicPr>
          <p:cNvPr id="8" name="Picture 7" descr="forecast_du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4" y="1874519"/>
            <a:ext cx="4644571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forecast_h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611" y="3977639"/>
            <a:ext cx="4652777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92240" y="1874519"/>
            <a:ext cx="5059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兩種方法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92240" y="2203703"/>
            <a:ext cx="50593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92240" y="2331719"/>
            <a:ext cx="50593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線性外推（上）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依趨勢線性延伸預測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含 95% 信賴區間帶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雙指數平滑（下）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同時追蹤水準 + 趨勢分量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以純 NumPy 自行實作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對近期資料給予更高權重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兩模型並排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比較預測差異，增加可信度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趨勢方向一致即為穩健預測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機器學習 ·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AUC = 0.703：用 TimeSeriesSplit 避免未來洩漏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30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9447"/>
            <a:ext cx="6766560" cy="3733502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ML 設計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目標變數設計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mid_share = 當日中浪以上比例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rough = (mid_share ≥ 0.35)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正例率 ~25%（原始僅 4%）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訓練配置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GridSearchCV 超參數搜尋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class_weight = balanced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TimeSeriesSplit(5) 防未來洩漏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測試集 acc 0.692 / AUC 0.703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MARKOV 轉移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海況具狀態惰性，可外推未來 7 天惡劣機率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31</a:t>
            </a:r>
          </a:p>
        </p:txBody>
      </p:sp>
      <p:pic>
        <p:nvPicPr>
          <p:cNvPr id="8" name="Picture 7" descr="marko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229" y="1920240"/>
            <a:ext cx="9533235" cy="338328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純 NumPy 矩陣連乘外推 7 天；本次大浪期望機率 13.6%，超過 15% 即自動觸發排班預警。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異常偵測 · ISOLATION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單維 Z-score + 五維 Isolation Forest 互補偵測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32</a:t>
            </a:r>
          </a:p>
        </p:txBody>
      </p:sp>
      <p:pic>
        <p:nvPicPr>
          <p:cNvPr id="8" name="Picture 7" descr="anomaly_iso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3850"/>
            <a:ext cx="6949440" cy="328469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兩法比較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Z-score（工時單維）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工時超出 ±2σ 範圍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識別工時過長 / 過短的紀錄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Forest（五維聯合）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同時考慮工時、海況、海域、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  打卡時刻、星期五個維度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偵測「情境型異常」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互補效果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兩法聯用：工時正常但情境異常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的紀錄，Z-score 看不到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Workforce Decision Analytics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工時公平性 Lorenz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人員五維雷達圖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疲勞指數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連續值勤 × 近 7 日工時，量化過勞風險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33</a:t>
            </a:r>
          </a:p>
        </p:txBody>
      </p:sp>
      <p:pic>
        <p:nvPicPr>
          <p:cNvPr id="8" name="Picture 7" descr="fati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69" y="1874519"/>
            <a:ext cx="689446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計算方式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合成公式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連續值勤天數 權重 60%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近 7 日累計工時 權重 40%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合成為 0–100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low &lt; 40（綠）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 40–65（橘）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high ≥ 65（紅）→ 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高疲勞者由排班引擎自動避開高負荷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工時公平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Gini = 0.031：工時分配近乎完全均等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34</a:t>
            </a:r>
          </a:p>
        </p:txBody>
      </p:sp>
      <p:pic>
        <p:nvPicPr>
          <p:cNvPr id="8" name="Picture 7" descr="fairness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80" y="1874519"/>
            <a:ext cx="469920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1874519"/>
            <a:ext cx="5105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Lorenz / Gini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46520" y="2203703"/>
            <a:ext cx="510509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2331719"/>
            <a:ext cx="510509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Gini 係數移植自經濟學分配理論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0 = 完全平均，1 = 極度集中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本系統 Gini = 0.031 → 高度均等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曲線緊貼對角線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自動標記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過勞：工時 ≥ 中位數 ×1.3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閒置：工時 ≤ 中位數 ×0.7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本次無人員達門檻 → 輪班執行均勻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此維度純海象系統無法產出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船艦可用性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維護里程推估，需維護船艦自動排除於排班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35</a:t>
            </a:r>
          </a:p>
        </p:txBody>
      </p:sp>
      <p:pic>
        <p:nvPicPr>
          <p:cNvPr id="8" name="Picture 7" descr="vessel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975"/>
            <a:ext cx="6949440" cy="381644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可用度模型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= f(累計趟次 mod 45)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MAINT_INTERVAL = 45 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≤ 15% → 標記「需維護」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需維護船艦不進入排班候選池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與疲勞 / 暴露聯動，避免高風險組合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本次：所有船艦可用、無需維護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人員雷達圖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五維能力輪廓，支援精準調度決策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36</a:t>
            </a:r>
          </a:p>
        </p:txBody>
      </p:sp>
      <p:pic>
        <p:nvPicPr>
          <p:cNvPr id="8" name="Picture 7" descr="crew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74519"/>
            <a:ext cx="469392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12280" y="1874519"/>
            <a:ext cx="4739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維度與應用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12280" y="2203703"/>
            <a:ext cx="47393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12280" y="2331719"/>
            <a:ext cx="47393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五維：出勤次數 / 總工時 / 平均工時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　　　/ 外海暴露率 / 大浪暴露率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最大值歸一化，取前 6 名人員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如何輔助排班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外海+大浪暴露高 → 換至近海/港口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暴露低+疲勞低 → 外海最佳候選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總工時偏高 → 潛在過勞、建議輪休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補足 Lorenz 只看整體分配的不足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Interface &amp;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 互動分析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互動地圖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GitHub 管理與 CI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技術清單與結語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GRADIO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篩選即時重跑 25 張圖表，七大分頁覆蓋全分析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59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勤務決策建議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3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海況警示 · 海域風險 · 外海暴露 Top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874519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874519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1965959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時序趨勢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295143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月度趨勢 · 請假走勢 · 週幾出勤（3）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70631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70631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62071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5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線性 · Holt · 相關 · OLS · 特徵重要度（5）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770631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2770631"/>
            <a:ext cx="82296" cy="7498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2862071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 × 海況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3191255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分布 · 堆疊 · 箱型 · 工時熱力（4）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66743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66743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758183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87367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Lorenz · 船艦 · 雷達 · 分群 · MILP（6）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3666743"/>
            <a:ext cx="531860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3007" y="3666743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7327" y="3758183"/>
            <a:ext cx="48614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資源調度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7327" y="4087367"/>
            <a:ext cx="48614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船艦次數 · Pareto · 人員熱力（3）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62855"/>
            <a:ext cx="10911535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562855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654295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異常診斷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83479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Z-score + Isolation Forest（2）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篩選在 SQL 層執行（不佔記憶體）；結果存 filtered_*，不覆蓋全覽，PHP 儀表板持續可用。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FOLIUM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三海域風險圈 + 船艦 + CWA 浮標站互動地圖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38</a:t>
            </a:r>
          </a:p>
        </p:txBody>
      </p:sp>
      <p:pic>
        <p:nvPicPr>
          <p:cNvPr id="8" name="Picture 7" descr="zone_map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672" y="1874519"/>
            <a:ext cx="4889374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地圖功能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Folium（leaflet.js）輸出 duty_map.html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縮放 / 平移 / 點擊 popup 互動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三海域半透明風險圈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點船艦標記：編號 / 海域 / 狀態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點浮標站：最新波高 / 海況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靜態 PNG 內嵌 PHP，HTML 版以 iframe 呈現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GITHUB &amp; 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規範化 commit + 45 項自動化測試全綠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類型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74519"/>
            <a:ext cx="5760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874519"/>
            <a:ext cx="5577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commit 說明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9514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2951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[docker]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8" y="22951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三容器 docker-compose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9806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9806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[app]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79806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系統 + 明日排班決策頁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30098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[data]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330098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模擬資料 + CWA 海象管線（AR(1)）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80390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[analysis]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380390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 MILP + 25 圖 + ML + IsoForest + Holt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0682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30682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[docs]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30682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期末報告 · 投影片 · stats_summary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0974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097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[fix]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04288" y="48097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start_demo.sh 自動建 .env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874519"/>
            <a:ext cx="7315200" cy="343814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40" y="1874519"/>
            <a:ext cx="3230575" cy="406908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GitHub Actions CI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9640" y="2377440"/>
            <a:ext cx="2773375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49640" y="2542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45 項測試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2542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全數通過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9992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排班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9992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無雙重指派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Holt 預測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564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趨勢追蹤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9136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9136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5% 污染率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3708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CV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3708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時序分割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4828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圖表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828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全部生成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49640" y="5440680"/>
            <a:ext cx="2773375" cy="384048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5440680"/>
            <a:ext cx="27733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45 passed in 17.87s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技術清單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必要 4／4 · 選擇性 7 · 差異化創新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必要技術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Python + Pandas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清洗 / 統計 / 排班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Matplotlib / Seaborn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25 張圖表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三容器一鍵部署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77056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 / GitHub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45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3938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選擇性技術 (7)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1098" y="2450592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四張資料表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098" y="2926080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Apache + PHP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完整業務系統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3401568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RF + IsoForest + GridSearch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098" y="3877056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Folium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互動海域地圖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352544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1098" y="4828032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CWA 開放資料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浮標海象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098" y="5303520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Jupyter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EDA 紀錄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7796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差異化創新 (4)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450592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(HiGHS)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排班全域最佳化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926080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5 維異常偵測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3401568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平滑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純 NumPy 趨勢預測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3877056"/>
            <a:ext cx="31494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 </a:t>
            </a: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五維調度輪廓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專題管理 · 團隊分工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技術實作集中於組長，組員各司支援角色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0911535" cy="196596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" cy="196596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8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黃宇平（組長）</a:t>
            </a: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　·　系統全棧技術實作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" y="2432304"/>
            <a:ext cx="10326319" cy="0"/>
          </a:xfrm>
          <a:prstGeom prst="bentConnector3">
            <a:avLst/>
          </a:prstGeom>
          <a:ln w="12700">
            <a:solidFill>
              <a:srgbClr val="D4A2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87552" y="2578608"/>
            <a:ext cx="495284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三容器建置與一鍵部署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22 檔 Linux 化 + 排班決策頁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MySQL Schema 擴充 + 1,200 筆模擬資料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CWA 浮標海象資料管線整合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3279" y="2578608"/>
            <a:ext cx="495284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清洗 + 統計檢定 + 25 張圖表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預測 + MILP 排班引擎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 儀表板 + Folium 互動地圖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GitHub Actions CI + 期末報告與簡報製作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800"/>
            <a:ext cx="2011680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1148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組員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4114800"/>
            <a:ext cx="8899855" cy="38404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4114800"/>
            <a:ext cx="87169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負責項目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98848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98848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傅瀚鋌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4498848"/>
            <a:ext cx="87169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作業工具支援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64608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864608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曾紹喆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4864608"/>
            <a:ext cx="87169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題目設定討論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0368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230368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劉家样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5230368"/>
            <a:ext cx="87169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輔助驗收功能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596128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596128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李翊丞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5596128"/>
            <a:ext cx="87169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題目程式碼解決輔助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961888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961888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林秉賢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1488" y="5961888"/>
            <a:ext cx="87169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專題虛擬環境程式碼解決輔助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0911535" cy="2212848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11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結語 ·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本學期達成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087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三容器一鍵部署，修正跨平台轉移問題（start_demo.sh 自動建 .env）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574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整數規劃排班引擎 — 全域最優性差距 0%，全班唯一具名班表輸出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0604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RandomForest（acc 0.692 / AUC 0.703）+ Markov 雙模型海況預測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5468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 5 維異常偵測，補強 Z-score 盲區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 + 線性外推雙趨勢預測（純 NumPy）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2519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 · 疲勞指數 · Gini 0.031 · 船艦可用性四項人力決策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006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25 張圖表 · 45 項 CI 全綠 · F=249.1 · χ²=232.8 · R²=0.801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未來展望：CWA 即時 API · 多日滾動排班 · 行動裝置打卡推播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035040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11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海象感知 × 人力資源 × 自動排班 — 從資料到決策的完整技術鏈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