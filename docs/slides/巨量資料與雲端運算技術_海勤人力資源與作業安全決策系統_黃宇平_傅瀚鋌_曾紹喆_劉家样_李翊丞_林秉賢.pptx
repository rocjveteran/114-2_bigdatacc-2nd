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12191695" cy="0"/>
          </a:xfrm>
          <a:prstGeom prst="bentConnector3">
            <a:avLst/>
          </a:prstGeom>
          <a:ln w="3810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國立高雄科技大學 · 海事資訊科技系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海勤人力資源與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作業安全決策系統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海象感知智慧排班 · 海事勤務雲端管理平台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114-2 巨量資料與雲端運算　|　第 2 組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組員　黃宇平（組長）· 傅瀚鋌 · 曾紹喆 · 劉家样 · 李翊丞 · 林秉賢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指導教師　張珀銀 老師　　　2026 年 6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4937760"/>
            <a:ext cx="1005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4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5532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分析圖表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51392" y="4983480"/>
            <a:ext cx="0" cy="86868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897112" y="4937760"/>
            <a:ext cx="1005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4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2" y="5532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CI 測試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30384" y="4983480"/>
            <a:ext cx="0" cy="86868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76104" y="4937760"/>
            <a:ext cx="1005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4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0.811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6104" y="5532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ML AUC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009376" y="4983480"/>
            <a:ext cx="0" cy="86868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055096" y="4937760"/>
            <a:ext cx="1005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4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55096" y="5532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MILP 差距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355080"/>
            <a:ext cx="1091153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MILP 整數規劃排班 · RandomForest 海況預測 · Isolation Forest 異常偵測 · Gradio 互動分析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核心定位 ·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海象只是輸入，輸出是「明天誰上哪艘船」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3246120" cy="64008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輸入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9232"/>
            <a:ext cx="2788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明日海況預測（ML / Markov）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人員疲勞指數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外海暴露輪換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船艦可用性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86000"/>
            <a:ext cx="6400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28600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2286000"/>
            <a:ext cx="3246120" cy="640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48716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引擎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999232"/>
            <a:ext cx="2788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MILP 整數線性規劃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scipy.optimize.milp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HiGHS 後端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ZONE_PRIORITY 加權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286000"/>
            <a:ext cx="6400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28600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2286000"/>
            <a:ext cx="3246120" cy="64008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48716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輸出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999232"/>
            <a:ext cx="2788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明日三海域具名班表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建議輪休名單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維護船艦排除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決策可追溯理由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核心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本系統整合值勤、人員、船艦、海象四類資料，最終輸出可執行的明日具名班表。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簡報大綱 ·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從研究背景到決策引擎的完整技術鏈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12264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48840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研究背景與動機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69464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上學期成果 · 三大不足 · 量化研究問題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965960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9866" y="2112264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0258" y="2148840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系統架構與部署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0258" y="2569464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Docker 三容器 · 技術選型 · 一鍵部署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6" y="1965960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8484" y="2112264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8876" y="2148840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PHP 應用系統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8876" y="2569464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業務功能 · 權限分層 · 操作 Demo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38728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685032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721608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核心：自動排班引擎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142232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MILP 最佳化 · 決策規則 · 實機班表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8698" y="3538728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9866" y="3685032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0258" y="3721608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資料工程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0258" y="4142232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Schema · AR(1) 模擬 · 清洗品質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7316" y="3538728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8484" y="3685032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8876" y="3721608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統計分析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8876" y="4142232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ANOVA · 卡方 · OLS · 相關矩陣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111496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257800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294376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預測與機器學習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5715000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Holt · RandomForest · Markov · 異常偵測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68698" y="5111496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9866" y="5257800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20258" y="5294376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人力資源決策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0258" y="5715000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疲勞 · 公平性 · 船艦 · 雷達圖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7316" y="5111496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98484" y="5257800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8876" y="5294376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互動介面與工程品質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8876" y="5715000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Gradio · Folium · GitHub CI · 總結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研究背景與動機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Background &amp; Motivation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上學期系統成果回顧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三項主要不足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量化研究問題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量化研究目的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研究背景 · 上學期成果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從「紀錄工具」到「決策工具」的躍遷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212080" cy="365760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114-1 已完成（PHP + MySQL 雛形）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468880"/>
            <a:ext cx="4663440" cy="0"/>
          </a:xfrm>
          <a:prstGeom prst="bentConnector3">
            <a:avLst/>
          </a:prstGeom>
          <a:ln w="12700">
            <a:solidFill>
              <a:srgbClr val="C5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606040"/>
            <a:ext cx="4663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登入認證與 Session 管理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值勤打卡（上 / 下勤）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請假申請與審核流程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三層級權限（老闆 / 管理員 / 員工）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共 22 個 PHP 檔案，運行於 XAMPP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242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BC5B41"/>
                </a:solidFill>
                <a:latin typeface="Microsoft JhengHei"/>
                <a:ea typeface="Microsoft JhengHei"/>
                <a:cs typeface="Microsoft JhengHei"/>
              </a:rPr>
              <a:t>三項主要不足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31720"/>
            <a:ext cx="524225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331720"/>
            <a:ext cx="73152" cy="914400"/>
          </a:xfrm>
          <a:prstGeom prst="rect">
            <a:avLst/>
          </a:prstGeom>
          <a:solidFill>
            <a:srgbClr val="BC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441448"/>
            <a:ext cx="4830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1　部署侷限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788920"/>
            <a:ext cx="48307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強依賴 Windows + XAMPP，無法跨平台移轉，不符雲端運維。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10712"/>
            <a:ext cx="524225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410712"/>
            <a:ext cx="73152" cy="914400"/>
          </a:xfrm>
          <a:prstGeom prst="rect">
            <a:avLst/>
          </a:prstGeom>
          <a:solidFill>
            <a:srgbClr val="BC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520440"/>
            <a:ext cx="4830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2　缺乏分析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867912"/>
            <a:ext cx="48307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累積 1,200 筆紀錄卻產出 0 張圖表，管理層無從掌握趨勢。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489704"/>
            <a:ext cx="524225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489704"/>
            <a:ext cx="73152" cy="914400"/>
          </a:xfrm>
          <a:prstGeom prst="rect">
            <a:avLst/>
          </a:prstGeom>
          <a:solidFill>
            <a:srgbClr val="BC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599432"/>
            <a:ext cx="4830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3　業務特性不足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946904"/>
            <a:ext cx="48307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通用打卡 schema，未反映海域 / 海況 / 船艦等海事維度。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研究背景 · 研究問題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三個可量化的問題，對應三個明確目標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911535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1051560" cy="1143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515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12264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環境不可重現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496312"/>
            <a:ext cx="93570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原系統綁定 Windows + XAMPP，移轉新主機須手動安裝 Apache / PHP / MySQL 至少 3 套軟體，組態不可重現，異常時無法快速復原。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40"/>
            <a:ext cx="10911535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1051560" cy="1143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10515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38144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有資料、無洞察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822192"/>
            <a:ext cx="93570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系統累積 1,200 筆值勤紀錄，卻產出 0 張分析圖表；管理層無法掌握工時負荷、海況與值勤量關聯，更無任何預測能力。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17720"/>
            <a:ext cx="10911535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617720"/>
            <a:ext cx="1051560" cy="1143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17720"/>
            <a:ext cx="10515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764024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排班全憑經驗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148072"/>
            <a:ext cx="93570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排班未納入海況風險、人員疲勞、工時公平、船艦維護等至少 4 項決策因子，惡劣海況時段無法系統性縮減外海派遣員額。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研究背景 · 研究目的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對應問題設定三項可驗證的量化目標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42381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3423818" cy="640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2966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目標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2966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跨平台容器化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3108960"/>
            <a:ext cx="2966618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3246120"/>
            <a:ext cx="296661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docker compose up 單一指令完成 web / db / analysis 三容器部署，啟動 &lt; 60 秒，異常可一鍵重建。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89204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E9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對應 Q1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3938" y="1965960"/>
            <a:ext cx="342381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3938" y="1965960"/>
            <a:ext cx="3423818" cy="640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2538" y="2240280"/>
            <a:ext cx="2966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目標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538" y="2606040"/>
            <a:ext cx="2966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資料分析能力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12538" y="3108960"/>
            <a:ext cx="2966618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12538" y="3246120"/>
            <a:ext cx="296661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Pandas 清洗 1,200 筆值勤 + 736 筆海象，產出 25 張涵蓋描述統計、檢定、預測、ML 的圖表，並附 Gradio 互動。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2538" y="489204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E9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2538" y="4892040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對應 Q2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7796" y="1965960"/>
            <a:ext cx="342381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27796" y="1965960"/>
            <a:ext cx="3423818" cy="640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6396" y="2240280"/>
            <a:ext cx="2966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目標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6396" y="2606040"/>
            <a:ext cx="2966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自動排班決策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56396" y="3108960"/>
            <a:ext cx="2966618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56396" y="3246120"/>
            <a:ext cx="296661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build_schedule() 綜合 ML 海況預測、疲勞指數、外海暴露公平、船艦可用性 4 項輸入，自動產出明日具名班表。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56396" y="489204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E9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6396" y="4892040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對應 Q3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系統架構與部署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Architecture &amp; Deployment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Docker 三容器架構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技術選型理由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一鍵部署流程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資料處理管線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系統架構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三容器各司其職，共用網路與資料卷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06</a:t>
            </a:r>
          </a:p>
        </p:txBody>
      </p:sp>
      <p:pic>
        <p:nvPicPr>
          <p:cNvPr id="8" name="Picture 7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06" y="1828800"/>
            <a:ext cx="6842987" cy="420624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863840" y="1828800"/>
            <a:ext cx="368777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1828800"/>
            <a:ext cx="73152" cy="109728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47672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286000"/>
            <a:ext cx="3322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php:8.2-apache · :8080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560320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22 個 PHP 檔 · 打卡 / 請假 / 排班 / 帳號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063240"/>
            <a:ext cx="368777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3063240"/>
            <a:ext cx="73152" cy="109728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3182112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520440"/>
            <a:ext cx="3322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mysql:8.0 · 內部網路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794760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4 張資料表 · db_data 卷持久化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297680"/>
            <a:ext cx="368777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4297680"/>
            <a:ext cx="73152" cy="1097280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416552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754880"/>
            <a:ext cx="3322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python:3.11 · :7860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029200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Pandas / ML / Gradio · 25 圖表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資料交換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analysis_output named volume 讓圖表與班表跨容器共用；連線憑證以 .env 注入，不寫死於程式碼。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系統架構 · 技術選型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每一層的選擇都有明確理由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82880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2024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層次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920240"/>
            <a:ext cx="301752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1920240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技術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920240"/>
            <a:ext cx="6065215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128" y="1920240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選用理由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40864"/>
            <a:ext cx="10911535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340864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前端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340864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PHP 8.2 + Apache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2340864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延用上學期成果，降低重寫成本、聚焦本學期分析與決策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61488"/>
            <a:ext cx="10911535" cy="420624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761488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資料庫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2761488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MySQL 8.0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2761488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既有 schema 相容、生態完整、Docker 官方映像穩定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82112"/>
            <a:ext cx="10911535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182112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3182112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Python 3.11 + Pandas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3182112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課程必要技術，向量化處理與資料聚合能力強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602736"/>
            <a:ext cx="10911535" cy="420624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602736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視覺化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3602736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Matplotlib + Seaborn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3602736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課程必要技術，靜態圖品質佳、可嵌入 PHP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23360"/>
            <a:ext cx="10911535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2336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機器學習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8608" y="4023360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scikit-learn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96128" y="4023360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RandomForest / IsolationForest / GridSearchCV 一站式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443984"/>
            <a:ext cx="10911535" cy="420624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443984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最佳化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78608" y="4443984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SciPy (HiGHS)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6128" y="4443984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milp 整數規劃求解器，排班全域最佳化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864608"/>
            <a:ext cx="10911535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4864608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互動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78608" y="4864608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Gradio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96128" y="4864608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免前端即建分析儀表板，port 7860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285232"/>
            <a:ext cx="10911535" cy="420624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285232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容器化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78608" y="5285232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Docker Compose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96128" y="5285232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單指令啟動三服務、跨平台一致性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705856"/>
            <a:ext cx="10911535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5705856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版控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78608" y="5705856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Git / GitHub Actions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96128" y="5705856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commit 規範 + 45 項自動化測試 CI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1920240"/>
            <a:ext cx="10911535" cy="4206240"/>
          </a:xfrm>
          <a:prstGeom prst="rect">
            <a:avLst/>
          </a:prstGeom>
          <a:noFill/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系統架構 · 部署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一行指令完成部署，並自動修復常見失敗點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6858000" cy="4160520"/>
          </a:xfrm>
          <a:prstGeom prst="roundRect">
            <a:avLst>
              <a:gd name="adj" fmla="val 3000"/>
            </a:avLst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6858000" cy="365760"/>
          </a:xfrm>
          <a:prstGeom prst="rect">
            <a:avLst/>
          </a:prstGeom>
          <a:solidFill>
            <a:srgbClr val="17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993391"/>
            <a:ext cx="128016" cy="128016"/>
          </a:xfrm>
          <a:prstGeom prst="ellipse">
            <a:avLst/>
          </a:prstGeom>
          <a:solidFill>
            <a:srgbClr val="E06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1993391"/>
            <a:ext cx="128016" cy="128016"/>
          </a:xfrm>
          <a:prstGeom prst="ellipse">
            <a:avLst/>
          </a:prstGeom>
          <a:solidFill>
            <a:srgbClr val="E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80744" y="1993391"/>
            <a:ext cx="128016" cy="128016"/>
          </a:xfrm>
          <a:prstGeom prst="ellipse">
            <a:avLst/>
          </a:prstGeom>
          <a:solidFill>
            <a:srgbClr val="5BB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1938527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8AA0B2"/>
                </a:solidFill>
                <a:latin typeface="Consolas"/>
                <a:ea typeface="Microsoft JhengHei"/>
                <a:cs typeface="Consolas"/>
              </a:rPr>
              <a:t>bash ·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41447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7FD0B0"/>
                </a:solidFill>
                <a:latin typeface="Consolas"/>
                <a:ea typeface="Microsoft JhengHei"/>
                <a:cs typeface="Consolas"/>
              </a:rPr>
              <a:t>$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git clone …/114-2_BigDataCC-2nd &amp;&amp; cd 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66059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7FD0B0"/>
                </a:solidFill>
                <a:latin typeface="Consolas"/>
                <a:ea typeface="Microsoft JhengHei"/>
                <a:cs typeface="Consolas"/>
              </a:rPr>
              <a:t>$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bash start_demo.sh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55263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E6B450"/>
                </a:solidFill>
                <a:latin typeface="Consolas"/>
                <a:ea typeface="Microsoft JhengHei"/>
                <a:cs typeface="Consolas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[1/5] 自動建立 .env（demo 預設密碼）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79875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9FB4C4"/>
                </a:solidFill>
                <a:latin typeface="Consolas"/>
                <a:ea typeface="Microsoft JhengHei"/>
                <a:cs typeface="Consolas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[2/5] docker compose up --build -d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04487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9FB4C4"/>
                </a:solidFill>
                <a:latin typeface="Consolas"/>
                <a:ea typeface="Microsoft JhengHei"/>
                <a:cs typeface="Consolas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[3/5] generate_mock_data.py  → 1,200 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29099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9FB4C4"/>
                </a:solidFill>
                <a:latin typeface="Consolas"/>
                <a:ea typeface="Microsoft JhengHei"/>
                <a:cs typeface="Consolas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[4/5] fetch_sea_data.py      → 736 筆海象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53711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9FB4C4"/>
                </a:solidFill>
                <a:latin typeface="Consolas"/>
                <a:ea typeface="Microsoft JhengHei"/>
                <a:cs typeface="Consolas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[5/5] analysis.py            → 25 張圖表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42915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7FD0B0"/>
                </a:solidFill>
                <a:latin typeface="Consolas"/>
                <a:ea typeface="Microsoft JhengHei"/>
                <a:cs typeface="Consolas"/>
              </a:rPr>
              <a:t>➜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localhost:8080  PHP 系統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67527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7FD0B0"/>
                </a:solidFill>
                <a:latin typeface="Consolas"/>
                <a:ea typeface="Microsoft JhengHei"/>
                <a:cs typeface="Consolas"/>
              </a:rPr>
              <a:t>➜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localhost:7860  Gradio 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1874519"/>
            <a:ext cx="368777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5008" y="1993391"/>
            <a:ext cx="3322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&lt; 60 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2423159"/>
            <a:ext cx="3322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完整啟動時間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2935223"/>
            <a:ext cx="368777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3054095"/>
            <a:ext cx="3322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.env 自動建立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3483863"/>
            <a:ext cx="3322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修正學校轉移失敗主因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995927"/>
            <a:ext cx="368777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8" y="4114799"/>
            <a:ext cx="3322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WSL2 後端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4544567"/>
            <a:ext cx="3322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Docker Desktop 跨平台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5056631"/>
            <a:ext cx="368777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65008" y="5175503"/>
            <a:ext cx="3322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環境變數注入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5605271"/>
            <a:ext cx="3322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帳密不入 repo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系統架構 · 資料管線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從資料生成到決策呈現的單向流程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09</a:t>
            </a:r>
          </a:p>
        </p:txBody>
      </p:sp>
      <p:pic>
        <p:nvPicPr>
          <p:cNvPr id="8" name="Picture 7" descr="fig2_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341" y="2011680"/>
            <a:ext cx="8227012" cy="31089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管線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generate_mock_data → fetch_sea_data → analysis（清洗/統計/ML/排班）→ JSON+PNG → PHP &amp; Gradio 雙呈現。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PHP 應用系統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Web Application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12 項業務功能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三層級權限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登入 / 打卡 Demo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管理員儀表板 Demo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PHP 系統 · 功能總覽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完整業務系統，非僅展示用前端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64008" cy="96012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984247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login.php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13431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登入 · Session 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60319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全部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874519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874519"/>
            <a:ext cx="64008" cy="96012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9866" y="1984247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punch.php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866" y="2313431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打卡 · 即時海象橫幅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866" y="2560319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全部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874519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874519"/>
            <a:ext cx="64008" cy="96012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484" y="1984247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records.php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8484" y="2313431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個人值勤歷史查詢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2560319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全部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999231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999231"/>
            <a:ext cx="64008" cy="96012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108959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leave.php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3438143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請假申請（假別/起訖）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685031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全部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8698" y="2999231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68698" y="2999231"/>
            <a:ext cx="64008" cy="96012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9866" y="3108959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admin_status.php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866" y="3438143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全員值勤總覽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9866" y="3685031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管理員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7316" y="2999231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7316" y="2999231"/>
            <a:ext cx="64008" cy="96012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8484" y="3108959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admin_leave.php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8484" y="3438143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請假審核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8484" y="3685031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管理員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123943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4123943"/>
            <a:ext cx="64008" cy="96012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233671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admin_users.php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562855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帳號管理 / 停用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4809743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管理員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68698" y="4123943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68698" y="4123943"/>
            <a:ext cx="64008" cy="96012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69866" y="4233671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admin_export.php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9866" y="4562855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值勤 CSV 匯出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9866" y="4809743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管理員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7316" y="4123943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BF4E6"/>
          </a:solidFill>
          <a:ln w="9525">
            <a:solidFill>
              <a:srgbClr val="C89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97316" y="4123943"/>
            <a:ext cx="64008" cy="960120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98484" y="4233671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scheduler.php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8484" y="4562855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明日排班決策頁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98484" y="4809743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管理員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248655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" y="5248655"/>
            <a:ext cx="64008" cy="96012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" y="5358383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admin_dashboard.php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" y="5687567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分析儀表板 + 25 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934455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管理員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68698" y="5248655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68698" y="5248655"/>
            <a:ext cx="64008" cy="96012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69866" y="5358383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api_status.php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69866" y="5687567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即時海況（60s 刷新）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69866" y="5934455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全部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97316" y="5248655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97316" y="5248655"/>
            <a:ext cx="64008" cy="96012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98484" y="5358383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reset_demo_pw.php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98484" y="5687567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Demo 密碼重設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98484" y="5934455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老闆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PHP 系統 · DEMO（一）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員工端：登入動畫與即時海象打卡頁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11</a:t>
            </a:r>
          </a:p>
        </p:txBody>
      </p:sp>
      <p:pic>
        <p:nvPicPr>
          <p:cNvPr id="8" name="Picture 7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1920240"/>
            <a:ext cx="4526280" cy="301752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pic>
        <p:nvPicPr>
          <p:cNvPr id="9" name="Picture 8" descr="02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040" y="1920240"/>
            <a:ext cx="4693920" cy="301752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029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登入頁 · 粒子波動動畫背景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029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打卡頁 · 即時海象橫幅 + 個人疲勞卡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測試帳號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boss1 / admin1 / em1　·　Demo 密碼 demo1234（種子密碼於首次啟動以 bcrypt 重設）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PHP 系統 · DEMO（二）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管理員端：25 張圖表 + 互動地圖整合儀表板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12</a:t>
            </a:r>
          </a:p>
        </p:txBody>
      </p:sp>
      <p:pic>
        <p:nvPicPr>
          <p:cNvPr id="8" name="Picture 7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163" y="1874519"/>
            <a:ext cx="3505032" cy="443484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0" y="1874519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儀表板內容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0" y="2203703"/>
            <a:ext cx="332201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0" y="2331719"/>
            <a:ext cx="332201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排班決策摘要（明日班表概覽）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Folium 互動海域地圖（可縮放點擊）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25 張統計圖表嵌入呈現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點選任一圖可展開原圖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每 60 秒自動刷新即時海象橫幅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響應式版面，行動裝置亦可瀏覽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核心：自動排班引擎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Automated Scheduling Engine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為何排班是核心差異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scheduler.php Demo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輸入 → 引擎 → 輸出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五條決策規則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MILP 數學模型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最優性驗證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實機班表輸出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排班引擎 · 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四項純海象資料系統無法產出的決策輸出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73152" cy="1371600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84832"/>
            <a:ext cx="5212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自動排班班表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8716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綜合海況風險、人員疲勞、外海暴露、船艦可用性四項因子，自動產出明日具名值勤班表。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92024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920240"/>
            <a:ext cx="73152" cy="13716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084832"/>
            <a:ext cx="5212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人員疲勞指數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248716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連續值勤天數（60%）× 近 7 日累計工時（40%）合成 0–100 疲勞分，高疲勞者自動降低外海負荷。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73152" cy="1371600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639312"/>
            <a:ext cx="5212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工時公平性 Gini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04164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Lorenz 曲線量化人員工時分配均等度，Gini = 0.042，確保排班公平可追溯。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47472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3474720"/>
            <a:ext cx="73152" cy="137160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639312"/>
            <a:ext cx="5212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船艦可用性管理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404164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依累計趟次推估維護需求，可用度 &lt; 30% 自動排除於排班候選池。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整合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四項功能共用同一個排班引擎，以 MILP 全域最佳化一次求解 — 不是分別看四張圖再人工判斷。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排班引擎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scheduler.php：海況機率自動產出明日班表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14</a:t>
            </a:r>
          </a:p>
        </p:txBody>
      </p:sp>
      <p:pic>
        <p:nvPicPr>
          <p:cNvPr id="8" name="Picture 7" descr="02_schedu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936" y="1874519"/>
            <a:ext cx="3314047" cy="443484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852160" y="1874519"/>
            <a:ext cx="56994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頁面資訊架構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2203703"/>
            <a:ext cx="569945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60" y="2331719"/>
            <a:ext cx="56994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頁頂 KPI：四項決策輸入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明日惡劣海況機率（ML %）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高疲勞人數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可用 / 維護中船艦數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三欄班表：港口 · 近海 · 外海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每張人員卡：姓名 / 船艦 / 疲勞分 / 暴露%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附具體配置理由（可追溯）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下方：輪休建議 + 船艦可用性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顯示 MILP 引擎與最優性差距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排班引擎 · 運作流程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四項輸入經引擎整合，輸出可執行班表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15</a:t>
            </a:r>
          </a:p>
        </p:txBody>
      </p:sp>
      <p:pic>
        <p:nvPicPr>
          <p:cNvPr id="8" name="Picture 7" descr="fig3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026" y="1920240"/>
            <a:ext cx="5691641" cy="320040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整合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海況、疲勞、暴露、船艦四訊號在引擎中被聯合最佳化 — 不是分別看四張圖，而是一次解出最優指派。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排班引擎 · 決策規則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五條規則編碼海事作業安全與公平原則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66928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2996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6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48256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海況風險調控員額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1401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明日惡劣機率 ≥ 50% → 外海僅留 1 人；&lt; 25% → 外海最多 4 人。機率越高、外海員額越少。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920240"/>
            <a:ext cx="566928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02996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6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048256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外海輪換公平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41401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外海優先指派「疲勞低 AND 外海累積暴露低」者，兼顧安全與輪換公平。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566928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1012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6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328416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過勞者輕負荷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69417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疲勞 ≥ 65（高）自動配置港口值守；人力充足且疲勞 ≥ 80 列入建議輪休。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200400"/>
            <a:ext cx="566928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31012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6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328416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維護船艦排除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69417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可用度 &lt; 30% 標記需維護，不進入候選池；每艦僅一組人員。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80560"/>
            <a:ext cx="10911535" cy="960120"/>
          </a:xfrm>
          <a:prstGeom prst="roundRect">
            <a:avLst>
              <a:gd name="adj" fmla="val 5000"/>
            </a:avLst>
          </a:prstGeom>
          <a:solidFill>
            <a:srgbClr val="FBF4E6"/>
          </a:solidFill>
          <a:ln w="9525">
            <a:solidFill>
              <a:srgbClr val="C89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9028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6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608576"/>
            <a:ext cx="97228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MILP 全域最佳化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974336"/>
            <a:ext cx="97228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scipy.optimize.milp（HiGHS）對人員×船艦矩陣求全域最優，ZONE_PRIORITY 確保安全關鍵海域優先填滿。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排班引擎 · 最佳化求解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把排班問題交給數學求解器，找全域最優指派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4747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3474720" cy="64008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30175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2715768"/>
            <a:ext cx="301752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2880360"/>
            <a:ext cx="3017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人員清單（疲勞分、外海暴露率）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可用船艦清單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明日惡劣海況機率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各海域可容員額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011680"/>
            <a:ext cx="411480" cy="3474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8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011680"/>
            <a:ext cx="34747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2011680"/>
            <a:ext cx="3474720" cy="640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240280"/>
            <a:ext cx="30175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求解器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54880" y="2715768"/>
            <a:ext cx="301752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54880" y="2880360"/>
            <a:ext cx="3017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Python scipy.optimize.milp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目標：最小化綜合成本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限制：每人一船、每船一組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安全關鍵海域優先填滿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011680"/>
            <a:ext cx="411480" cy="3474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8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011680"/>
            <a:ext cx="34747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2011680"/>
            <a:ext cx="3474720" cy="64008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2240280"/>
            <a:ext cx="30175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輸出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41080" y="2715768"/>
            <a:ext cx="301752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41080" y="2880360"/>
            <a:ext cx="3017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具名人員×船艦指派矩陣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三海域值勤班表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輪休建議清單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最優性驗證（差距 0%）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效益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MILP 將所有限制同時納入求解，不會因順序不同而得到不同班表 — 結果可重現、可驗證。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排班引擎 · 最優性驗證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MILP 證明貪婪法在此規模已達全域最優（差距 0%）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18</a:t>
            </a:r>
          </a:p>
        </p:txBody>
      </p:sp>
      <p:pic>
        <p:nvPicPr>
          <p:cNvPr id="8" name="Picture 7" descr="schedul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6949440" cy="3868628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863840" y="1874519"/>
            <a:ext cx="3687775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1874519"/>
            <a:ext cx="3687775" cy="5486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2" y="1984247"/>
            <a:ext cx="335859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4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215.6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2" y="2368295"/>
            <a:ext cx="33585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MILP 指派成本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788919"/>
            <a:ext cx="3687775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2788919"/>
            <a:ext cx="3687775" cy="54864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2" y="2898647"/>
            <a:ext cx="335859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4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215.6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2" y="3282695"/>
            <a:ext cx="33585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貪婪基準成本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3703319"/>
            <a:ext cx="3687775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3703319"/>
            <a:ext cx="3687775" cy="54864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2" y="3813047"/>
            <a:ext cx="335859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4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2" y="4197095"/>
            <a:ext cx="33585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最優性差距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709160"/>
            <a:ext cx="3687775" cy="123444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828032"/>
            <a:ext cx="33220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學術誠實：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差距 0% 不是缺陷，而是「在 8 艦×12 人規模下貪婪法恰好已達全域最優」的數學驗證 — 這是有意義的正確結果。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排班引擎 · 實機輸出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今日實際執行：明日（2026-06-16）惡劣海況 59.2% → 外海縮減至 1 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545003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2545003" cy="54864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938528"/>
            <a:ext cx="2215819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MILP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96312"/>
            <a:ext cx="22158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求解引擎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3683" y="1828800"/>
            <a:ext cx="2545003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3683" y="1828800"/>
            <a:ext cx="2545003" cy="54864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8275" y="1938528"/>
            <a:ext cx="2215819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8275" y="2496312"/>
            <a:ext cx="22158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最優性差距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1567" y="1828800"/>
            <a:ext cx="2545003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1567" y="1828800"/>
            <a:ext cx="2545003" cy="54864"/>
          </a:xfrm>
          <a:prstGeom prst="rect">
            <a:avLst/>
          </a:prstGeom>
          <a:solidFill>
            <a:srgbClr val="BC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6159" y="1938528"/>
            <a:ext cx="2215819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59.2%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6159" y="2496312"/>
            <a:ext cx="22158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ML 惡劣機率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451" y="1828800"/>
            <a:ext cx="2545003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451" y="1828800"/>
            <a:ext cx="2545003" cy="5486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043" y="1938528"/>
            <a:ext cx="2215819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043" y="2496312"/>
            <a:ext cx="22158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外海員額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017520"/>
            <a:ext cx="118872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017520"/>
            <a:ext cx="1005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海域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3017520"/>
            <a:ext cx="182880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38528" y="301752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3017520"/>
            <a:ext cx="182880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7328" y="301752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船艦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3017520"/>
            <a:ext cx="118872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96128" y="3017520"/>
            <a:ext cx="1005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疲勞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3017520"/>
            <a:ext cx="155448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3017520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外海暴露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017520"/>
            <a:ext cx="3322015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8" y="3017520"/>
            <a:ext cx="31391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配置理由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438144"/>
            <a:ext cx="1091153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343814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BC5B41"/>
                </a:solidFill>
                <a:latin typeface="Microsoft JhengHei"/>
                <a:ea typeface="Microsoft JhengHei"/>
                <a:cs typeface="Microsoft JhengHei"/>
              </a:rPr>
              <a:t>外海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38528" y="343814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Employee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7328" y="343814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Consolas"/>
                <a:ea typeface="Microsoft JhengHei"/>
                <a:cs typeface="Consolas"/>
              </a:rPr>
              <a:t>MAR-008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96128" y="343814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343814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11.1%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8" y="3438144"/>
            <a:ext cx="313913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低疲勞且外海暴露低，適合輪派外海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3803904"/>
            <a:ext cx="10911535" cy="36576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380390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近海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38528" y="380390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林佳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67328" y="380390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Consolas"/>
                <a:ea typeface="Microsoft JhengHei"/>
                <a:cs typeface="Consolas"/>
              </a:rPr>
              <a:t>MAR-003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96128" y="380390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84848" y="380390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29.4%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9328" y="3803904"/>
            <a:ext cx="313913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疲勞適中，配置近海任務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4169664"/>
            <a:ext cx="1091153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416966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近海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38528" y="416966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黃峻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67328" y="416966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Consolas"/>
                <a:ea typeface="Microsoft JhengHei"/>
                <a:cs typeface="Consolas"/>
              </a:rPr>
              <a:t>MAR-004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96128" y="416966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84848" y="416966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35.3%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9328" y="4169664"/>
            <a:ext cx="313913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疲勞適中，配置近海任務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4535424"/>
            <a:ext cx="10911535" cy="36576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453542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近海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38528" y="453542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Admin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67328" y="453542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Consolas"/>
                <a:ea typeface="Microsoft JhengHei"/>
                <a:cs typeface="Consolas"/>
              </a:rPr>
              <a:t>MAR-005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96128" y="453542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84848" y="453542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30.0%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9328" y="4535424"/>
            <a:ext cx="313913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疲勞適中，配置近海任務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" y="4901184"/>
            <a:ext cx="1091153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" y="490118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港口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38528" y="490118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陳偉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67328" y="490118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Consolas"/>
                <a:ea typeface="Microsoft JhengHei"/>
                <a:cs typeface="Consolas"/>
              </a:rPr>
              <a:t>MAR-001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96128" y="490118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84848" y="490118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11.1%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39328" y="4901184"/>
            <a:ext cx="313913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配置港口值守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5266944"/>
            <a:ext cx="10911535" cy="36576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9808" y="526694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港口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38528" y="526694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孫芳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67328" y="526694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Consolas"/>
                <a:ea typeface="Microsoft JhengHei"/>
                <a:cs typeface="Consolas"/>
              </a:rPr>
              <a:t>MAR-002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96128" y="526694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84848" y="526694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30.8%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39328" y="5266944"/>
            <a:ext cx="313913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配置港口值守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" y="3017520"/>
            <a:ext cx="10911535" cy="2615184"/>
          </a:xfrm>
          <a:prstGeom prst="rect">
            <a:avLst/>
          </a:prstGeom>
          <a:noFill/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決策亮點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系統自動將最低暴露者派外海、把高疲勞的「鄭宇」列入輪休 — 一次完成安全與公平兩個目標。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資料工程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Data Engineering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Schema 設計與擴充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AR(1) 時序模擬模型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海域×海況機率設計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清洗與品質控管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資料工程 ·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在通用打卡表上擴充三個海事業務欄位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6126480" cy="411480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5577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attendance 表（核心）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377440"/>
            <a:ext cx="5577840" cy="0"/>
          </a:xfrm>
          <a:prstGeom prst="bentConnector3">
            <a:avLst/>
          </a:prstGeom>
          <a:ln w="12700">
            <a:solidFill>
              <a:srgbClr val="C5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514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att_id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14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INT PK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14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流水號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user_id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926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INT FK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926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值班人員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work_date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337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337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值班日期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490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check_in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7490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DATETIME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7490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上勤 07–09h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60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check_out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160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DATETIME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160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下勤（依海況）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720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duty_zone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5720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ENUM ←新增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5720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港口/近海/外海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sea_state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983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ENUM ←新增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983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平靜/輕/中/大浪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94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vessel_id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5394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VARCHAR ←新增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394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MAR-001~008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1874519"/>
            <a:ext cx="43735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其他三張表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78040" y="2286000"/>
            <a:ext cx="4373575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2395728"/>
            <a:ext cx="4007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users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   13 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2788920"/>
            <a:ext cx="40078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三層級權限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78040" y="3474720"/>
            <a:ext cx="4373575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3584448"/>
            <a:ext cx="4007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leaves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   60 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3977640"/>
            <a:ext cx="40078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請假申請/審核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78040" y="4663440"/>
            <a:ext cx="4373575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4773168"/>
            <a:ext cx="4007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sea_observations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   736 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5166360"/>
            <a:ext cx="40078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CWA 浮標觀測（無金鑰自動模擬）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資料工程 · 模擬模型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海象具「持續性」：今天浪大、明天多半也大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設計出發點：真實海象的時序特性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423160"/>
            <a:ext cx="4754880" cy="0"/>
          </a:xfrm>
          <a:prstGeom prst="bentConnector3">
            <a:avLst/>
          </a:prstGeom>
          <a:ln w="12700">
            <a:solidFill>
              <a:srgbClr val="C5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5786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天氣系統持續 3–7 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52928"/>
            <a:ext cx="4526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今日大浪，明日通常也是大浪，不會突然平靜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獨立隨機抽樣不夠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57600"/>
            <a:ext cx="4526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若每筆各自抽，海況沒有日際關聯，排班預測失去意義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879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時序自相關模型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462272"/>
            <a:ext cx="4526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用前一日的海況嚴重度加上隨機擾動，生成下一日海況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926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效果驗證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266944"/>
            <a:ext cx="4526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RandomForest 海況預測 AUC = 0.811（有時序訊號可學習）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74519"/>
            <a:ext cx="51965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機率結構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2203703"/>
            <a:ext cx="519653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55080" y="2331719"/>
            <a:ext cx="5196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兩層機率設計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海域決定各海況基礎機率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外海大浪基礎率 20%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港口大浪基礎率  1%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時序調整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前日惡劣 → 今日惡劣機率升高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生成 1,200 筆有時序結構的值勤紀錄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讓後續 Markov、ML 預測有意義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資料工程 · 機率設計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海域決定海況分布，海況決定工時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01168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20240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海況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920240"/>
            <a:ext cx="182880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192024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港口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920240"/>
            <a:ext cx="182880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2024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近海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182880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92024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外海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40864"/>
            <a:ext cx="7498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340864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平靜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234086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34086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34086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843784"/>
            <a:ext cx="7498080" cy="50292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843784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輕浪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284378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284378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35%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84378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30%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346704"/>
            <a:ext cx="7498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346704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中浪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334670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334670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34670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35%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849624"/>
            <a:ext cx="7498080" cy="50292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849624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大浪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1488" y="384962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384962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384962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BC5B41"/>
                </a:solidFill>
                <a:latin typeface="Microsoft JhengHei"/>
                <a:ea typeface="Microsoft JhengHei"/>
                <a:cs typeface="Microsoft JhengHei"/>
              </a:rPr>
              <a:t>20%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1920240"/>
            <a:ext cx="7498080" cy="2432304"/>
          </a:xfrm>
          <a:prstGeom prst="rect">
            <a:avLst/>
          </a:prstGeom>
          <a:noFill/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1920240"/>
            <a:ext cx="32305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設計邏輯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321040" y="2249424"/>
            <a:ext cx="323057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321040" y="2377440"/>
            <a:ext cx="323057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海域出勤：港口 35% / 近海 40% / 外海 25%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外海大浪機率 20%，是港口的 20 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大浪天提前下勤 100 分鐘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直接連動工時縮減效應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上工時刻 07:00–09:00 隨機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閉環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機率設計使「海域→海況→工時」三者環環相扣，後續 ANOVA、卡方、OLS 才能驗出顯著結構。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資料工程 · 清洗品質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三步驟清洗，剔除率 &lt; 1%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91153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914400" cy="109728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914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2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093976"/>
            <a:ext cx="9539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缺失值移除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2441448"/>
            <a:ext cx="7772400" cy="329184"/>
          </a:xfrm>
          <a:prstGeom prst="roundRect">
            <a:avLst>
              <a:gd name="adj" fmla="val 15000"/>
            </a:avLst>
          </a:prstGeom>
          <a:solidFill>
            <a:srgbClr val="E9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2441448"/>
            <a:ext cx="7589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dropna(check_in, check_out, duty_zone, sea_state, vessel_id)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423160"/>
            <a:ext cx="16760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確保分析關鍵欄位完整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1091153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46120"/>
            <a:ext cx="914400" cy="109728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914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2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374136"/>
            <a:ext cx="9539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工時計算與過濾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83080" y="3721608"/>
            <a:ext cx="7772400" cy="329184"/>
          </a:xfrm>
          <a:prstGeom prst="roundRect">
            <a:avLst>
              <a:gd name="adj" fmla="val 15000"/>
            </a:avLst>
          </a:prstGeom>
          <a:solidFill>
            <a:srgbClr val="E9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3721608"/>
            <a:ext cx="7589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hours = (check_out − check_in)/3600；保留 4 ≤ hours ≤ 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3703320"/>
            <a:ext cx="16760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剔除未完整打卡與異常長工時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26280"/>
            <a:ext cx="1091153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526280"/>
            <a:ext cx="914400" cy="109728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26280"/>
            <a:ext cx="914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2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654296"/>
            <a:ext cx="9539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衍生欄位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83080" y="5001768"/>
            <a:ext cx="7772400" cy="329184"/>
          </a:xfrm>
          <a:prstGeom prst="roundRect">
            <a:avLst>
              <a:gd name="adj" fmla="val 15000"/>
            </a:avLst>
          </a:prstGeom>
          <a:solidFill>
            <a:srgbClr val="E9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5001768"/>
            <a:ext cx="7589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month_str = work_date.strftime('%Y-%m')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983480"/>
            <a:ext cx="16760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供月度分組與時序分析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統計分析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Statistical Analysis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檢定結果總覽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ANOVA · 海況→工時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卡方 · 海域×海況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OLS 多元迴歸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Spearman 相關矩陣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統計分析 · 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四項檢定，全部顯著（數值為實機輸出）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2522143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2522143" cy="640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25221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F = 181.4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22478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單因子 ANOVA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21563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 &lt; 0.0001 · 海況顯著影響工時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6543" y="1920240"/>
            <a:ext cx="2522143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6543" y="1920240"/>
            <a:ext cx="2522143" cy="64008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6543" y="2286000"/>
            <a:ext cx="25221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χ² = 349.6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3703" y="2971800"/>
            <a:ext cx="22478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卡方獨立性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423" y="3383280"/>
            <a:ext cx="21563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df=6 · 海域與海況顯著關聯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920240"/>
            <a:ext cx="2522143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1920240"/>
            <a:ext cx="2522143" cy="64008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3007" y="2286000"/>
            <a:ext cx="25221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R² = 0.784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2971800"/>
            <a:ext cx="22478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OLS 多元迴歸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3383280"/>
            <a:ext cx="21563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4 特徵解釋 78.4% 工時變異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9471" y="1920240"/>
            <a:ext cx="2522143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29471" y="1920240"/>
            <a:ext cx="2522143" cy="64008"/>
          </a:xfrm>
          <a:prstGeom prst="rect">
            <a:avLst/>
          </a:prstGeom>
          <a:solidFill>
            <a:srgbClr val="BC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9471" y="2286000"/>
            <a:ext cx="25221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Gini = 0.042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6631" y="2971800"/>
            <a:ext cx="22478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BC5B41"/>
                </a:solidFill>
                <a:latin typeface="Microsoft JhengHei"/>
                <a:ea typeface="Microsoft JhengHei"/>
                <a:cs typeface="Microsoft JhengHei"/>
              </a:rPr>
              <a:t>工時公平性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51" y="3383280"/>
            <a:ext cx="21563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近乎完全均等分配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526280"/>
            <a:ext cx="10911535" cy="141732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45152"/>
            <a:ext cx="104543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統計意涵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983480"/>
            <a:ext cx="104543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大浪天工時較平靜天短約 1.5 小時（ANOVA）；外海大浪比例 20% vs 港口 1%（卡方）→ 排班引擎據此縮減外海員額；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工時受海況 / 海域 / 星期 / 打卡時刻共同決定，解釋力 78.4%，遠高於任何單維度模型。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統計分析 · ANOVA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海況等級越高，值勤工時越短（F = 181.4, p &lt; 0.0001）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25</a:t>
            </a:r>
          </a:p>
        </p:txBody>
      </p:sp>
      <p:pic>
        <p:nvPicPr>
          <p:cNvPr id="8" name="Picture 7" descr="hours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01" y="1874519"/>
            <a:ext cx="6493397" cy="40233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863840" y="1874519"/>
            <a:ext cx="3687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檢定說明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2203703"/>
            <a:ext cx="368777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63840" y="2331719"/>
            <a:ext cx="368777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H0：各海況平均工時相同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檢定量 F = 181.433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 值 &lt; 0.0001 → 拒絕 H0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四組間至少一對顯著差異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大浪中位數較平靜低約 1.5h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對應機制：大浪提前下勤 100 分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→ 數據驗證了模擬設計的因果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統計分析 · 卡方檢定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海域與海況並非獨立：外海明顯偏向惡劣海況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26</a:t>
            </a:r>
          </a:p>
        </p:txBody>
      </p:sp>
      <p:pic>
        <p:nvPicPr>
          <p:cNvPr id="8" name="Picture 7" descr="zone_sea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99" y="1874519"/>
            <a:ext cx="5659441" cy="40233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498080" y="1874519"/>
            <a:ext cx="40535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檢定說明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0" y="2203703"/>
            <a:ext cx="405353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0" y="2331719"/>
            <a:ext cx="4053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H0：海域與海況彼此獨立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檢定量 χ² = 349.634，df = 6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 值 &lt; 0.0001 → 拒絕 H0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外海大浪佔比 ≈ 20%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港口大浪佔比 ≈ 1%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海域分配直接決定風險暴露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→ 排班引擎縮減外海員額的依據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統計分析 · OLS 迴歸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上工時刻與海況是工時的兩大負向驅動因子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27</a:t>
            </a:r>
          </a:p>
        </p:txBody>
      </p:sp>
      <p:pic>
        <p:nvPicPr>
          <p:cNvPr id="8" name="Picture 7" descr="regression_co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02895"/>
            <a:ext cx="6766560" cy="3766607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680960" y="1874519"/>
            <a:ext cx="38706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模型結果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0" y="2203703"/>
            <a:ext cx="387065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80960" y="2331719"/>
            <a:ext cx="38706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標準化 OLS（numpy.linalg.lstsq）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R² = 0.784（解釋 78.4% 變異）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上工時刻 β = −0.569（最強）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海況等級 β = −0.435（次強）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海域距岸 β ≈ 0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星期 β = +0.014（可忽略）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β 已標準化，可直接比較重要性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統計分析 · 相關矩陣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有序變數用 Spearman，揭示工時關聯結構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28</a:t>
            </a:r>
          </a:p>
        </p:txBody>
      </p:sp>
      <p:pic>
        <p:nvPicPr>
          <p:cNvPr id="8" name="Picture 7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36" y="1874519"/>
            <a:ext cx="4783328" cy="40233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80760" y="1874519"/>
            <a:ext cx="5470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方法與發現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203703"/>
            <a:ext cx="547085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80760" y="2331719"/>
            <a:ext cx="54708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海況為有序離散變數，Pearson 不適用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改用 Spearman 等級相關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主要發現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工時 ↔ 上工時刻：r ≈ −0.52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工時 ↔ 海況等級：r ≈ −0.44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海況 ↔ 海域：r ≈ +0.35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外海海況較惡劣的數值確認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亦作為 OLS 特徵共線性診斷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預測與機器學習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Forecasting &amp; Machine Learning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線性 + Holt 雙模型預測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RandomForest 海況分類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Markov 海況轉移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Isolation Forest 異常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預測 · 時間序列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線性外推與 Holt 雙指數平滑並排對照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29</a:t>
            </a:r>
          </a:p>
        </p:txBody>
      </p:sp>
      <p:pic>
        <p:nvPicPr>
          <p:cNvPr id="8" name="Picture 7" descr="forecast_du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14" y="1874519"/>
            <a:ext cx="4644571" cy="205740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pic>
        <p:nvPicPr>
          <p:cNvPr id="9" name="Picture 8" descr="forecast_h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11" y="3977639"/>
            <a:ext cx="4652777" cy="205740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92240" y="1874519"/>
            <a:ext cx="5059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兩種方法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92240" y="2203703"/>
            <a:ext cx="505937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92240" y="2331719"/>
            <a:ext cx="505937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線性外推（上）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依趨勢線性延伸預測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含 95% 信賴區間帶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Holt 雙指數平滑（下）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同時追蹤水準 + 趨勢分量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以純 NumPy 自行實作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對近期資料給予更高權重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兩模型並排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比較預測差異，增加可信度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趨勢方向一致即為穩健預測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機器學習 · RANDOMFOREST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AUC = 0.811：用 TimeSeriesSplit 避免未來洩漏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30</a:t>
            </a:r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08445"/>
            <a:ext cx="6766560" cy="3755507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680960" y="1874519"/>
            <a:ext cx="38706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ML 設計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0" y="2203703"/>
            <a:ext cx="387065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80960" y="2331719"/>
            <a:ext cx="38706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目標變數設計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mid_share = 當日中浪以上比例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rough = (mid_share ≥ 0.35)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正例率 ~25%（原始僅 4%）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訓練配置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GridSearchCV 超參數搜尋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class_weight = balanced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TimeSeriesSplit(5) 防未來洩漏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結果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測試集 acc 0.949 / AUC 0.811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預測 · MARKOV 轉移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海況具狀態惰性，可外推未來 7 天惡劣機率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31</a:t>
            </a:r>
          </a:p>
        </p:txBody>
      </p:sp>
      <p:pic>
        <p:nvPicPr>
          <p:cNvPr id="8" name="Picture 7" descr="markov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229" y="1920240"/>
            <a:ext cx="9533235" cy="338328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預警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純 NumPy 矩陣連乘外推 7 天；本次大浪期望機率 7.1%，超過 15% 即自動觸發排班預警。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異常偵測 · ISOLATION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單維 Z-score + 五維 Isolation Forest 互補偵測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32</a:t>
            </a:r>
          </a:p>
        </p:txBody>
      </p:sp>
      <p:pic>
        <p:nvPicPr>
          <p:cNvPr id="8" name="Picture 7" descr="anomaly_iso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3850"/>
            <a:ext cx="6949440" cy="3284696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863840" y="1874519"/>
            <a:ext cx="3687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兩法比較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2203703"/>
            <a:ext cx="368777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63840" y="2331719"/>
            <a:ext cx="368777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Z-score（工時單維）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工時超出 ±2σ 範圍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識別工時過長 / 過短的紀錄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Isolation Forest（五維聯合）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同時考慮工時、海況、海域、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  打卡時刻、星期五個維度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偵測「情境型異常」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互補效果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兩法聯用：工時正常但情境異常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的紀錄，Z-score 看不到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人力資源決策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Workforce Decision Analytics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人員疲勞指數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工時公平性 Lorenz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船艦可用性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人員五維雷達圖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人資決策 · 疲勞指數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連續值勤 × 近 7 日工時，量化過勞風險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33</a:t>
            </a:r>
          </a:p>
        </p:txBody>
      </p:sp>
      <p:pic>
        <p:nvPicPr>
          <p:cNvPr id="8" name="Picture 7" descr="fati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69" y="1874519"/>
            <a:ext cx="6894460" cy="40233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863840" y="1874519"/>
            <a:ext cx="3687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計算方式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2203703"/>
            <a:ext cx="368777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63840" y="2331719"/>
            <a:ext cx="368777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合成公式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連續值勤天數 權重 60%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近 7 日累計工時 權重 40%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合成為 0–100 分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分級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low &lt; 40（綠）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mid 40–65（橘）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high ≥ 65（紅）→ 建議輪休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高疲勞者由排班引擎自動避開高負荷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人資決策 · 工時公平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Gini = 0.042：工時分配近乎完全均等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34</a:t>
            </a:r>
          </a:p>
        </p:txBody>
      </p:sp>
      <p:pic>
        <p:nvPicPr>
          <p:cNvPr id="8" name="Picture 7" descr="fairness_lor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80" y="1874519"/>
            <a:ext cx="4699200" cy="40233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46520" y="1874519"/>
            <a:ext cx="5105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Lorenz / Gini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46520" y="2203703"/>
            <a:ext cx="510509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46520" y="2331719"/>
            <a:ext cx="510509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Gini 係數移植自經濟學分配理論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0 = 完全平均，1 = 極度集中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本系統 Gini = 0.042 → 高度均等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Lorenz 曲線緊貼對角線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自動標記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過勞：工時 ≥ 中位數 ×1.3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閒置：工時 ≤ 中位數 ×0.7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本次無人員達門檻 → 輪班執行均勻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此維度純海象系統無法產出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人資決策 · 船艦可用性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維護里程推估，需維護船艦自動排除於排班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35</a:t>
            </a:r>
          </a:p>
        </p:txBody>
      </p:sp>
      <p:pic>
        <p:nvPicPr>
          <p:cNvPr id="8" name="Picture 7" descr="vessel_avai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77975"/>
            <a:ext cx="6949440" cy="3816446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863840" y="1874519"/>
            <a:ext cx="3687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可用度模型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2203703"/>
            <a:ext cx="368777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63840" y="2331719"/>
            <a:ext cx="368777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可用度 = f(累計趟次 mod 45)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MAINT_INTERVAL = 45 趟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可用度 &lt; 30% → 標記「需維護」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需維護船艦不進入排班候選池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與疲勞 / 暴露聯動，避免高風險組合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本次：所有船艦可用、無需維護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人資決策 · 人員雷達圖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五維能力輪廓，支援精準調度決策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36</a:t>
            </a:r>
          </a:p>
        </p:txBody>
      </p:sp>
      <p:pic>
        <p:nvPicPr>
          <p:cNvPr id="8" name="Picture 7" descr="crew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874519"/>
            <a:ext cx="4693920" cy="40233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12280" y="1874519"/>
            <a:ext cx="47393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維度與應用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12280" y="2203703"/>
            <a:ext cx="473933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12280" y="2331719"/>
            <a:ext cx="47393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五維：出勤次數 / 總工時 / 平均工時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　　　/ 外海暴露率 / 大浪暴露率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最大值歸一化，取前 6 名人員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如何輔助排班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外海+大浪暴露高 → 換至近海/港口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暴露低+疲勞低 → 外海最佳候選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總工時偏高 → 潛在過勞、建議輪休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補足 Lorenz 只看整體分配的不足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互動介面與工程品質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Interface &amp; Engineering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Gradio 互動分析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Folium 互動地圖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GitHub 管理與 CI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技術清單與結語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互動介面 · GRADIO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篩選即時重跑 25 張圖表，七大分頁覆蓋全分析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6692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82296" cy="749808"/>
          </a:xfrm>
          <a:prstGeom prst="rect">
            <a:avLst/>
          </a:prstGeom>
          <a:solidFill>
            <a:srgbClr val="BC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59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勤務決策建議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3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海況警示 · 海域風險 · 外海暴露 Top 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874519"/>
            <a:ext cx="56692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874519"/>
            <a:ext cx="82296" cy="749808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965959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時序趨勢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295143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月度趨勢 · 請假走勢 · 週幾出勤（3）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70631"/>
            <a:ext cx="56692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770631"/>
            <a:ext cx="82296" cy="7498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62071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預測與建模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91255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線性 · Holt · 相關 · OLS · 特徵重要度（5）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770631"/>
            <a:ext cx="56692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2770631"/>
            <a:ext cx="82296" cy="749808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862071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海域 × 海況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191255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分布 · 堆疊 · 箱型 · 工時熱力（4）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66743"/>
            <a:ext cx="56692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666743"/>
            <a:ext cx="82296" cy="7498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758183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人力資源決策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08736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疲勞 · Lorenz · 船艦 · 雷達 · 分群 · MILP（6）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3666743"/>
            <a:ext cx="56692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0" y="3666743"/>
            <a:ext cx="82296" cy="749808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758183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資源調度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08736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船艦次數 · Pareto · 人員熱力（3）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562855"/>
            <a:ext cx="10911535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562855"/>
            <a:ext cx="82296" cy="749808"/>
          </a:xfrm>
          <a:prstGeom prst="rect">
            <a:avLst/>
          </a:prstGeom>
          <a:solidFill>
            <a:srgbClr val="BC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654295"/>
            <a:ext cx="104543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異常診斷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983479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Z-score + Isolation Forest（2）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技術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篩選在 SQL 層執行（不佔記憶體）；結果存 filtered_*，不覆蓋全覽，PHP 儀表板持續可用。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互動介面 · FOLIUM 地圖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三海域風險圈 + 船艦 + CWA 浮標站互動地圖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38</a:t>
            </a:r>
          </a:p>
        </p:txBody>
      </p:sp>
      <p:pic>
        <p:nvPicPr>
          <p:cNvPr id="8" name="Picture 7" descr="zone_map_st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672" y="1874519"/>
            <a:ext cx="4889374" cy="40233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680960" y="1874519"/>
            <a:ext cx="38706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地圖功能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0" y="2203703"/>
            <a:ext cx="387065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80960" y="2331719"/>
            <a:ext cx="38706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Folium（leaflet.js）輸出 duty_map.html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縮放 / 平移 / 點擊 popup 互動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三海域半透明風險圈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點船艦標記：編號 / 海域 / 狀態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點浮標站：最新波高 / 海況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靜態 PNG 內嵌 PHP，HTML 版以 iframe 呈現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工程品質 · GITHUB &amp; 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規範化 commit + 45 項自動化測試全綠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55448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類型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74519"/>
            <a:ext cx="576072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1874519"/>
            <a:ext cx="5577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commit 說明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95143"/>
            <a:ext cx="7315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295143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[docker]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2295143"/>
            <a:ext cx="557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三容器 docker-compose 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98063"/>
            <a:ext cx="7315200" cy="50292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98063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[app]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2798063"/>
            <a:ext cx="557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PHP 系統 + 明日排班決策頁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00983"/>
            <a:ext cx="7315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00983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[data]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8" y="3300983"/>
            <a:ext cx="557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模擬資料 + CWA 海象管線（AR(1)）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03903"/>
            <a:ext cx="7315200" cy="50292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803903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[analysis]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4288" y="3803903"/>
            <a:ext cx="557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排班 MILP + 25 圖 + ML + IsoForest + Holt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306823"/>
            <a:ext cx="7315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306823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[docs]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8" y="4306823"/>
            <a:ext cx="557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期末報告 · 投影片 · stats_summary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09743"/>
            <a:ext cx="7315200" cy="50292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809743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[fix]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4288" y="4809743"/>
            <a:ext cx="557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start_demo.sh 自動建 .env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1874519"/>
            <a:ext cx="7315200" cy="3438144"/>
          </a:xfrm>
          <a:prstGeom prst="rect">
            <a:avLst/>
          </a:prstGeom>
          <a:noFill/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21040" y="1874519"/>
            <a:ext cx="3230575" cy="406908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011680"/>
            <a:ext cx="2773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GitHub Actions CI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49640" y="2377440"/>
            <a:ext cx="2773375" cy="0"/>
          </a:xfrm>
          <a:prstGeom prst="bentConnector3">
            <a:avLst/>
          </a:prstGeom>
          <a:ln w="12700">
            <a:solidFill>
              <a:srgbClr val="C5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549640" y="2542032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45 項測試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2542032"/>
            <a:ext cx="2773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 全數通過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2999232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MILP 排班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2999232"/>
            <a:ext cx="2773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 無雙重指派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3456432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Holt 預測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456432"/>
            <a:ext cx="2773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 趨勢追蹤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3913632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IsoForest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3913632"/>
            <a:ext cx="2773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 5% 污染率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4370832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ML CV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4370832"/>
            <a:ext cx="2773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 時序分割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4828032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25 圖表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828032"/>
            <a:ext cx="2773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 全部生成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49640" y="5440680"/>
            <a:ext cx="2773375" cy="384048"/>
          </a:xfrm>
          <a:prstGeom prst="roundRect">
            <a:avLst>
              <a:gd name="adj" fmla="val 20000"/>
            </a:avLst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9640" y="5440680"/>
            <a:ext cx="277337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45 passed in 17.87s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工程品質 · 技術清單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必要 4／4 · 選擇性 7 · 差異化創新 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423818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3423818" cy="4572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342381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必要技術 (4)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50592"/>
            <a:ext cx="31494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Python + Pandas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清洗 / 統計 / 排班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31494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Matplotlib / Seaborn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25 張圖表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01568"/>
            <a:ext cx="31494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Docker Compose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三容器一鍵部署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77056"/>
            <a:ext cx="31494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Git / GitHub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CI 45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3938" y="1874519"/>
            <a:ext cx="3423818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3938" y="1874519"/>
            <a:ext cx="3423818" cy="45720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3938" y="1874519"/>
            <a:ext cx="342381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選擇性技術 (7)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098" y="2450592"/>
            <a:ext cx="31494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MySQL 8.0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四張資料表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098" y="2926080"/>
            <a:ext cx="31494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Apache + PHP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完整業務系統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098" y="3401568"/>
            <a:ext cx="31494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scikit-learn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RF + IsoForest + GridSearch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1098" y="3877056"/>
            <a:ext cx="31494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Folium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互動海域地圖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352544"/>
            <a:ext cx="31494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Gradio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互動分析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098" y="4828032"/>
            <a:ext cx="31494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CWA 開放資料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浮標海象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1098" y="5303520"/>
            <a:ext cx="31494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Jupyter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EDA 紀錄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7796" y="1874519"/>
            <a:ext cx="3423818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7796" y="1874519"/>
            <a:ext cx="3423818" cy="457200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7796" y="1874519"/>
            <a:ext cx="342381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差異化創新 (4)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4956" y="2450592"/>
            <a:ext cx="31494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MILP (HiGHS)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排班全域最佳化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2926080"/>
            <a:ext cx="31494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Isolation Forest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5 維異常偵測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3401568"/>
            <a:ext cx="31494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Holt 平滑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純 NumPy 趨勢預測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4956" y="3877056"/>
            <a:ext cx="31494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人員雷達圖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五維調度輪廓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結語 ·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8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本學期達成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911535" cy="475488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08760"/>
            <a:ext cx="10088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Docker 三容器一鍵部署，修正跨平台轉移問題（start_demo.sh 自動建 .env）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10911535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57400"/>
            <a:ext cx="10088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MILP 整數規劃排班引擎 — 全域最優性差距 0%，全班唯一具名班表輸出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06040"/>
            <a:ext cx="10911535" cy="475488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06040"/>
            <a:ext cx="10088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RandomForest（acc 0.949 / AUC 0.811）+ Markov 雙模型海況預測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54680"/>
            <a:ext cx="10911535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54680"/>
            <a:ext cx="10088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Isolation Forest 5 維異常偵測，補強 Z-score 盲區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10911535" cy="475488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03320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03320"/>
            <a:ext cx="10088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Holt 雙指數平滑 + 線性外推雙趨勢預測（純 NumPy）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51960"/>
            <a:ext cx="10911535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51960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251960"/>
            <a:ext cx="10088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人員雷達圖 · 疲勞指數 · Gini 0.042 · 船艦可用性四項人力決策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00600"/>
            <a:ext cx="10911535" cy="475488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00600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800600"/>
            <a:ext cx="10088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25 張圖表 · 45 項 CI 全綠 · F=181.4 · χ²=349.6 · R²=0.784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40680"/>
            <a:ext cx="10911535" cy="457200"/>
          </a:xfrm>
          <a:prstGeom prst="roundRect">
            <a:avLst>
              <a:gd name="adj" fmla="val 10000"/>
            </a:avLst>
          </a:prstGeom>
          <a:solidFill>
            <a:srgbClr val="E9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未來展望：CWA 即時 API · 多日滾動排班 · 行動裝置打卡推播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6035040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035040"/>
            <a:ext cx="109115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海象感知 × 人力資源 × 自動排班 — 從資料到決策的完整技術鏈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