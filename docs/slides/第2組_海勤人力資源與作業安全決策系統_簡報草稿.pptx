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3175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海勤人力資源與作業安全決策系統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海象感知智慧排班 · 海事勤務雲端管理平台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8C57A"/>
                </a:solidFill>
                <a:latin typeface="Segoe UI"/>
                <a:ea typeface="微軟正黑體"/>
                <a:cs typeface="微軟正黑體"/>
              </a:rPr>
              <a:t>「別人把海象畫成圖，我們把海象變成『明天誰上哪艘船』。」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114-2 巨量資料與雲端運算 ── 第 2 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5CED6"/>
                </a:solidFill>
                <a:latin typeface="Segoe UI"/>
                <a:ea typeface="微軟正黑體"/>
                <a:cs typeface="微軟正黑體"/>
              </a:rPr>
              <a:t>組長：黃宇平　　組員：傅瀚鋌・曾紹喆・劉家样・李翊丞・林秉賢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7A5"/>
                </a:solidFill>
                <a:latin typeface="Segoe UI"/>
                <a:ea typeface="微軟正黑體"/>
                <a:cs typeface="微軟正黑體"/>
              </a:rPr>
              <a:t>指導老師：張珀銀 老師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我們與第 5 組（海象資料視覺化）不同在哪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3346704"/>
                <a:gridCol w="594969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第 5 組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第 2 組（我們）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資料主角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海象觀測值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值勤紀錄 × 人員 × 船艦（海象只是輸入）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核心問題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海象怎麼分析、怎麼畫？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海象惡劣時，明天該派誰、上哪艘船？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系統本質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分析／視覺化平台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含打卡／請假／帳號的決策支援系統（DSS）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招牌輸出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海象趨勢圖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自動排班引擎 → 明日值勤班表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0690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他們做不到、我們才有的維度（皆需人員／船艦資料，純海象資料無法產出）：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617720"/>
            <a:ext cx="2697480" cy="420624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人員疲勞指數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4617720"/>
            <a:ext cx="2697480" cy="420624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工時公平 Gini + Lorenz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4617720"/>
            <a:ext cx="2697480" cy="420624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船艦可用性與維護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544" y="4617720"/>
            <a:ext cx="2697480" cy="42062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自動排班引擎（具名班表）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全班唯一把海象接進人力資源排班決策的管理系統。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問題與動機：從紀錄工具到決策工具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上學期系統的問題（量化）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本學期解法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只能在 Windows XAMPP 執行，移機要重裝 ≥3 套軟體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Docker 三容器，單一指令 60 秒啟動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累積 1,200 筆紀錄、產出 0 張分析圖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21 張統計圖 + 假設檢定 + ML 預測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排班靠人工經驗，0 個決策因子被系統化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排班引擎納入海況/疲勞/公平/船艦 4 因子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389120"/>
            <a:ext cx="11155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海勤值勤的真實痛點：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惡劣海況下外海作業風險陡增；人員疲勞累積是海事事故重要肇因（IMO 疲勞管理指引 MSC.1/Circ.1598）。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管理者要的不是更多報表，而是「明天該派誰、上哪艘船」的直接答案。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系統架構：Docker Compose 三容器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pic>
        <p:nvPicPr>
          <p:cNvPr id="8" name="Picture 7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23" y="1188720"/>
            <a:ext cx="8330593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1160" y="1554480"/>
            <a:ext cx="26517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web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php:8.2-apache
打卡/請假/排班決策頁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B45309"/>
                </a:solidFill>
                <a:latin typeface="Segoe UI"/>
                <a:ea typeface="微軟正黑體"/>
                <a:cs typeface="微軟正黑體"/>
              </a:rPr>
              <a:t>db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mysql:8.0
4 張資料表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E7D32"/>
                </a:solidFill>
                <a:latin typeface="Segoe UI"/>
                <a:ea typeface="微軟正黑體"/>
                <a:cs typeface="微軟正黑體"/>
              </a:rPr>
              <a:t>analysis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python:3.11
Pandas / sklearn / Gradio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named volume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21 張圖 + 班表 JSON
+ Folium 地圖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課程技術全覆蓋：必要 4 項 + 選擇 7 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5440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628"/>
                <a:gridCol w="3083052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必要技術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用途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Python + Pandas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清洗/統計/排班引擎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Matplotlib / Seaborn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21 張視覺化圖表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Docker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三容器一鍵部署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Git / GitHub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版本管理 + CI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280160"/>
          <a:ext cx="5440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628"/>
                <a:gridCol w="3083052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選擇性技術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用途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MySQL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4 張資料表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Apache + PHP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業務系統 + 決策頁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scikit-learn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RandomForest 海況預測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Folium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互動海域地圖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Gradio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互動分析儀表板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Jupyter Notebook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探索式分析 EDA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CWA 開放資料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浮標海象（自動備援）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069080"/>
            <a:ext cx="5440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33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項自動化測試（GitHub Actions CI 全綠）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B45309"/>
                </a:solidFill>
                <a:latin typeface="Segoe UI"/>
                <a:ea typeface="微軟正黑體"/>
                <a:cs typeface="微軟正黑體"/>
              </a:rPr>
              <a:t>21+1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張分析圖表（含 CWA 海象對照圖）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資料設計：海事業務欄位 + CWA 海象管線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577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attendance 擴充三欄位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duty_zone　ENUM(港口/近海/外海)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sea_state　ENUM(平靜/輕浪/中浪/大浪)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vessel_id　MAR-001 ～ MAR-008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sea_observations（CWA 浮標）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station / obs_date / wave_height / sea_temp / sea_state / data_source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657600"/>
          <a:ext cx="557783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49"/>
                <a:gridCol w="984324"/>
                <a:gridCol w="262486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資料表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筆數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說明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attendance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1,200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6 個月值勤（動態生成）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sea_observations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4 浮標站逐日海象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leaves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請假申請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users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13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三層級權限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sea_ob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12172"/>
            <a:ext cx="5486400" cy="3399416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資料清洗與品質控管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55680" cy="1737360"/>
          </a:xfrm>
          <a:prstGeom prst="roundRect">
            <a:avLst/>
          </a:prstGeom>
          <a:solidFill>
            <a:srgbClr val="10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400">
                <a:solidFill>
                  <a:srgbClr val="7FD4C2"/>
                </a:solidFill>
                <a:latin typeface="Consolas"/>
                <a:ea typeface="微軟正黑體"/>
                <a:cs typeface="微軟正黑體"/>
              </a:rPr>
              <a:t>att = att.dropna(subset=["check_in","check_out","duty_zone","sea_state","vessel_id"])</a:t>
            </a:r>
          </a:p>
          <a:p>
            <a:r>
              <a:rPr sz="1400">
                <a:solidFill>
                  <a:srgbClr val="7FD4C2"/>
                </a:solidFill>
                <a:latin typeface="Consolas"/>
                <a:ea typeface="微軟正黑體"/>
                <a:cs typeface="微軟正黑體"/>
              </a:rPr>
              <a:t>att["hours"] = (att["check_out"] - att["check_in"]).dt.total_seconds() / 3600</a:t>
            </a:r>
          </a:p>
          <a:p>
            <a:r>
              <a:rPr sz="1400">
                <a:solidFill>
                  <a:srgbClr val="7FD4C2"/>
                </a:solidFill>
                <a:latin typeface="Consolas"/>
                <a:ea typeface="微軟正黑體"/>
                <a:cs typeface="微軟正黑體"/>
              </a:rPr>
              <a:t>att = att[(att["hours"] &gt;= 4) &amp; (att["hours"] &lt;= 14)]   # 剔除異常工時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3593592" cy="15544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6732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1,200 → 1,200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清洗後保留筆數（品質 100%）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3566160"/>
            <a:ext cx="3593592" cy="15544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376732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9.02 ± 0.81 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單次值勤工時 平均±標準差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566160"/>
            <a:ext cx="3593592" cy="15544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76732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B45309"/>
                </a:solidFill>
                <a:latin typeface="Segoe UI"/>
                <a:ea typeface="微軟正黑體"/>
                <a:cs typeface="微軟正黑體"/>
              </a:rPr>
              <a:t>4.7%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工時離群（&gt;2σ）已標記覆核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清洗規則以 33 項 pytest 測試鎖定行為，CI 每次推送自動驗證。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⭐ CORE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核心：自動排班引擎 build_schedule()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pic>
        <p:nvPicPr>
          <p:cNvPr id="8" name="Picture 7" descr="fig3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38" y="1143000"/>
            <a:ext cx="926924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LIVE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引擎實際輸出：明日班表（2026-06-07）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593592" cy="105156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7160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B45309"/>
                </a:solidFill>
                <a:latin typeface="Segoe UI"/>
                <a:ea typeface="微軟正黑體"/>
                <a:cs typeface="微軟正黑體"/>
              </a:rPr>
              <a:t>20.7%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明日惡劣海況機率（ML）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34440"/>
            <a:ext cx="3593592" cy="105156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2/3/3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港口/近海/外海 員額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234440"/>
            <a:ext cx="3593592" cy="105156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37160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B91C1C"/>
                </a:solidFill>
                <a:latin typeface="Segoe UI"/>
                <a:ea typeface="微軟正黑體"/>
                <a:cs typeface="微軟正黑體"/>
              </a:rPr>
              <a:t>MAR-007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維護中船艦（自動排除）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514600"/>
          <a:ext cx="111556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1208532"/>
                <a:gridCol w="1301495"/>
                <a:gridCol w="836676"/>
                <a:gridCol w="1115568"/>
                <a:gridCol w="576376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海域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人員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船艦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疲勞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外海暴露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指派理由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外海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趙磊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MAR-006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16.7%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低疲勞且外海暴露低，適合輪派外海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外海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吳超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MAR-008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28.6%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低疲勞且外海暴露低，適合輪派外海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近海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劉燕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29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25.0%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疲勞適中，配置近海任務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近海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鄭宇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MAR-004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34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26.3%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疲勞適中，配置近海任務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近海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Employee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37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16.7%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疲勞適中，配置近海任務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港口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林佳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MAR-001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66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6.7%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疲勞偏高，配置港口輕負荷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港口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陳偉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MAR-002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17.6%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疲勞偏高，配置港口輕負荷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以上為系統 recommendations.json 實際輸出 → scheduler.php 與 Gradio 同步呈現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HR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人力資源分析（第 5 組做不出來的維度）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pic>
        <p:nvPicPr>
          <p:cNvPr id="8" name="Picture 7" descr="fati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01" y="1280160"/>
            <a:ext cx="4309037" cy="251460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9" name="Picture 8" descr="fairness_loren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620" y="3886200"/>
            <a:ext cx="2937000" cy="251460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10" name="Picture 9" descr="vessel_avail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698" y="1280160"/>
            <a:ext cx="4578883" cy="251460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4069080"/>
            <a:ext cx="5303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關鍵發現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疲勞指數＝連續值勤＋7 日工時 → 0–100 分級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Gini = 0.033：工時分配均勻，輪班制度合理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MAR-007 達維護門檻 → 排班引擎自動排除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外海暴露率驅動公平輪換建議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SEA-STATE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海象智慧分析（輸入端）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pic>
        <p:nvPicPr>
          <p:cNvPr id="8" name="Picture 7" descr="marko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99014"/>
            <a:ext cx="5852160" cy="2076891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31" y="3886200"/>
            <a:ext cx="4517378" cy="251460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10" name="Picture 9" descr="zone_map_st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063" y="1280160"/>
            <a:ext cx="3778153" cy="310896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4572000"/>
            <a:ext cx="5303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Markov 7 日惡劣機率 6.4%・ML 明日 20.7%（互為驗證）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RandomForest：準確率 92.3%、AUC 0.713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互動版 Folium 地圖（duty_map.html）：海域多邊形 + 船艦 + CWA 浮標＋熱力圖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STATISTICAL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統計檢定與建模結果（全部為實測輸出）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  <a:gridCol w="3904488"/>
                <a:gridCol w="3904488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分析項目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統計量 / 指標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結論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海況對工時（ANOVA）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F = 167.9，p &lt; 0.0001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海況顯著影響工時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海域 × 海況（卡方檢定）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χ² = 331.0（df=6），p &lt; 0.0001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外海大浪比例顯著高於港口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工時驅動因子（OLS）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R² = 0.778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上工時刻與海況為最大因子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明日惡劣海況（RandomForest）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Accuracy 92.3%・AUC 0.713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供排班引擎風險輸入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工時公平性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Gini = 0.033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分配均勻，制度設計合理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770"/>
                </a:solidFill>
                <a:latin typeface="Segoe UI"/>
                <a:ea typeface="微軟正黑體"/>
                <a:cs typeface="微軟正黑體"/>
              </a:rPr>
              <a:t>資料：1,200 筆值勤（2025-12 ～ 2026-06）＋ 724 筆 CWA 浮標海象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LIVE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PHP 業務系統 + 分析儀表板（實機截圖）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566160" cy="237744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9" name="Picture 8" descr="03_admin_dashboard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080" y="1280160"/>
            <a:ext cx="3698240" cy="237744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10" name="Picture 9" descr="05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999" y="1280160"/>
            <a:ext cx="3698240" cy="237744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11" name="Picture 10" descr="02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60" y="3794760"/>
            <a:ext cx="3698240" cy="237744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12" name="Picture 11" descr="04_recommend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080" y="3794760"/>
            <a:ext cx="3698240" cy="237744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  <p:pic>
        <p:nvPicPr>
          <p:cNvPr id="13" name="Picture 12" descr="04_engine_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903" y="3794760"/>
            <a:ext cx="3372431" cy="2377440"/>
          </a:xfrm>
          <a:prstGeom prst="rect">
            <a:avLst/>
          </a:prstGeom>
          <a:ln w="12700">
            <a:solidFill>
              <a:srgbClr val="D0D6DC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Docker 一鍵部署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583680" cy="2194560"/>
          </a:xfrm>
          <a:prstGeom prst="roundRect">
            <a:avLst/>
          </a:prstGeom>
          <a:solidFill>
            <a:srgbClr val="10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700">
                <a:solidFill>
                  <a:srgbClr val="7FD4C2"/>
                </a:solidFill>
                <a:latin typeface="Consolas"/>
                <a:ea typeface="微軟正黑體"/>
                <a:cs typeface="微軟正黑體"/>
              </a:rPr>
              <a:t>$ cp .env.example .env</a:t>
            </a:r>
          </a:p>
          <a:p>
            <a:r>
              <a:rPr sz="1700">
                <a:solidFill>
                  <a:srgbClr val="7FD4C2"/>
                </a:solidFill>
                <a:latin typeface="Consolas"/>
                <a:ea typeface="微軟正黑體"/>
                <a:cs typeface="微軟正黑體"/>
              </a:rPr>
              <a:t>$ cd docker</a:t>
            </a:r>
          </a:p>
          <a:p>
            <a:r>
              <a:rPr sz="1700">
                <a:solidFill>
                  <a:srgbClr val="E8C57A"/>
                </a:solidFill>
                <a:latin typeface="Consolas"/>
                <a:ea typeface="微軟正黑體"/>
                <a:cs typeface="微軟正黑體"/>
              </a:rPr>
              <a:t>$ docker compose up --build</a:t>
            </a:r>
          </a:p>
          <a:p>
            <a:r>
              <a:rPr sz="1700">
                <a:solidFill>
                  <a:srgbClr val="FFFFFF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r>
              <a:rPr sz="1700">
                <a:solidFill>
                  <a:srgbClr val="C5CED6"/>
                </a:solidFill>
                <a:latin typeface="Consolas"/>
                <a:ea typeface="微軟正黑體"/>
                <a:cs typeface="微軟正黑體"/>
              </a:rPr>
              <a:t>→ 約 60 秒後三容器就緒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63040"/>
            <a:ext cx="4297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http://localhost:8080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PHP 值勤系統 + 排班決策頁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B45309"/>
                </a:solidFill>
                <a:latin typeface="Segoe UI"/>
                <a:ea typeface="微軟正黑體"/>
                <a:cs typeface="微軟正黑體"/>
              </a:rPr>
              <a:t>http://localhost:7860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Gradio 互動分析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69080"/>
            <a:ext cx="2157984" cy="384048"/>
          </a:xfrm>
          <a:prstGeom prst="round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[1/5] MySQL 初始化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4069080"/>
            <a:ext cx="2157984" cy="384048"/>
          </a:xfrm>
          <a:prstGeom prst="round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[2/5] 模擬資料生成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4069080"/>
            <a:ext cx="2157984" cy="384048"/>
          </a:xfrm>
          <a:prstGeom prst="round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[3/5] PHP 服務啟動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1192" y="4069080"/>
            <a:ext cx="2157984" cy="384048"/>
          </a:xfrm>
          <a:prstGeom prst="round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[4/5] CWA 海象擷取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0616" y="4069080"/>
            <a:ext cx="2157984" cy="384048"/>
          </a:xfrm>
          <a:prstGeom prst="round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[5/5] 21 張圖+引擎+地圖+ML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跨平台可重現：環境組態完全由 docker-compose.yml + .env 描述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容器異常 → docker compose restart 數秒恢復（回應研究問題 1）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GitHub 工程管理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5852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Commit 前綴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範疇</a:t>
                      </a:r>
                    </a:p>
                  </a:txBody>
                  <a:tcPr marL="64008" marR="64008">
                    <a:solidFill>
                      <a:srgbClr val="15293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[docker]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三容器 compose 配置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[app]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PHP 系統 + 排班決策頁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[data]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模擬資料 + CWA 海象管線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[analysis]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分析引擎 + 21 張圖 + ML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[docs]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報告 / 簡報 / 文件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[fix] / [chore]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430"/>
                          </a:solidFill>
                          <a:latin typeface="Segoe UI"/>
                          <a:ea typeface="微軟正黑體"/>
                          <a:cs typeface="微軟正黑體"/>
                        </a:rPr>
                        <a:t>修正與清理</a:t>
                      </a:r>
                    </a:p>
                  </a:txBody>
                  <a:tcPr marL="64008" marR="64008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1463040"/>
            <a:ext cx="48463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GitHub Actions CI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每次 push 自動執行 33 項 pytest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安全規範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連線設定全部走環境變數（getenv）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.env / 金鑰不進版控（.gitignore）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Demo 密碼以 CLI 工具重設，不寫死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5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FC5C4"/>
                </a:solidFill>
                <a:latin typeface="Segoe UI"/>
                <a:ea typeface="微軟正黑體"/>
                <a:cs typeface="微軟正黑體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結語：海象 → 決策，完整交付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B8093"/>
                </a:solidFill>
                <a:latin typeface="Segoe UI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B4BC"/>
                </a:solidFill>
                <a:latin typeface="Segoe UI"/>
                <a:ea typeface="微軟正黑體"/>
                <a:cs typeface="微軟正黑體"/>
              </a:rPr>
              <a:t>114-2 巨量資料與雲端運算 · 第 2 組 · 海勤人力資源與作業安全決策系統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✔  定位升級：海象視覺化 → 海勤人力資源與作業安全決策系統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✔  自動排班引擎（全班唯一，具名輸出明日班表）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973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✔  疲勞指數 / 工時公平 Gini 0.033 / 船艦可用性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26664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✔  RandomForest 92.3% Acc・AUC 0.713 + Markov 互驗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✔  21+1 張統計圖 + Folium 互動地圖 + CWA 海象管線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✔  Docker 一鍵部署 + CI 33 測試全綠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25880"/>
            <a:ext cx="3840480" cy="329184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54480"/>
            <a:ext cx="3383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5293E"/>
                </a:solidFill>
                <a:latin typeface="Segoe UI"/>
                <a:ea typeface="微軟正黑體"/>
                <a:cs typeface="微軟正黑體"/>
              </a:rPr>
              <a:t>未來展望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CWA 即時 API（金鑰機制已內建）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線性/整數規劃排班最佳化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430"/>
                </a:solidFill>
                <a:latin typeface="Segoe UI"/>
                <a:ea typeface="微軟正黑體"/>
                <a:cs typeface="微軟正黑體"/>
              </a:rPr>
              <a:t>• 行動裝置打卡與班表推播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7C7B"/>
                </a:solidFill>
                <a:latin typeface="Segoe UI"/>
                <a:ea typeface="微軟正黑體"/>
                <a:cs typeface="微軟正黑體"/>
              </a:rPr>
              <a:t>「別人把海象畫成圖，我們把海象變成『明天誰上哪艘船』。」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