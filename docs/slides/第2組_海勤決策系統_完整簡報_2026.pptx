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1D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0"/>
            <a:ext cx="11643055" cy="10972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"/>
            <a:ext cx="11643055" cy="54864"/>
          </a:xfrm>
          <a:prstGeom prst="rect">
            <a:avLst/>
          </a:prstGeom>
          <a:solidFill>
            <a:srgbClr val="E8B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海勤人力資源與作業安全決策系統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8B04B"/>
                </a:solidFill>
                <a:latin typeface="微軟正黑體"/>
                <a:ea typeface="微軟正黑體"/>
                <a:latin typeface="Calibri"/>
              </a:rPr>
              <a:t>海象感知智慧排班・海事勤務雲端管理平台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017520"/>
            <a:ext cx="9601200" cy="685800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127248"/>
            <a:ext cx="9235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「別人把海象畫成圖，我們把海象變成明天誰上哪艘船。」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8620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7293"/>
                </a:solidFill>
                <a:latin typeface="微軟正黑體"/>
                <a:ea typeface="微軟正黑體"/>
                <a:latin typeface="Calibri"/>
              </a:rPr>
              <a:t>114-2 巨量資料與雲端運算・第 2 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1596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黃宇平（組長）・傅瀚鋌・曾紹喆・劉家样・李翊丞・林秉賢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70916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6B7D"/>
                </a:solidFill>
                <a:latin typeface="微軟正黑體"/>
                <a:ea typeface="微軟正黑體"/>
                <a:latin typeface="Calibri"/>
              </a:rPr>
              <a:t>指導教師：張珀銀 老師　　2026 年 6 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52560" y="5303520"/>
            <a:ext cx="1005840" cy="1188720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98280" y="5376672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8B04B"/>
                </a:solidFill>
                <a:latin typeface="微軟正黑體"/>
                <a:ea typeface="微軟正黑體"/>
                <a:latin typeface="Calibri"/>
              </a:rPr>
              <a:t>25 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80" y="58978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圖表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131552" y="5303520"/>
            <a:ext cx="1005840" cy="1188720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77272" y="5376672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2C39A"/>
                </a:solidFill>
                <a:latin typeface="微軟正黑體"/>
                <a:ea typeface="微軟正黑體"/>
                <a:latin typeface="Calibri"/>
              </a:rPr>
              <a:t>45 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77272" y="58978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CI 測試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210544" y="5303520"/>
            <a:ext cx="1005840" cy="1188720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256264" y="5376672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06B4B"/>
                </a:solidFill>
                <a:latin typeface="微軟正黑體"/>
                <a:ea typeface="微軟正黑體"/>
                <a:latin typeface="Calibri"/>
              </a:rPr>
              <a:t>F=181.4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56264" y="58978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ANOVA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D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目　錄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0120"/>
            <a:ext cx="5486400" cy="1188720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69848"/>
            <a:ext cx="777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B04B"/>
                </a:solidFill>
                <a:latin typeface="微軟正黑體"/>
                <a:ea typeface="微軟正黑體"/>
                <a:latin typeface="Calibri"/>
              </a:rPr>
              <a:t>§1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097280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系統定位 ─ 我們與其他組的根本差異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73736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B7D"/>
                </a:solidFill>
                <a:latin typeface="微軟正黑體"/>
                <a:ea typeface="微軟正黑體"/>
                <a:latin typeface="Calibri"/>
              </a:rPr>
              <a:t>Slides 02–03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960120"/>
            <a:ext cx="5486400" cy="1188720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069848"/>
            <a:ext cx="777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B04B"/>
                </a:solidFill>
                <a:latin typeface="微軟正黑體"/>
                <a:ea typeface="微軟正黑體"/>
                <a:latin typeface="Calibri"/>
              </a:rPr>
              <a:t>§2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1097280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Docker 三容器架構 &amp; PHP 系統功能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173736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B7D"/>
                </a:solidFill>
                <a:latin typeface="微軟正黑體"/>
                <a:ea typeface="微軟正黑體"/>
                <a:latin typeface="Calibri"/>
              </a:rPr>
              <a:t>Slides 04–10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331720"/>
            <a:ext cx="5486400" cy="1188720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441448"/>
            <a:ext cx="777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B04B"/>
                </a:solidFill>
                <a:latin typeface="微軟正黑體"/>
                <a:ea typeface="微軟正黑體"/>
                <a:latin typeface="Calibri"/>
              </a:rPr>
              <a:t>§3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468880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⭐ 自動排班引擎（核心差異化）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10896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B7D"/>
                </a:solidFill>
                <a:latin typeface="微軟正黑體"/>
                <a:ea typeface="微軟正黑體"/>
                <a:latin typeface="Calibri"/>
              </a:rPr>
              <a:t>Slides 11–14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46520" y="2331720"/>
            <a:ext cx="5486400" cy="1188720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441448"/>
            <a:ext cx="777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B04B"/>
                </a:solidFill>
                <a:latin typeface="微軟正黑體"/>
                <a:ea typeface="微軟正黑體"/>
                <a:latin typeface="Calibri"/>
              </a:rPr>
              <a:t>§4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2468880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資料設計 &amp; 模擬管線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310896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B7D"/>
                </a:solidFill>
                <a:latin typeface="微軟正黑體"/>
                <a:ea typeface="微軟正黑體"/>
                <a:latin typeface="Calibri"/>
              </a:rPr>
              <a:t>Slides 15–16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703320"/>
            <a:ext cx="5486400" cy="1188720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813048"/>
            <a:ext cx="777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B04B"/>
                </a:solidFill>
                <a:latin typeface="微軟正黑體"/>
                <a:ea typeface="微軟正黑體"/>
                <a:latin typeface="Calibri"/>
              </a:rPr>
              <a:t>§5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840480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統計分析・ML・預測（25 張圖表）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48056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B7D"/>
                </a:solidFill>
                <a:latin typeface="微軟正黑體"/>
                <a:ea typeface="微軟正黑體"/>
                <a:latin typeface="Calibri"/>
              </a:rPr>
              <a:t>Slides 17–25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46520" y="3703320"/>
            <a:ext cx="5486400" cy="1188720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3813048"/>
            <a:ext cx="777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B04B"/>
                </a:solidFill>
                <a:latin typeface="微軟正黑體"/>
                <a:ea typeface="微軟正黑體"/>
                <a:latin typeface="Calibri"/>
              </a:rPr>
              <a:t>§6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3840480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人力資源決策分析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448056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B7D"/>
                </a:solidFill>
                <a:latin typeface="微軟正黑體"/>
                <a:ea typeface="微軟正黑體"/>
                <a:latin typeface="Calibri"/>
              </a:rPr>
              <a:t>Slides 26–29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074920"/>
            <a:ext cx="5486400" cy="1188720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184648"/>
            <a:ext cx="777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B04B"/>
                </a:solidFill>
                <a:latin typeface="微軟正黑體"/>
                <a:ea typeface="微軟正黑體"/>
                <a:latin typeface="Calibri"/>
              </a:rPr>
              <a:t>§7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5212080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互動式介面 &amp; Gradio &amp; Folium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585216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B7D"/>
                </a:solidFill>
                <a:latin typeface="微軟正黑體"/>
                <a:ea typeface="微軟正黑體"/>
                <a:latin typeface="Calibri"/>
              </a:rPr>
              <a:t>Slides 30–31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46520" y="5074920"/>
            <a:ext cx="5486400" cy="1188720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5184648"/>
            <a:ext cx="777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B04B"/>
                </a:solidFill>
                <a:latin typeface="微軟正黑體"/>
                <a:ea typeface="微軟正黑體"/>
                <a:latin typeface="Calibri"/>
              </a:rPr>
              <a:t>§8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0" y="5212080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GitHub 管理・CI・總結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585216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B7D"/>
                </a:solidFill>
                <a:latin typeface="微軟正黑體"/>
                <a:ea typeface="微軟正黑體"/>
                <a:latin typeface="Calibri"/>
              </a:rPr>
              <a:t>Slides 32–34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D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系統定位 ─ 為何和第 5 組（海象視覺化）本質不同？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840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我們不是「把海象畫得更漂亮」，而是把海象變成「明天誰上哪艘船」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85800"/>
            <a:ext cx="2286000" cy="40233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比較維度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2606040" y="685800"/>
            <a:ext cx="4297680" cy="40233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731520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第 5 組（海象資料視覺化）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6995160" y="685800"/>
            <a:ext cx="4892040" cy="402336"/>
          </a:xfrm>
          <a:prstGeom prst="rect">
            <a:avLst/>
          </a:prstGeom>
          <a:solidFill>
            <a:srgbClr val="E8B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731520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A3A"/>
                </a:solidFill>
                <a:latin typeface="微軟正黑體"/>
                <a:ea typeface="微軟正黑體"/>
                <a:latin typeface="Calibri"/>
              </a:rPr>
              <a:t>第 2 組（本系統）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15568"/>
            <a:ext cx="2286000" cy="530352"/>
          </a:xfrm>
          <a:prstGeom prst="rect">
            <a:avLst/>
          </a:prstGeom>
          <a:solidFill>
            <a:srgbClr val="1D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20700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資料主角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40" y="1115568"/>
            <a:ext cx="4297680" cy="530352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0" y="1207008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B7D"/>
                </a:solidFill>
                <a:latin typeface="微軟正黑體"/>
                <a:ea typeface="微軟正黑體"/>
                <a:latin typeface="Calibri"/>
              </a:rPr>
              <a:t>海象觀測值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95160" y="1115568"/>
            <a:ext cx="4892040" cy="530352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0" y="120700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值勤紀錄 × 人員 × 船艦（海象只是輸入）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682495"/>
            <a:ext cx="2286000" cy="530352"/>
          </a:xfrm>
          <a:prstGeom prst="rect">
            <a:avLst/>
          </a:prstGeom>
          <a:solidFill>
            <a:srgbClr val="1D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1773935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核心問題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06040" y="1682495"/>
            <a:ext cx="4297680" cy="530352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0" y="1773935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B7D"/>
                </a:solidFill>
                <a:latin typeface="微軟正黑體"/>
                <a:ea typeface="微軟正黑體"/>
                <a:latin typeface="Calibri"/>
              </a:rPr>
              <a:t>海象怎麼分析、怎麼畫？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1682495"/>
            <a:ext cx="4892040" cy="530352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0" y="1773935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海象惡劣時，明天該派誰、上哪艘船？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249424"/>
            <a:ext cx="2286000" cy="530352"/>
          </a:xfrm>
          <a:prstGeom prst="rect">
            <a:avLst/>
          </a:prstGeom>
          <a:solidFill>
            <a:srgbClr val="1D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234086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系統本質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06040" y="2249424"/>
            <a:ext cx="4297680" cy="530352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0" y="2340864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B7D"/>
                </a:solidFill>
                <a:latin typeface="微軟正黑體"/>
                <a:ea typeface="微軟正黑體"/>
                <a:latin typeface="Calibri"/>
              </a:rPr>
              <a:t>分析 / 視覺化平台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95160" y="2249424"/>
            <a:ext cx="4892040" cy="530352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0" y="2340864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含打卡/請假/帳號的決策支援系統（DSS）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2816352"/>
            <a:ext cx="2286000" cy="530352"/>
          </a:xfrm>
          <a:prstGeom prst="rect">
            <a:avLst/>
          </a:prstGeom>
          <a:solidFill>
            <a:srgbClr val="1D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29077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招牌輸出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06040" y="2816352"/>
            <a:ext cx="4297680" cy="530352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0" y="2907792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B7D"/>
                </a:solidFill>
                <a:latin typeface="微軟正黑體"/>
                <a:ea typeface="微軟正黑體"/>
                <a:latin typeface="Calibri"/>
              </a:rPr>
              <a:t>海象趨勢圖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95160" y="2816352"/>
            <a:ext cx="4892040" cy="530352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0" y="29077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C39A"/>
                </a:solidFill>
                <a:latin typeface="微軟正黑體"/>
                <a:ea typeface="微軟正黑體"/>
                <a:latin typeface="Calibri"/>
              </a:rPr>
              <a:t>⭐ 自動排班引擎 → 明日具名班表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383280"/>
            <a:ext cx="2286000" cy="530352"/>
          </a:xfrm>
          <a:prstGeom prst="rect">
            <a:avLst/>
          </a:prstGeom>
          <a:solidFill>
            <a:srgbClr val="1D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34747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排班能力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06040" y="3383280"/>
            <a:ext cx="4297680" cy="530352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0" y="3474720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B7D"/>
                </a:solidFill>
                <a:latin typeface="微軟正黑體"/>
                <a:ea typeface="微軟正黑體"/>
                <a:latin typeface="Calibri"/>
              </a:rPr>
              <a:t>❌ 無人員/船艦資料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95160" y="3383280"/>
            <a:ext cx="4892040" cy="530352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32320" y="347472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C39A"/>
                </a:solidFill>
                <a:latin typeface="微軟正黑體"/>
                <a:ea typeface="微軟正黑體"/>
                <a:latin typeface="Calibri"/>
              </a:rPr>
              <a:t>✅ MILP 整數規劃全域最佳化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3950208"/>
            <a:ext cx="2286000" cy="530352"/>
          </a:xfrm>
          <a:prstGeom prst="rect">
            <a:avLst/>
          </a:prstGeom>
          <a:solidFill>
            <a:srgbClr val="1D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404164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ML 預測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606040" y="3950208"/>
            <a:ext cx="4297680" cy="530352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43200" y="4041648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B7D"/>
                </a:solidFill>
                <a:latin typeface="微軟正黑體"/>
                <a:ea typeface="微軟正黑體"/>
                <a:latin typeface="Calibri"/>
              </a:rPr>
              <a:t>視情況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995160" y="3950208"/>
            <a:ext cx="4892040" cy="530352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132320" y="404164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C39A"/>
                </a:solidFill>
                <a:latin typeface="微軟正黑體"/>
                <a:ea typeface="微軟正黑體"/>
                <a:latin typeface="Calibri"/>
              </a:rPr>
              <a:t>✅ RF acc=0.949 / AUC=0.811，TimeSeriesSplit CV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4517136"/>
            <a:ext cx="2286000" cy="530352"/>
          </a:xfrm>
          <a:prstGeom prst="rect">
            <a:avLst/>
          </a:prstGeom>
          <a:solidFill>
            <a:srgbClr val="1D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460857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異常偵測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06040" y="4517136"/>
            <a:ext cx="4297680" cy="530352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43200" y="4608576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B7D"/>
                </a:solidFill>
                <a:latin typeface="微軟正黑體"/>
                <a:ea typeface="微軟正黑體"/>
                <a:latin typeface="Calibri"/>
              </a:rPr>
              <a:t>❌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995160" y="4517136"/>
            <a:ext cx="4892040" cy="530352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0" y="4608576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C39A"/>
                </a:solidFill>
                <a:latin typeface="微軟正黑體"/>
                <a:ea typeface="微軟正黑體"/>
                <a:latin typeface="Calibri"/>
              </a:rPr>
              <a:t>✅ Z-score + Isolation Forest 5 維聯合偵測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5120640"/>
            <a:ext cx="11612880" cy="502920"/>
          </a:xfrm>
          <a:prstGeom prst="rect">
            <a:avLst/>
          </a:prstGeom>
          <a:solidFill>
            <a:srgbClr val="E8B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518464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2A3A"/>
                </a:solidFill>
                <a:latin typeface="微軟正黑體"/>
                <a:ea typeface="微軟正黑體"/>
                <a:latin typeface="Calibri"/>
              </a:rPr>
              <a:t>全班唯一把海象接進人力資源排班決策的管理系統 — 這些輸出純海象資料根本做不出來。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D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系統架構 ─ Docker Compose 三容器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840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單一指令啟動，跨平台一致部署</a:t>
            </a:r>
          </a:p>
        </p:txBody>
      </p:sp>
      <p:pic>
        <p:nvPicPr>
          <p:cNvPr id="5" name="Picture 4" descr="fig1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85800"/>
            <a:ext cx="6400800" cy="393443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949440" y="777240"/>
            <a:ext cx="4937760" cy="17373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0" y="8686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B04B"/>
                </a:solidFill>
                <a:latin typeface="微軟正黑體"/>
                <a:ea typeface="微軟正黑體"/>
                <a:latin typeface="Calibri"/>
              </a:rPr>
              <a:t>web 容器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128016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php:8.2-apache • port :8080
22 個 PHP 檔案 • 打卡/請假/排班/帳號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2697480"/>
            <a:ext cx="4937760" cy="1737360"/>
          </a:xfrm>
          <a:prstGeom prst="rect">
            <a:avLst/>
          </a:prstGeom>
          <a:solidFill>
            <a:srgbClr val="1D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27889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B04B"/>
                </a:solidFill>
                <a:latin typeface="微軟正黑體"/>
                <a:ea typeface="微軟正黑體"/>
                <a:latin typeface="Calibri"/>
              </a:rPr>
              <a:t>db 容器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320040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mysql:8.0 • 內部網路
4 資料表 • db_data volume 持久化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49440" y="4617720"/>
            <a:ext cx="4937760" cy="1737360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0" y="47091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B04B"/>
                </a:solidFill>
                <a:latin typeface="微軟正黑體"/>
                <a:ea typeface="微軟正黑體"/>
                <a:latin typeface="Calibri"/>
              </a:rPr>
              <a:t>analysis 容器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512064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python:3.11 • port :7860
Pandas / ML / Gradio / 25 張圖表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9440" y="6400800"/>
            <a:ext cx="4937760" cy="347472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0" y="643737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2C39A"/>
                </a:solidFill>
                <a:latin typeface="微軟正黑體"/>
                <a:ea typeface="微軟正黑體"/>
                <a:latin typeface="Calibri"/>
              </a:rPr>
              <a:t>📦 analysis_output volume — 圖表/班表跨容器共用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D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一鍵部署 ─ docker compose up --build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840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修正學校 Docker 轉移失敗問題：start_demo.sh 自動建立 .env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77240"/>
            <a:ext cx="6949440" cy="530352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777240"/>
            <a:ext cx="6949440" cy="347472"/>
          </a:xfrm>
          <a:prstGeom prst="rect">
            <a:avLst/>
          </a:prstGeom>
          <a:solidFill>
            <a:srgbClr val="283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0467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E98"/>
                </a:solidFill>
                <a:latin typeface="微軟正黑體"/>
                <a:ea typeface="微軟正黑體"/>
                <a:latin typeface="Calibri"/>
              </a:rPr>
              <a:t>● ● ●   Terminal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8872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2C39A"/>
                </a:solidFill>
                <a:latin typeface="Courier New"/>
                <a:ea typeface="Courier New"/>
                <a:latin typeface="Calibri"/>
              </a:rPr>
              <a:t>$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188720"/>
            <a:ext cx="6309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2C39A"/>
                </a:solidFill>
                <a:latin typeface="Courier New"/>
                <a:ea typeface="Courier New"/>
                <a:latin typeface="Calibri"/>
              </a:rPr>
              <a:t>git clone https://github.com/rocjveteran/114-2_BigDataCC-2nd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536192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2C39A"/>
                </a:solidFill>
                <a:latin typeface="Courier New"/>
                <a:ea typeface="Courier New"/>
                <a:latin typeface="Calibri"/>
              </a:rPr>
              <a:t>$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536192"/>
            <a:ext cx="6309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2C39A"/>
                </a:solidFill>
                <a:latin typeface="Courier New"/>
                <a:ea typeface="Courier New"/>
                <a:latin typeface="Calibri"/>
              </a:rPr>
              <a:t>cd 114-2_BigDataCC-2nd/docker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883664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B04B"/>
                </a:solidFill>
                <a:latin typeface="Courier New"/>
                <a:ea typeface="Courier New"/>
                <a:latin typeface="Calibri"/>
              </a:rPr>
              <a:t>$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883664"/>
            <a:ext cx="6309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B04B"/>
                </a:solidFill>
                <a:latin typeface="Courier New"/>
                <a:ea typeface="Courier New"/>
                <a:latin typeface="Calibri"/>
              </a:rPr>
              <a:t>bash start_demo.sh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578608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2C39A"/>
                </a:solidFill>
                <a:latin typeface="Courier New"/>
                <a:ea typeface="Courier New"/>
                <a:latin typeface="Calibri"/>
              </a:rPr>
              <a:t>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578608"/>
            <a:ext cx="6309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2C39A"/>
                </a:solidFill>
                <a:latin typeface="Courier New"/>
                <a:ea typeface="Courier New"/>
                <a:latin typeface="Calibri"/>
              </a:rPr>
              <a:t>[1/5] .env 自動建立完成（demo 預設密碼）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92608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2C39A"/>
                </a:solidFill>
                <a:latin typeface="Courier New"/>
                <a:ea typeface="Courier New"/>
                <a:latin typeface="Calibri"/>
              </a:rPr>
              <a:t>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926080"/>
            <a:ext cx="6309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2C39A"/>
                </a:solidFill>
                <a:latin typeface="Courier New"/>
                <a:ea typeface="Courier New"/>
                <a:latin typeface="Calibri"/>
              </a:rPr>
              <a:t>[2/5] docker compose up --build -d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273552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2C39A"/>
                </a:solidFill>
                <a:latin typeface="Courier New"/>
                <a:ea typeface="Courier New"/>
                <a:latin typeface="Calibri"/>
              </a:rPr>
              <a:t>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273552"/>
            <a:ext cx="6309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2C39A"/>
                </a:solidFill>
                <a:latin typeface="Courier New"/>
                <a:ea typeface="Courier New"/>
                <a:latin typeface="Calibri"/>
              </a:rPr>
              <a:t>[3/5] python generate_mock_data.py  ─ 1200 筆資料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621024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2C39A"/>
                </a:solidFill>
                <a:latin typeface="Courier New"/>
                <a:ea typeface="Courier New"/>
                <a:latin typeface="Calibri"/>
              </a:rPr>
              <a:t>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621024"/>
            <a:ext cx="6309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2C39A"/>
                </a:solidFill>
                <a:latin typeface="Courier New"/>
                <a:ea typeface="Courier New"/>
                <a:latin typeface="Calibri"/>
              </a:rPr>
              <a:t>[4/5] python fetch_sea_data.py      ─ 736 筆海象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968496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2C39A"/>
                </a:solidFill>
                <a:latin typeface="Courier New"/>
                <a:ea typeface="Courier New"/>
                <a:latin typeface="Calibri"/>
              </a:rPr>
              <a:t>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968496"/>
            <a:ext cx="6309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2C39A"/>
                </a:solidFill>
                <a:latin typeface="Courier New"/>
                <a:ea typeface="Courier New"/>
                <a:latin typeface="Calibri"/>
              </a:rPr>
              <a:t>[5/5] python analysis.py            ─ 25 張圖表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66344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B04B"/>
                </a:solidFill>
                <a:latin typeface="Courier New"/>
                <a:ea typeface="Courier New"/>
                <a:latin typeface="Calibri"/>
              </a:rPr>
              <a:t>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663440"/>
            <a:ext cx="6309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B04B"/>
                </a:solidFill>
                <a:latin typeface="Courier New"/>
                <a:ea typeface="Courier New"/>
                <a:latin typeface="Calibri"/>
              </a:rPr>
              <a:t>http://localhost:8080   PHP 系統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010912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B04B"/>
                </a:solidFill>
                <a:latin typeface="Courier New"/>
                <a:ea typeface="Courier New"/>
                <a:latin typeface="Calibri"/>
              </a:rPr>
              <a:t>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010912"/>
            <a:ext cx="6309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B04B"/>
                </a:solidFill>
                <a:latin typeface="Courier New"/>
                <a:ea typeface="Courier New"/>
                <a:latin typeface="Calibri"/>
              </a:rPr>
              <a:t>http://localhost:7860   Gradio 互動分析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89520" y="914400"/>
            <a:ext cx="4297680" cy="1234440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0" y="100584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102412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B04B"/>
                </a:solidFill>
                <a:latin typeface="微軟正黑體"/>
                <a:ea typeface="微軟正黑體"/>
                <a:latin typeface="Calibri"/>
              </a:rPr>
              <a:t>啟動時間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14173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2C39A"/>
                </a:solidFill>
                <a:latin typeface="微軟正黑體"/>
                <a:ea typeface="微軟正黑體"/>
                <a:latin typeface="Calibri"/>
              </a:rPr>
              <a:t>&lt; 60 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89520" y="2331720"/>
            <a:ext cx="4297680" cy="1234440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0" y="242316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244144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B04B"/>
                </a:solidFill>
                <a:latin typeface="微軟正黑體"/>
                <a:ea typeface="微軟正黑體"/>
                <a:latin typeface="Calibri"/>
              </a:rPr>
              <a:t>.env 自動建立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28346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2C39A"/>
                </a:solidFill>
                <a:latin typeface="微軟正黑體"/>
                <a:ea typeface="微軟正黑體"/>
                <a:latin typeface="Calibri"/>
              </a:rPr>
              <a:t>無需手動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89520" y="3749039"/>
            <a:ext cx="4297680" cy="1234440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0" y="3840479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3858767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B04B"/>
                </a:solidFill>
                <a:latin typeface="微軟正黑體"/>
                <a:ea typeface="微軟正黑體"/>
                <a:latin typeface="Calibri"/>
              </a:rPr>
              <a:t>Docker Desktop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4251959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2C39A"/>
                </a:solidFill>
                <a:latin typeface="微軟正黑體"/>
                <a:ea typeface="微軟正黑體"/>
                <a:latin typeface="Calibri"/>
              </a:rPr>
              <a:t>WSL2 後端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89520" y="5166360"/>
            <a:ext cx="4297680" cy="1234440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0" y="525780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527608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B04B"/>
                </a:solidFill>
                <a:latin typeface="微軟正黑體"/>
                <a:ea typeface="微軟正黑體"/>
                <a:latin typeface="Calibri"/>
              </a:rPr>
              <a:t>帳密環境變數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56692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2C39A"/>
                </a:solidFill>
                <a:latin typeface="微軟正黑體"/>
                <a:ea typeface="微軟正黑體"/>
                <a:latin typeface="Calibri"/>
              </a:rPr>
              <a:t>不入 repo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D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PHP 系統功能總覽（22 個檔案，延自上學期）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840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三層級權限：老闆 / 管理員 / 員工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777240"/>
            <a:ext cx="3794760" cy="1280160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" y="85039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B04B"/>
                </a:solidFill>
                <a:latin typeface="Courier New"/>
                <a:ea typeface="Courier New"/>
                <a:latin typeface="Calibri"/>
              </a:rPr>
              <a:t>login.php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" y="123444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帳號密碼登入・Session 管理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" y="1783080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2C39A"/>
                </a:solidFill>
                <a:latin typeface="微軟正黑體"/>
                <a:ea typeface="微軟正黑體"/>
                <a:latin typeface="Calibri"/>
              </a:rPr>
              <a:t>全部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777240"/>
            <a:ext cx="3794760" cy="1280160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15968" y="85039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B04B"/>
                </a:solidFill>
                <a:latin typeface="Courier New"/>
                <a:ea typeface="Courier New"/>
                <a:latin typeface="Calibri"/>
              </a:rPr>
              <a:t>punch.php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5968" y="123444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上下勤打卡・即時海象橫幅・疲勞卡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5968" y="1783080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2C39A"/>
                </a:solidFill>
                <a:latin typeface="微軟正黑體"/>
                <a:ea typeface="微軟正黑體"/>
                <a:latin typeface="Calibri"/>
              </a:rPr>
              <a:t>全部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3879" y="777240"/>
            <a:ext cx="3794760" cy="1280160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3607" y="85039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B04B"/>
                </a:solidFill>
                <a:latin typeface="Courier New"/>
                <a:ea typeface="Courier New"/>
                <a:latin typeface="Calibri"/>
              </a:rPr>
              <a:t>records.php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07" y="123444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個人值勤歷史查詢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7" y="1783080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2C39A"/>
                </a:solidFill>
                <a:latin typeface="微軟正黑體"/>
                <a:ea typeface="微軟正黑體"/>
                <a:latin typeface="Calibri"/>
              </a:rPr>
              <a:t>全部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2167128"/>
            <a:ext cx="3794760" cy="1280160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" y="224028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B04B"/>
                </a:solidFill>
                <a:latin typeface="Courier New"/>
                <a:ea typeface="Courier New"/>
                <a:latin typeface="Calibri"/>
              </a:rPr>
              <a:t>leave.php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" y="2624328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請假申請（假別/起訖日/事由）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" y="317296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2C39A"/>
                </a:solidFill>
                <a:latin typeface="微軟正黑體"/>
                <a:ea typeface="微軟正黑體"/>
                <a:latin typeface="Calibri"/>
              </a:rPr>
              <a:t>全部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2167128"/>
            <a:ext cx="3794760" cy="1280160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15968" y="224028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B04B"/>
                </a:solidFill>
                <a:latin typeface="Courier New"/>
                <a:ea typeface="Courier New"/>
                <a:latin typeface="Calibri"/>
              </a:rPr>
              <a:t>admin_status.php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15968" y="2624328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全員值勤總覽・日期篩選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15968" y="317296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7293"/>
                </a:solidFill>
                <a:latin typeface="微軟正黑體"/>
                <a:ea typeface="微軟正黑體"/>
                <a:latin typeface="Calibri"/>
              </a:rPr>
              <a:t>管理員↑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83879" y="2167128"/>
            <a:ext cx="3794760" cy="1280160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93607" y="224028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B04B"/>
                </a:solidFill>
                <a:latin typeface="Courier New"/>
                <a:ea typeface="Courier New"/>
                <a:latin typeface="Calibri"/>
              </a:rPr>
              <a:t>admin_leave.php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3607" y="2624328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請假審核（核准/拒絕）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3607" y="317296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7293"/>
                </a:solidFill>
                <a:latin typeface="微軟正黑體"/>
                <a:ea typeface="微軟正黑體"/>
                <a:latin typeface="Calibri"/>
              </a:rPr>
              <a:t>管理員↑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" y="3557016"/>
            <a:ext cx="3794760" cy="1280160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8328" y="363016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B04B"/>
                </a:solidFill>
                <a:latin typeface="Courier New"/>
                <a:ea typeface="Courier New"/>
                <a:latin typeface="Calibri"/>
              </a:rPr>
              <a:t>admin_users.php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8328" y="4014216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帳號管理・新增/停用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" y="4562856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7293"/>
                </a:solidFill>
                <a:latin typeface="微軟正黑體"/>
                <a:ea typeface="微軟正黑體"/>
                <a:latin typeface="Calibri"/>
              </a:rPr>
              <a:t>管理員↑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06240" y="3557016"/>
            <a:ext cx="3794760" cy="1280160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15968" y="363016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B04B"/>
                </a:solidFill>
                <a:latin typeface="Courier New"/>
                <a:ea typeface="Courier New"/>
                <a:latin typeface="Calibri"/>
              </a:rPr>
              <a:t>admin_export.php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15968" y="4014216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值勤記錄 CSV 匯出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15968" y="4562856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7293"/>
                </a:solidFill>
                <a:latin typeface="微軟正黑體"/>
                <a:ea typeface="微軟正黑體"/>
                <a:latin typeface="Calibri"/>
              </a:rPr>
              <a:t>管理員↑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83879" y="3557016"/>
            <a:ext cx="3794760" cy="1280160"/>
          </a:xfrm>
          <a:prstGeom prst="rect">
            <a:avLst/>
          </a:prstGeom>
          <a:solidFill>
            <a:srgbClr val="E8B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93607" y="363016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A3A"/>
                </a:solidFill>
                <a:latin typeface="Courier New"/>
                <a:ea typeface="Courier New"/>
                <a:latin typeface="Calibri"/>
              </a:rPr>
              <a:t>scheduler.php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93607" y="4014216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A3A"/>
                </a:solidFill>
                <a:latin typeface="微軟正黑體"/>
                <a:ea typeface="微軟正黑體"/>
                <a:latin typeface="Calibri"/>
              </a:rPr>
              <a:t>明日排班決策頁（MILP 引擎輸出）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93607" y="4562856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7293"/>
                </a:solidFill>
                <a:latin typeface="微軟正黑體"/>
                <a:ea typeface="微軟正黑體"/>
                <a:latin typeface="Calibri"/>
              </a:rPr>
              <a:t>管理員↑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8600" y="4946904"/>
            <a:ext cx="3794760" cy="1280160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8328" y="5020056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B04B"/>
                </a:solidFill>
                <a:latin typeface="Courier New"/>
                <a:ea typeface="Courier New"/>
                <a:latin typeface="Calibri"/>
              </a:rPr>
              <a:t>admin_dashboard.php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8328" y="5404104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分析儀表板 + 25 張圖 + Folium 地圖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8" y="5952744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7293"/>
                </a:solidFill>
                <a:latin typeface="微軟正黑體"/>
                <a:ea typeface="微軟正黑體"/>
                <a:latin typeface="Calibri"/>
              </a:rPr>
              <a:t>管理員↑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06240" y="4946904"/>
            <a:ext cx="3794760" cy="1280160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15968" y="5020056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B04B"/>
                </a:solidFill>
                <a:latin typeface="Courier New"/>
                <a:ea typeface="Courier New"/>
                <a:latin typeface="Calibri"/>
              </a:rPr>
              <a:t>api_status.php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15968" y="5404104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即時海況 API（每 60s 自動刷新）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15968" y="5952744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2C39A"/>
                </a:solidFill>
                <a:latin typeface="微軟正黑體"/>
                <a:ea typeface="微軟正黑體"/>
                <a:latin typeface="Calibri"/>
              </a:rPr>
              <a:t>全部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183879" y="4946904"/>
            <a:ext cx="3794760" cy="1280160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93607" y="5020056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B04B"/>
                </a:solidFill>
                <a:latin typeface="Courier New"/>
                <a:ea typeface="Courier New"/>
                <a:latin typeface="Calibri"/>
              </a:rPr>
              <a:t>reset_demo_pw.php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93607" y="5404104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Demo 密碼重設工具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93607" y="5952744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2C39A"/>
                </a:solidFill>
                <a:latin typeface="微軟正黑體"/>
                <a:ea typeface="微軟正黑體"/>
                <a:latin typeface="Calibri"/>
              </a:rPr>
              <a:t>老闆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D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PHP Demo：登入・打卡・個人疲勞卡</a:t>
            </a:r>
          </a:p>
        </p:txBody>
      </p:sp>
      <p:pic>
        <p:nvPicPr>
          <p:cNvPr id="4" name="Picture 3" descr="01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85800"/>
            <a:ext cx="5669280" cy="37795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74320" y="6309360"/>
            <a:ext cx="5669280" cy="365760"/>
          </a:xfrm>
          <a:prstGeom prst="rect">
            <a:avLst/>
          </a:prstGeom>
          <a:solidFill>
            <a:srgbClr val="1D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336792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登入頁（粒子波動動畫背景）</a:t>
            </a:r>
          </a:p>
        </p:txBody>
      </p:sp>
      <p:pic>
        <p:nvPicPr>
          <p:cNvPr id="7" name="Picture 6" descr="02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685800"/>
            <a:ext cx="5669280" cy="364453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217920" y="6309360"/>
            <a:ext cx="5669280" cy="365760"/>
          </a:xfrm>
          <a:prstGeom prst="rect">
            <a:avLst/>
          </a:prstGeom>
          <a:solidFill>
            <a:srgbClr val="1D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6336792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打卡頁（即時海象橫幅）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647688"/>
            <a:ext cx="1161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B7D"/>
                </a:solidFill>
                <a:latin typeface="微軟正黑體"/>
                <a:ea typeface="微軟正黑體"/>
                <a:latin typeface="Calibri"/>
              </a:rPr>
              <a:t>預設帳號：boss1 / admin1 / em1　　Demo 密碼：demo1234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D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PHP Demo：管理員分析儀表板（admin_dashboard.php）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840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整合 25 張分析圖表 + Folium 互動地圖 + 排班摘要</a:t>
            </a:r>
          </a:p>
        </p:txBody>
      </p:sp>
      <p:pic>
        <p:nvPicPr>
          <p:cNvPr id="5" name="Picture 4" descr="03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49808"/>
            <a:ext cx="7772400" cy="983424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0" y="749808"/>
            <a:ext cx="3749039" cy="3200400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66760" y="859536"/>
            <a:ext cx="34747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B04B"/>
                </a:solidFill>
                <a:latin typeface="微軟正黑體"/>
                <a:ea typeface="微軟正黑體"/>
                <a:latin typeface="Calibri"/>
              </a:rPr>
              <a:t>儀表板內容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1188720"/>
            <a:ext cx="34747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排班決策摘要（明日班表概覽）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1463040"/>
            <a:ext cx="34747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Folium 互動海域地圖（可縮放點擊）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1737360"/>
            <a:ext cx="34747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25 張統計分析圖表嵌入呈現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2011680"/>
            <a:ext cx="34747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點選任一圖可展開原圖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286000"/>
            <a:ext cx="34747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每 60 秒自動刷新即時海象橫幅</a:t>
            </a:r>
          </a:p>
        </p:txBody>
      </p:sp>
      <p:pic>
        <p:nvPicPr>
          <p:cNvPr id="13" name="Picture 12" descr="04_engine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4114800"/>
            <a:ext cx="3749039" cy="26429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D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E8B04B"/>
                </a:solidFill>
                <a:latin typeface="微軟正黑體"/>
                <a:ea typeface="微軟正黑體"/>
                <a:latin typeface="Calibri"/>
              </a:rPr>
              <a:t>§3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749039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⭐ 自動排班引擎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09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C7293"/>
                </a:solidFill>
                <a:latin typeface="Calibri"/>
                <a:ea typeface="Calibri"/>
                <a:latin typeface="Calibri"/>
              </a:rPr>
              <a:t>Automated Scheduling Engine — MILP Optimizer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5303520"/>
            <a:ext cx="3657600" cy="36576"/>
          </a:xfrm>
          <a:prstGeom prst="rect">
            <a:avLst/>
          </a:prstGeom>
          <a:solidFill>
            <a:srgbClr val="E8B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D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⭐ 明日排班決策頁（scheduler.php）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840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全班唯一——從海象機率自動產出明日具名班表，管理員一鍵查閱</a:t>
            </a:r>
          </a:p>
        </p:txBody>
      </p:sp>
      <p:pic>
        <p:nvPicPr>
          <p:cNvPr id="5" name="Picture 4" descr="02_schedul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49808"/>
            <a:ext cx="8686800" cy="116246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098280" y="749808"/>
            <a:ext cx="2788920" cy="5029200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0" y="859536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B04B"/>
                </a:solidFill>
                <a:latin typeface="微軟正黑體"/>
                <a:ea typeface="微軟正黑體"/>
                <a:latin typeface="Calibri"/>
              </a:rPr>
              <a:t>頁面資訊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0" y="1188720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四項輸入顯示於頁頂 KPI 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0" y="1463040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• 明日惡劣海況機率（ML %）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1737360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• 高疲勞人數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2011680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• 可用船艦數 / 維護中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2286000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三欄班表：港口・近海・外海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2560320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各人員卡片：姓名/船艦/疲勞分/暴露%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2834640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建議輪休 &amp; 船艦可用性子表格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3108960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顯示 MILP 引擎與最優性差距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D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排班引擎決策邏輯 ─ 5 條規則 → MILP 全域最佳化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5623560" cy="2331720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8229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B04B"/>
                </a:solidFill>
                <a:latin typeface="微軟正黑體"/>
                <a:ea typeface="微軟正黑體"/>
                <a:latin typeface="Calibri"/>
              </a:rPr>
              <a:t>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84124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海況風險調控員額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28016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明日惡劣機率 ≥ 50%：外海僅留 1 人；&lt; 25%：外海最多 4 人。
機率越高，外海員額自動越少。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749808"/>
            <a:ext cx="5623560" cy="2331720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8229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B04B"/>
                </a:solidFill>
                <a:latin typeface="微軟正黑體"/>
                <a:ea typeface="微軟正黑體"/>
                <a:latin typeface="Calibri"/>
              </a:rPr>
              <a:t>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84124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外海輪換公平性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128016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外海優先指派「疲勞分低 AND 外海累積暴露比例低」者，
兼顧安全與輪換公平。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264408"/>
            <a:ext cx="5623560" cy="2331720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33375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B04B"/>
                </a:solidFill>
                <a:latin typeface="微軟正黑體"/>
                <a:ea typeface="微軟正黑體"/>
                <a:latin typeface="Calibri"/>
              </a:rPr>
              <a:t>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35584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過勞者輕負荷保護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79476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疲勞指數 ≥ 65（高級）者自動配置港口值守，
若人力充足且疲勞 ≥ 80 則列入建議輪休名單。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264408"/>
            <a:ext cx="5623560" cy="2331720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3375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B04B"/>
                </a:solidFill>
                <a:latin typeface="微軟正黑體"/>
                <a:ea typeface="微軟正黑體"/>
                <a:latin typeface="Calibri"/>
              </a:rPr>
              <a:t>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335584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維護中船艦自動排除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379476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availability_pct &lt; 30% 的船艦標記「需維護」，
不進入指派候選池——每艦僅一組人員。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5806440"/>
            <a:ext cx="11612880" cy="804672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587959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B04B"/>
                </a:solidFill>
                <a:latin typeface="微軟正黑體"/>
                <a:ea typeface="微軟正黑體"/>
                <a:latin typeface="Calibri"/>
              </a:rPr>
              <a:t>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8978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MILP 整數線性規劃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40" y="5879592"/>
            <a:ext cx="7955279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scipy.optimize.milp（HiGHS 後端）對 P×V 指派矩陣求全域最優解，
ZONE_PRIORITY 加權確保安全關鍵海域優先填滿。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D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MILP 整數線性規劃 ─ 全域最優性驗證（差距 = 0%）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840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scipy.optimize.milp（HiGHS 後端）— 數學證明貪婪法在此規模已達全域最優</a:t>
            </a:r>
          </a:p>
        </p:txBody>
      </p:sp>
      <p:pic>
        <p:nvPicPr>
          <p:cNvPr id="5" name="Picture 4" descr="schedule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49808"/>
            <a:ext cx="7132320" cy="397043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589520" y="749808"/>
            <a:ext cx="4389120" cy="32004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26679" y="80467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B04B"/>
                </a:solidFill>
                <a:latin typeface="Courier New"/>
                <a:ea typeface="Courier New"/>
                <a:latin typeface="Calibri"/>
              </a:rPr>
              <a:t># MILP 核心設計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1115568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ourier New"/>
                <a:ea typeface="Courier New"/>
                <a:latin typeface="Calibri"/>
              </a:rPr>
              <a:t>x[i,v] ∈ {0,1}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1280160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2C39A"/>
                </a:solidFill>
                <a:latin typeface="Courier New"/>
                <a:ea typeface="Courier New"/>
                <a:latin typeface="Calibri"/>
              </a:rPr>
              <a:t># person-vessel assign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1444752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ourier New"/>
                <a:ea typeface="Courier New"/>
                <a:latin typeface="Calibr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1609344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2C39A"/>
                </a:solidFill>
                <a:latin typeface="Courier New"/>
                <a:ea typeface="Courier New"/>
                <a:latin typeface="Calibri"/>
              </a:rPr>
              <a:t># 每人最多 1 艘船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1773936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ourier New"/>
                <a:ea typeface="Courier New"/>
                <a:latin typeface="Calibri"/>
              </a:rPr>
              <a:t>Σ_v x[i,v] ≤ 1  ∀i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1938528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2C39A"/>
                </a:solidFill>
                <a:latin typeface="Courier New"/>
                <a:ea typeface="Courier New"/>
                <a:latin typeface="Calibri"/>
              </a:rPr>
              <a:t># 每艦最多 1 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2103120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ourier New"/>
                <a:ea typeface="Courier New"/>
                <a:latin typeface="Calibri"/>
              </a:rPr>
              <a:t>Σ_i x[i,v] ≤ 1  ∀v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2267712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2C39A"/>
                </a:solidFill>
                <a:latin typeface="Courier New"/>
                <a:ea typeface="Courier New"/>
                <a:latin typeface="Calibri"/>
              </a:rPr>
              <a:t># 海域員額上限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79" y="2432304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ourier New"/>
                <a:ea typeface="Courier New"/>
                <a:latin typeface="Calibri"/>
              </a:rPr>
              <a:t>Σ x[i,v] ≤ slots[z]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2596896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ourier New"/>
                <a:ea typeface="Courier New"/>
                <a:latin typeface="Calibri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2761487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2C39A"/>
                </a:solidFill>
                <a:latin typeface="Courier New"/>
                <a:ea typeface="Courier New"/>
                <a:latin typeface="Calibri"/>
              </a:rPr>
              <a:t># 目標：最小化成本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2926080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ourier New"/>
                <a:ea typeface="Courier New"/>
                <a:latin typeface="Calibri"/>
              </a:rPr>
              <a:t>min Σ (cost[i] - BIG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79" y="3090672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ourier New"/>
                <a:ea typeface="Courier New"/>
                <a:latin typeface="Calibri"/>
              </a:rPr>
              <a:t>     - PRIORITY[zone])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89520" y="4069080"/>
            <a:ext cx="4389120" cy="713232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26679" y="4123944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B7D"/>
                </a:solidFill>
                <a:latin typeface="微軟正黑體"/>
                <a:ea typeface="微軟正黑體"/>
                <a:latin typeface="Calibri"/>
              </a:rPr>
              <a:t>MILP 指派成本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4123944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E8B04B"/>
                </a:solidFill>
                <a:latin typeface="微軟正黑體"/>
                <a:ea typeface="微軟正黑體"/>
                <a:latin typeface="Calibri"/>
              </a:rPr>
              <a:t>215.6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89520" y="4873752"/>
            <a:ext cx="4389120" cy="713232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26679" y="4928616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B7D"/>
                </a:solidFill>
                <a:latin typeface="微軟正黑體"/>
                <a:ea typeface="微軟正黑體"/>
                <a:latin typeface="Calibri"/>
              </a:rPr>
              <a:t>貪婪基準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4928616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1C7293"/>
                </a:solidFill>
                <a:latin typeface="微軟正黑體"/>
                <a:ea typeface="微軟正黑體"/>
                <a:latin typeface="Calibri"/>
              </a:rPr>
              <a:t>215.6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89520" y="5678424"/>
            <a:ext cx="4389120" cy="713232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26679" y="5733288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B7D"/>
                </a:solidFill>
                <a:latin typeface="微軟正黑體"/>
                <a:ea typeface="微軟正黑體"/>
                <a:latin typeface="Calibri"/>
              </a:rPr>
              <a:t>最優性差距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573328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02C39A"/>
                </a:solidFill>
                <a:latin typeface="微軟正黑體"/>
                <a:ea typeface="微軟正黑體"/>
                <a:latin typeface="Calibri"/>
              </a:rPr>
              <a:t>0.0 %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89520" y="6492240"/>
            <a:ext cx="4389120" cy="2743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26679" y="6519672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A3A"/>
                </a:solidFill>
                <a:latin typeface="微軟正黑體"/>
                <a:ea typeface="微軟正黑體"/>
                <a:latin typeface="Calibri"/>
              </a:rPr>
              <a:t>✔ 數學保證：此解即全域最優解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E8B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2A3A"/>
                </a:solidFill>
                <a:latin typeface="微軟正黑體"/>
                <a:ea typeface="微軟正黑體"/>
                <a:latin typeface="Calibri"/>
              </a:rPr>
              <a:t>⭐ 實機示範：自動排班引擎輸出（今日執行，明日 2026-06-16）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04672"/>
            <a:ext cx="2788920" cy="1234440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引擎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24712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8B04B"/>
                </a:solidFill>
                <a:latin typeface="微軟正黑體"/>
                <a:ea typeface="微軟正黑體"/>
                <a:latin typeface="Calibri"/>
              </a:rPr>
              <a:t>MILP</a:t>
            </a:r>
          </a:p>
        </p:txBody>
      </p:sp>
      <p:sp>
        <p:nvSpPr>
          <p:cNvPr id="7" name="Rectangle 6"/>
          <p:cNvSpPr/>
          <p:nvPr/>
        </p:nvSpPr>
        <p:spPr>
          <a:xfrm>
            <a:off x="3246120" y="804672"/>
            <a:ext cx="2788920" cy="1234440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89611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最優性差距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1124712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2C39A"/>
                </a:solidFill>
                <a:latin typeface="微軟正黑體"/>
                <a:ea typeface="微軟正黑體"/>
                <a:latin typeface="Calibri"/>
              </a:rPr>
              <a:t>0.0%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804672"/>
            <a:ext cx="2788920" cy="1234440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89611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明日惡劣機率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124712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06B4B"/>
                </a:solidFill>
                <a:latin typeface="微軟正黑體"/>
                <a:ea typeface="微軟正黑體"/>
                <a:latin typeface="Calibri"/>
              </a:rPr>
              <a:t>59.2%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89720" y="804672"/>
            <a:ext cx="2788920" cy="1234440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0" y="89611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外海員額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1160" y="1124712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C7293"/>
                </a:solidFill>
                <a:latin typeface="微軟正黑體"/>
                <a:ea typeface="微軟正黑體"/>
                <a:latin typeface="Calibri"/>
              </a:rPr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148840"/>
            <a:ext cx="11612880" cy="384048"/>
          </a:xfrm>
          <a:prstGeom prst="rect">
            <a:avLst/>
          </a:prstGeom>
          <a:solidFill>
            <a:srgbClr val="1D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176272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海域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176272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人員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2176272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船艦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2176272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疲勞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2176272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外海暴露%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2176272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決策理由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578608"/>
            <a:ext cx="11612880" cy="457200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263347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6B4B"/>
                </a:solidFill>
                <a:latin typeface="微軟正黑體"/>
                <a:ea typeface="微軟正黑體"/>
                <a:latin typeface="Calibri"/>
              </a:rPr>
              <a:t>外海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2633472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Employee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263347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MAR-008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263347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17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263347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11.1%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2633472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低疲勞且外海暴露低，適合輪派外海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054096"/>
            <a:ext cx="11612880" cy="457200"/>
          </a:xfrm>
          <a:prstGeom prst="rect">
            <a:avLst/>
          </a:prstGeom>
          <a:solidFill>
            <a:srgbClr val="183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310896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7293"/>
                </a:solidFill>
                <a:latin typeface="微軟正黑體"/>
                <a:ea typeface="微軟正黑體"/>
                <a:latin typeface="Calibri"/>
              </a:rPr>
              <a:t>近海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310896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林佳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310896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MAR-003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60" y="310896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17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40" y="310896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29.4%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310896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疲勞適中，配置近海任務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3529584"/>
            <a:ext cx="11612880" cy="457200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" y="358444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7293"/>
                </a:solidFill>
                <a:latin typeface="微軟正黑體"/>
                <a:ea typeface="微軟正黑體"/>
                <a:latin typeface="Calibri"/>
              </a:rPr>
              <a:t>近海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3584448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黃峻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0" y="358444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MAR-004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37760" y="358444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17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35040" y="358444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35.3%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0" y="3584448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疲勞適中，配置近海任務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4005072"/>
            <a:ext cx="11612880" cy="457200"/>
          </a:xfrm>
          <a:prstGeom prst="rect">
            <a:avLst/>
          </a:prstGeom>
          <a:solidFill>
            <a:srgbClr val="183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0040" y="405993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7293"/>
                </a:solidFill>
                <a:latin typeface="微軟正黑體"/>
                <a:ea typeface="微軟正黑體"/>
                <a:latin typeface="Calibri"/>
              </a:rPr>
              <a:t>近海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71600" y="4059936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Admin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00400" y="405993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MAR-005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37760" y="405993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20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35040" y="4059936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30.0%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0" y="4059936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疲勞適中，配置近海任務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4480560"/>
            <a:ext cx="11612880" cy="457200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0040" y="453542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2C39A"/>
                </a:solidFill>
                <a:latin typeface="微軟正黑體"/>
                <a:ea typeface="微軟正黑體"/>
                <a:latin typeface="Calibri"/>
              </a:rPr>
              <a:t>港口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371600" y="4535424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陳偉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00400" y="453542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MAR-001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937760" y="453542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26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35040" y="453542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11.1%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5200" y="4535424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配置港口值守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4320" y="4956048"/>
            <a:ext cx="11612880" cy="457200"/>
          </a:xfrm>
          <a:prstGeom prst="rect">
            <a:avLst/>
          </a:prstGeom>
          <a:solidFill>
            <a:srgbClr val="183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20040" y="501091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2C39A"/>
                </a:solidFill>
                <a:latin typeface="微軟正黑體"/>
                <a:ea typeface="微軟正黑體"/>
                <a:latin typeface="Calibri"/>
              </a:rPr>
              <a:t>港口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371600" y="5010912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孫芳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00400" y="501091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MAR-002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937760" y="501091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27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035040" y="501091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30.8%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15200" y="5010912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配置港口值守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" y="6492240"/>
            <a:ext cx="5577840" cy="292608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11480" y="6519672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6B4B"/>
                </a:solidFill>
                <a:latin typeface="微軟正黑體"/>
                <a:ea typeface="微軟正黑體"/>
                <a:latin typeface="Calibri"/>
              </a:rPr>
              <a:t>建議輪休：鄭宇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943600" y="6492240"/>
            <a:ext cx="5943600" cy="292608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080760" y="6519672"/>
            <a:ext cx="566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B04B"/>
                </a:solidFill>
                <a:latin typeface="微軟正黑體"/>
                <a:ea typeface="微軟正黑體"/>
                <a:latin typeface="Calibri"/>
              </a:rPr>
              <a:t>需維護（已排除）：無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D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E8B04B"/>
                </a:solidFill>
                <a:latin typeface="微軟正黑體"/>
                <a:ea typeface="微軟正黑體"/>
                <a:latin typeface="Calibri"/>
              </a:rPr>
              <a:t>§4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749039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資料設計 &amp; 模擬管線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09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C7293"/>
                </a:solidFill>
                <a:latin typeface="Calibri"/>
                <a:ea typeface="Calibri"/>
                <a:latin typeface="Calibri"/>
              </a:rPr>
              <a:t>Schema + AR(1) Time-Correlated Simulation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5303520"/>
            <a:ext cx="3657600" cy="36576"/>
          </a:xfrm>
          <a:prstGeom prst="rect">
            <a:avLst/>
          </a:prstGeom>
          <a:solidFill>
            <a:srgbClr val="E8B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D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資料設計 ─ 四張資料表 + AR(1) 時序自相關模擬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77240"/>
            <a:ext cx="5029200" cy="3474720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841248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B04B"/>
                </a:solidFill>
                <a:latin typeface="微軟正黑體"/>
                <a:ea typeface="微軟正黑體"/>
                <a:latin typeface="Calibri"/>
              </a:rPr>
              <a:t>attendance 表（核心）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DE4"/>
                </a:solidFill>
                <a:latin typeface="Courier New"/>
                <a:ea typeface="Courier New"/>
                <a:latin typeface="Calibri"/>
              </a:rPr>
              <a:t>att_id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2344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B0D0"/>
                </a:solidFill>
                <a:latin typeface="微軟正黑體"/>
                <a:ea typeface="微軟正黑體"/>
                <a:latin typeface="Calibri"/>
              </a:rPr>
              <a:t>INT PK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23444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流水號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56362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DE4"/>
                </a:solidFill>
                <a:latin typeface="Courier New"/>
                <a:ea typeface="Courier New"/>
                <a:latin typeface="Calibri"/>
              </a:rPr>
              <a:t>user_id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56362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B0D0"/>
                </a:solidFill>
                <a:latin typeface="微軟正黑體"/>
                <a:ea typeface="微軟正黑體"/>
                <a:latin typeface="Calibri"/>
              </a:rPr>
              <a:t>INT FK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1563624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值班人員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8928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DE4"/>
                </a:solidFill>
                <a:latin typeface="Courier New"/>
                <a:ea typeface="Courier New"/>
                <a:latin typeface="Calibri"/>
              </a:rPr>
              <a:t>work_date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18928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B0D0"/>
                </a:solidFill>
                <a:latin typeface="微軟正黑體"/>
                <a:ea typeface="微軟正黑體"/>
                <a:latin typeface="Calibri"/>
              </a:rPr>
              <a:t>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1892808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值班日期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22219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DE4"/>
                </a:solidFill>
                <a:latin typeface="Courier New"/>
                <a:ea typeface="Courier New"/>
                <a:latin typeface="Calibri"/>
              </a:rPr>
              <a:t>check_in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22219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B0D0"/>
                </a:solidFill>
                <a:latin typeface="微軟正黑體"/>
                <a:ea typeface="微軟正黑體"/>
                <a:latin typeface="Calibri"/>
              </a:rPr>
              <a:t>DATETIME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2221992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上勤（07–09h）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255117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DE4"/>
                </a:solidFill>
                <a:latin typeface="Courier New"/>
                <a:ea typeface="Courier New"/>
                <a:latin typeface="Calibri"/>
              </a:rPr>
              <a:t>check_out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255117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B0D0"/>
                </a:solidFill>
                <a:latin typeface="微軟正黑體"/>
                <a:ea typeface="微軟正黑體"/>
                <a:latin typeface="Calibri"/>
              </a:rPr>
              <a:t>DATETIME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2551176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下勤（依海況調整）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2880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2C39A"/>
                </a:solidFill>
                <a:latin typeface="Courier New"/>
                <a:ea typeface="Courier New"/>
                <a:latin typeface="Calibri"/>
              </a:rPr>
              <a:t>duty_zone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2880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B0D0"/>
                </a:solidFill>
                <a:latin typeface="微軟正黑體"/>
                <a:ea typeface="微軟正黑體"/>
                <a:latin typeface="Calibri"/>
              </a:rPr>
              <a:t>ENUM ← 本學期新增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288036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港口/近海/外海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320954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2C39A"/>
                </a:solidFill>
                <a:latin typeface="Courier New"/>
                <a:ea typeface="Courier New"/>
                <a:latin typeface="Calibri"/>
              </a:rPr>
              <a:t>sea_state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320954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B0D0"/>
                </a:solidFill>
                <a:latin typeface="微軟正黑體"/>
                <a:ea typeface="微軟正黑體"/>
                <a:latin typeface="Calibri"/>
              </a:rPr>
              <a:t>ENUM ← 本學期新增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39" y="3209544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平靜/輕浪/中浪/大浪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353872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2C39A"/>
                </a:solidFill>
                <a:latin typeface="Courier New"/>
                <a:ea typeface="Courier New"/>
                <a:latin typeface="Calibri"/>
              </a:rPr>
              <a:t>vessel_id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20" y="353872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B0D0"/>
                </a:solidFill>
                <a:latin typeface="微軟正黑體"/>
                <a:ea typeface="微軟正黑體"/>
                <a:latin typeface="Calibri"/>
              </a:rPr>
              <a:t>VARCHAR ← 本學期新增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039" y="3538728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MAR-001 ~ MAR-008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343400"/>
            <a:ext cx="5029200" cy="2377440"/>
          </a:xfrm>
          <a:prstGeom prst="rect">
            <a:avLst/>
          </a:prstGeom>
          <a:solidFill>
            <a:srgbClr val="1D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441655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B04B"/>
                </a:solidFill>
                <a:latin typeface="微軟正黑體"/>
                <a:ea typeface="微軟正黑體"/>
                <a:latin typeface="Calibri"/>
              </a:rPr>
              <a:t>AR(1) 日際自相關海象模型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48006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B04B"/>
                </a:solidFill>
                <a:latin typeface="Courier New"/>
                <a:ea typeface="Courier New"/>
                <a:latin typeface="Calibri"/>
              </a:rPr>
              <a:t>z_t = φ·z_{t-1} + ε_t，φ = 0.72，ε ~ N(0, 0.65²)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510235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weight_k ∝ base_k × exp(TILT × z_t × (rank_k − 2.5))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5404104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5705856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2C39A"/>
                </a:solidFill>
                <a:latin typeface="微軟正黑體"/>
                <a:ea typeface="微軟正黑體"/>
                <a:latin typeface="Calibri"/>
              </a:rPr>
              <a:t>→ 海況具「多日天氣系統」持續性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600760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2C39A"/>
                </a:solidFill>
                <a:latin typeface="微軟正黑體"/>
                <a:ea typeface="微軟正黑體"/>
                <a:latin typeface="Calibri"/>
              </a:rPr>
              <a:t>→ Markov / ML 模型有可學習的時序訊號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3093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2C39A"/>
                </a:solidFill>
                <a:latin typeface="微軟正黑體"/>
                <a:ea typeface="微軟正黑體"/>
                <a:latin typeface="Calibri"/>
              </a:rPr>
              <a:t>→ 無 AR(1)：模型預測等同隨機猜測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77840" y="777240"/>
            <a:ext cx="6309360" cy="2011680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15000" y="841248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B04B"/>
                </a:solidFill>
                <a:latin typeface="微軟正黑體"/>
                <a:ea typeface="微軟正黑體"/>
                <a:latin typeface="Calibri"/>
              </a:rPr>
              <a:t>其他資料表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15000" y="126187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C39A"/>
                </a:solidFill>
                <a:latin typeface="Courier New"/>
                <a:ea typeface="Courier New"/>
                <a:latin typeface="Calibri"/>
              </a:rPr>
              <a:t>users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1261872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B04B"/>
                </a:solidFill>
                <a:latin typeface="微軟正黑體"/>
                <a:ea typeface="微軟正黑體"/>
                <a:latin typeface="Calibri"/>
              </a:rPr>
              <a:t>13 筆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15000" y="1581912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老闆/管理員/員工三層級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15000" y="1792224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C39A"/>
                </a:solidFill>
                <a:latin typeface="Courier New"/>
                <a:ea typeface="Courier New"/>
                <a:latin typeface="Calibri"/>
              </a:rPr>
              <a:t>leaves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0" y="179222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B04B"/>
                </a:solidFill>
                <a:latin typeface="微軟正黑體"/>
                <a:ea typeface="微軟正黑體"/>
                <a:latin typeface="Calibri"/>
              </a:rPr>
              <a:t>60 筆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15000" y="2112264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請假申請・核准/拒絕/待審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15000" y="2322576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C39A"/>
                </a:solidFill>
                <a:latin typeface="Courier New"/>
                <a:ea typeface="Courier New"/>
                <a:latin typeface="Calibri"/>
              </a:rPr>
              <a:t>sea_observations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0" y="2322576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B04B"/>
                </a:solidFill>
                <a:latin typeface="微軟正黑體"/>
                <a:ea typeface="微軟正黑體"/>
                <a:latin typeface="Calibri"/>
              </a:rPr>
              <a:t>736 筆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15000" y="2642616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CWA 浮標觀測（無金鑰自動季節性模擬）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577840" y="2880360"/>
            <a:ext cx="6309360" cy="3840480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715000" y="2944368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B04B"/>
                </a:solidFill>
                <a:latin typeface="微軟正黑體"/>
                <a:ea typeface="微軟正黑體"/>
                <a:latin typeface="Calibri"/>
              </a:rPr>
              <a:t>海域 × 海況機率矩陣（模擬設計）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715000" y="3337560"/>
            <a:ext cx="1371600" cy="329184"/>
          </a:xfrm>
          <a:prstGeom prst="rect">
            <a:avLst/>
          </a:prstGeom>
          <a:solidFill>
            <a:srgbClr val="1D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788152" y="3364992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海況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132320" y="3337560"/>
            <a:ext cx="1371600" cy="329184"/>
          </a:xfrm>
          <a:prstGeom prst="rect">
            <a:avLst/>
          </a:prstGeom>
          <a:solidFill>
            <a:srgbClr val="1D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05472" y="3364992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港口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549640" y="3337560"/>
            <a:ext cx="1371600" cy="329184"/>
          </a:xfrm>
          <a:prstGeom prst="rect">
            <a:avLst/>
          </a:prstGeom>
          <a:solidFill>
            <a:srgbClr val="1D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22792" y="3364992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近海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966960" y="3337560"/>
            <a:ext cx="1371600" cy="329184"/>
          </a:xfrm>
          <a:prstGeom prst="rect">
            <a:avLst/>
          </a:prstGeom>
          <a:solidFill>
            <a:srgbClr val="1D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040112" y="3364992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外海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788152" y="3776472"/>
            <a:ext cx="1234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平靜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205472" y="3776472"/>
            <a:ext cx="1234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70%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22792" y="3776472"/>
            <a:ext cx="1234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40%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040112" y="3776472"/>
            <a:ext cx="1234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15%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788152" y="4343400"/>
            <a:ext cx="1234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輕浪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205472" y="4343400"/>
            <a:ext cx="1234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25%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622792" y="4343400"/>
            <a:ext cx="1234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35%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040112" y="4343400"/>
            <a:ext cx="1234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30%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788152" y="4910328"/>
            <a:ext cx="1234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中浪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205472" y="4910328"/>
            <a:ext cx="1234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4%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622792" y="4910328"/>
            <a:ext cx="1234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20%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040112" y="4910328"/>
            <a:ext cx="1234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35%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788152" y="5477256"/>
            <a:ext cx="1234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大浪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205472" y="5477256"/>
            <a:ext cx="1234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1%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622792" y="5477256"/>
            <a:ext cx="1234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5%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040112" y="5477256"/>
            <a:ext cx="1234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06B4B"/>
                </a:solidFill>
                <a:latin typeface="微軟正黑體"/>
                <a:ea typeface="微軟正黑體"/>
                <a:latin typeface="Calibri"/>
              </a:rPr>
              <a:t>20%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715000" y="603504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2C39A"/>
                </a:solidFill>
                <a:latin typeface="微軟正黑體"/>
                <a:ea typeface="微軟正黑體"/>
                <a:latin typeface="Calibri"/>
              </a:rPr>
              <a:t>大浪天提前下勤 100 分鐘（工時縮減）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D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E8B04B"/>
                </a:solidFill>
                <a:latin typeface="微軟正黑體"/>
                <a:ea typeface="微軟正黑體"/>
                <a:latin typeface="Calibri"/>
              </a:rPr>
              <a:t>§5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749039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統計分析・ML・預測（25 張圖表）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09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C7293"/>
                </a:solidFill>
                <a:latin typeface="Calibri"/>
                <a:ea typeface="Calibri"/>
                <a:latin typeface="Calibri"/>
              </a:rPr>
              <a:t>Statistics · Machine Learning · Prediction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5303520"/>
            <a:ext cx="3657600" cy="36576"/>
          </a:xfrm>
          <a:prstGeom prst="rect">
            <a:avLst/>
          </a:prstGeom>
          <a:solidFill>
            <a:srgbClr val="E8B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D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統計嚴謹性 ─ ANOVA・卡方・OLS 迴歸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840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所有數值為系統實際執行輸出（1,200 筆，今日動態生成）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04672"/>
            <a:ext cx="2743200" cy="3108960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89611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單因子 ANOVA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258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E8B04B"/>
                </a:solidFill>
                <a:latin typeface="微軟正黑體"/>
                <a:ea typeface="微軟正黑體"/>
                <a:latin typeface="Calibri"/>
              </a:rPr>
              <a:t>F = 181.433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286000"/>
            <a:ext cx="2560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p &lt; 0.0001
拒絕 H₀：海況顯著影響工時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804672"/>
            <a:ext cx="2743200" cy="3108960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89611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卡方獨立性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3258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C7293"/>
                </a:solidFill>
                <a:latin typeface="微軟正黑體"/>
                <a:ea typeface="微軟正黑體"/>
                <a:latin typeface="Calibri"/>
              </a:rPr>
              <a:t>χ² = 349.634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286000"/>
            <a:ext cx="2560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df=6，p &lt; 0.0001
海域與海況有顯著關聯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804672"/>
            <a:ext cx="2743200" cy="3108960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89611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OLS 多元迴歸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3258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2C39A"/>
                </a:solidFill>
                <a:latin typeface="微軟正黑體"/>
                <a:ea typeface="微軟正黑體"/>
                <a:latin typeface="Calibri"/>
              </a:rPr>
              <a:t>R² = 0.784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286000"/>
            <a:ext cx="2560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4 特徵解釋 78.4% 工時變異
主因：上工時刻 β=−0.569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89720" y="804672"/>
            <a:ext cx="2743200" cy="3108960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89611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Gini 公平性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13258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E06B4B"/>
                </a:solidFill>
                <a:latin typeface="微軟正黑體"/>
                <a:ea typeface="微軟正黑體"/>
                <a:latin typeface="Calibri"/>
              </a:rPr>
              <a:t>0.042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2286000"/>
            <a:ext cx="2560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近乎完全均等分配
Lorenz 曲線緊貼對角線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977639"/>
            <a:ext cx="11612880" cy="2514600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04164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B04B"/>
                </a:solidFill>
                <a:latin typeface="微軟正黑體"/>
                <a:ea typeface="微軟正黑體"/>
                <a:latin typeface="Calibri"/>
              </a:rPr>
              <a:t>⚡ 統計意涵解釋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48056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• ANOVA（F=181.433）：大浪天值勤時數較平靜天短約 1.5 小時，這不是巧合，是統計顯著的系統性效應。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13892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• 卡方（χ²=349.634）：外海大浪比例 20% vs 港口 1%，海域分配對人員風險暴露有極顯著影響——排班引擎據此縮減外海員額。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797296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• OLS（R²=0.784）：工時受海況/海域/星期/打卡時刻四因子共同決定，解釋力 78.4%，遠高於單維度模型。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D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OLS 多元線性迴歸 ─ 工時驅動因子（R² = 0.784）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840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標準化係數：上工時刻越晚、工時越短；大浪天工時顯著縮減</a:t>
            </a:r>
          </a:p>
        </p:txBody>
      </p:sp>
      <p:pic>
        <p:nvPicPr>
          <p:cNvPr id="5" name="Picture 4" descr="regression_coe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49808"/>
            <a:ext cx="7132320" cy="397020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589520" y="749808"/>
            <a:ext cx="4389120" cy="5852160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26680" y="859536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B04B"/>
                </a:solidFill>
                <a:latin typeface="微軟正黑體"/>
                <a:ea typeface="微軟正黑體"/>
                <a:latin typeface="Calibri"/>
              </a:rPr>
              <a:t>係數解讀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80" y="118872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標準化係數 β 可直接比較相對重要性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80" y="146304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上工時刻：β = −0.569（最強負向影響）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80" y="173736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      →「晚打卡」反映「提早收班（大浪）」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80" y="201168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海況等級：β = −0.435（第二強）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80" y="228600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      →「大浪 → 提前下勤 100 分鐘」的統計確認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80" y="256032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海域距岸：β ≈ 0（輕微正向）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80" y="283464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星期效應：β = +0.014（幾乎可忽略）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80" y="310896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80" y="338328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R² = 0.784：四特徵解釋 78.4% 工時變異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D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時間序列預測（線性趨勢外推）─ 未來 4 週 + 95% 預測區間</a:t>
            </a:r>
          </a:p>
        </p:txBody>
      </p:sp>
      <p:pic>
        <p:nvPicPr>
          <p:cNvPr id="4" name="Picture 3" descr="forecast_du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49808"/>
            <a:ext cx="8046720" cy="356444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503920" y="749808"/>
            <a:ext cx="3474720" cy="3657600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41080" y="859536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B04B"/>
                </a:solidFill>
                <a:latin typeface="微軟正黑體"/>
                <a:ea typeface="微軟正黑體"/>
                <a:latin typeface="Calibri"/>
              </a:rPr>
              <a:t>線性外推說明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41080" y="118872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方法：numpy.polyfit 一階多項式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1080" y="146304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資料：週彙整值勤量（去除當週不完整）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1080" y="173736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95% 預測區間：殘差標準差 × 1.96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201168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趨勢：大致持平（+0.3 筆/週）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228600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1080" y="256032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此頁為描述性預測，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283464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「帶趨勢修正」版見下頁 Holt 平滑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D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Holt 雙指數平滑預測（純 NumPy 實作）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840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格點搜尋最佳 α / β 參數組合，與線性外推並排對比</a:t>
            </a:r>
          </a:p>
        </p:txBody>
      </p:sp>
      <p:pic>
        <p:nvPicPr>
          <p:cNvPr id="5" name="Picture 4" descr="forecast_ho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49808"/>
            <a:ext cx="8046720" cy="355815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503920" y="749808"/>
            <a:ext cx="3474720" cy="5669280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1080" y="859536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B04B"/>
                </a:solidFill>
                <a:latin typeface="微軟正黑體"/>
                <a:ea typeface="微軟正黑體"/>
                <a:latin typeface="Calibri"/>
              </a:rPr>
              <a:t>Holt 雙指數平滑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1080" y="118872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公式：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1080" y="146304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      L_t = α·y_t + (1-α)(L_{t-1}+T_{t-1})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173736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      T_t = β(L_t-L_{t-1}) + (1-β)T_{t-1}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201168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      ŷ_{t+h} = L_t + h·T_t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1080" y="228600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256032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格點搜尋：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283464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      α ∈ [0.1, 1.0)，步長 0.1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310896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      β ∈ [0.05, 0.55)，步長 0.05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338328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      評估準則：一步預測 SSE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365760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393192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⚠ 注意：Holt 一步 SSE ≠ 線性全期 SSE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420624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（不同統計量，無法直接比較大小）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D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Spearman 等級相關矩陣 ─ 工時與環境因子關聯結構</a:t>
            </a:r>
          </a:p>
        </p:txBody>
      </p:sp>
      <p:pic>
        <p:nvPicPr>
          <p:cNvPr id="4" name="Picture 3" descr="correla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749808"/>
            <a:ext cx="5029200" cy="423016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74320" y="749808"/>
            <a:ext cx="1920240" cy="5852160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85953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B04B"/>
                </a:solidFill>
                <a:latin typeface="微軟正黑體"/>
                <a:ea typeface="微軟正黑體"/>
                <a:latin typeface="Calibri"/>
              </a:rPr>
              <a:t>方法說明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8872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為何用 Spearman？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46304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海況（平靜/輕/中/大）是有序離散變數，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73736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Pearson 相關假設連續正態不適用。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01168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28600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主要發現：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56032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hours ↔ 上工時刻：r ≈ −0.52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83464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→ 最強負相關，打卡晚 = 工時短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10896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hours ↔ sea_rank：r ≈ −0.44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38328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→ 大浪天系統性縮班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65760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sea_rank ↔ zone_rank：r ≈ +0.35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93192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→ 外海海況較惡劣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06640" y="749808"/>
            <a:ext cx="4572000" cy="2286000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43800" y="859536"/>
            <a:ext cx="4297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B04B"/>
                </a:solidFill>
                <a:latin typeface="微軟正黑體"/>
                <a:ea typeface="微軟正黑體"/>
                <a:latin typeface="Calibri"/>
              </a:rPr>
              <a:t>延伸意涵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1188720"/>
            <a:ext cx="4297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duty_zone 與 sea_state 正相關：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1463040"/>
            <a:ext cx="4297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「外海 → 大浪更可能」的數值確認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1737360"/>
            <a:ext cx="4297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2011680"/>
            <a:ext cx="4297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此矩陣同時作為 OLS 特徵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2286000"/>
            <a:ext cx="4297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相關性診斷的視覺支撐。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D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RandomForest 海況預測（scikit-learn）─ AUC = 0.811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840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GridSearchCV + TimeSeriesSplit 5-fold CV，避免時序資料未來洩漏</a:t>
            </a:r>
          </a:p>
        </p:txBody>
      </p:sp>
      <p:pic>
        <p:nvPicPr>
          <p:cNvPr id="5" name="Picture 4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49808"/>
            <a:ext cx="7772400" cy="431375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0" y="749808"/>
            <a:ext cx="3749039" cy="5852160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66760" y="859536"/>
            <a:ext cx="34747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B04B"/>
                </a:solidFill>
                <a:latin typeface="微軟正黑體"/>
                <a:ea typeface="微軟正黑體"/>
                <a:latin typeface="Calibri"/>
              </a:rPr>
              <a:t>ML 設計細節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1188720"/>
            <a:ext cx="34747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目標變數設計：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1463040"/>
            <a:ext cx="34747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mid_share = 當日中浪以上比例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1737360"/>
            <a:ext cx="34747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rough = (mid_share ≥ 0.35)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2011680"/>
            <a:ext cx="34747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正例率 ~25%（vs 原始 4%）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286000"/>
            <a:ext cx="34747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560320"/>
            <a:ext cx="34747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訓練配置：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834640"/>
            <a:ext cx="34747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GridSearchCV（n_est/depth/min_leaf）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108960"/>
            <a:ext cx="34747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class_weight='balanced'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3383280"/>
            <a:ext cx="34747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TimeSeriesSplit(n_splits=5)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657600"/>
            <a:ext cx="34747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931920"/>
            <a:ext cx="34747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實測結果：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4206240"/>
            <a:ext cx="34747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測試集 acc = 0.949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4480560"/>
            <a:ext cx="34747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測試集 AUC = 0.811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4754880"/>
            <a:ext cx="34747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最重要特徵：近 3 日均況 / 今日海況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D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Markov 海況轉移矩陣 ─ 未來 7 天惡劣海況機率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840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純 NumPy 矩陣連乘外推 · 7 天大浪期望機率超過 15% 自動觸發排班預警</a:t>
            </a:r>
          </a:p>
        </p:txBody>
      </p:sp>
      <p:pic>
        <p:nvPicPr>
          <p:cNvPr id="5" name="Picture 4" descr="markov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49808"/>
            <a:ext cx="11612880" cy="412133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686800" y="6126480"/>
            <a:ext cx="3200400" cy="475488"/>
          </a:xfrm>
          <a:prstGeom prst="rect">
            <a:avLst/>
          </a:prstGeom>
          <a:solidFill>
            <a:srgbClr val="E8B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23960" y="6172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A3A"/>
                </a:solidFill>
                <a:latin typeface="微軟正黑體"/>
                <a:ea typeface="微軟正黑體"/>
                <a:latin typeface="Calibri"/>
              </a:rPr>
              <a:t>本次 7 天大浪期望機率：7.1%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D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異常偵測 ─ Z-score vs Isolation Forest 5 維聯合偵測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840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情境型異常：工時正常、但『外海 × 大浪 × 週五下午打卡』組合異常罕見</a:t>
            </a:r>
          </a:p>
        </p:txBody>
      </p:sp>
      <p:pic>
        <p:nvPicPr>
          <p:cNvPr id="5" name="Picture 4" descr="anomaly_isofo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49808"/>
            <a:ext cx="8046720" cy="380333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503920" y="749808"/>
            <a:ext cx="3474720" cy="5852160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1080" y="859536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B04B"/>
                </a:solidFill>
                <a:latin typeface="微軟正黑體"/>
                <a:ea typeface="微軟正黑體"/>
                <a:latin typeface="Calibri"/>
              </a:rPr>
              <a:t>兩種方法比較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1080" y="118872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Z-score（1D 工時偵測）：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1080" y="146304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偵測超出 ±2σ 的工時記錄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173736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本次：56 筆（4.7%）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201168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1080" y="228600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Isolation Forest（5D 聯合）：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256032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維度：工時/海況/海域/打卡時刻/星期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283464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contamination = 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310896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本次：60 筆多維異常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338328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與 Z-score 重疊：31 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365760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393192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→ 其餘 29 筆是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420624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『單維正常、多維異常』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448056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→ Z-score 完全看不到的盲區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475488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→ 這批才是最值得覆核的記錄！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D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E8B04B"/>
                </a:solidFill>
                <a:latin typeface="微軟正黑體"/>
                <a:ea typeface="微軟正黑體"/>
                <a:latin typeface="Calibri"/>
              </a:rPr>
              <a:t>§6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749039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人力資源決策分析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09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C7293"/>
                </a:solidFill>
                <a:latin typeface="Calibri"/>
                <a:ea typeface="Calibri"/>
                <a:latin typeface="Calibri"/>
              </a:rPr>
              <a:t>Fatigue · Fairness · Availability · Radar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5303520"/>
            <a:ext cx="3657600" cy="36576"/>
          </a:xfrm>
          <a:prstGeom prst="rect">
            <a:avLst/>
          </a:prstGeom>
          <a:solidFill>
            <a:srgbClr val="E8B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D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人員疲勞指數 ─ 連續值勤 × 近 7 日工時合成評分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840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疲勞分 ≥ 65 → 高疲勞（紅）；排班引擎自動避開高負荷配置</a:t>
            </a:r>
          </a:p>
        </p:txBody>
      </p:sp>
      <p:pic>
        <p:nvPicPr>
          <p:cNvPr id="5" name="Picture 4" descr="fatig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49808"/>
            <a:ext cx="7772400" cy="453569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0" y="749808"/>
            <a:ext cx="3749039" cy="384048"/>
          </a:xfrm>
          <a:prstGeom prst="rect">
            <a:avLst/>
          </a:prstGeom>
          <a:solidFill>
            <a:srgbClr val="1D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80467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姓名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80467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疲勞分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80467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等級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170432"/>
            <a:ext cx="3749039" cy="585216"/>
          </a:xfrm>
          <a:prstGeom prst="rect">
            <a:avLst/>
          </a:prstGeom>
          <a:solidFill>
            <a:srgbClr val="3D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9327" y="126187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鄭宇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40" y="1216152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06B4B"/>
                </a:solidFill>
                <a:latin typeface="微軟正黑體"/>
                <a:ea typeface="微軟正黑體"/>
                <a:latin typeface="Calibri"/>
              </a:rPr>
              <a:t>75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1307592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6B4B"/>
                </a:solidFill>
                <a:latin typeface="微軟正黑體"/>
                <a:ea typeface="微軟正黑體"/>
                <a:latin typeface="Calibri"/>
              </a:rPr>
              <a:t>high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828800"/>
            <a:ext cx="3749039" cy="585216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7" y="19202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孫芳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0" y="187452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2C39A"/>
                </a:solidFill>
                <a:latin typeface="微軟正黑體"/>
                <a:ea typeface="微軟正黑體"/>
                <a:latin typeface="Calibri"/>
              </a:rPr>
              <a:t>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92840" y="196596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2C39A"/>
                </a:solidFill>
                <a:latin typeface="微軟正黑體"/>
                <a:ea typeface="微軟正黑體"/>
                <a:latin typeface="Calibri"/>
              </a:rPr>
              <a:t>low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2487168"/>
            <a:ext cx="3749039" cy="585216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9327" y="257860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陳偉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40" y="2532888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2C39A"/>
                </a:solidFill>
                <a:latin typeface="微軟正黑體"/>
                <a:ea typeface="微軟正黑體"/>
                <a:latin typeface="Calibri"/>
              </a:rPr>
              <a:t>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2624328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2C39A"/>
                </a:solidFill>
                <a:latin typeface="微軟正黑體"/>
                <a:ea typeface="微軟正黑體"/>
                <a:latin typeface="Calibri"/>
              </a:rPr>
              <a:t>low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3145536"/>
            <a:ext cx="3749039" cy="585216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9327" y="3236976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王明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40" y="3191256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2C39A"/>
                </a:solidFill>
                <a:latin typeface="微軟正黑體"/>
                <a:ea typeface="微軟正黑體"/>
                <a:latin typeface="Calibri"/>
              </a:rPr>
              <a:t>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3282696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2C39A"/>
                </a:solidFill>
                <a:latin typeface="微軟正黑體"/>
                <a:ea typeface="微軟正黑體"/>
                <a:latin typeface="Calibri"/>
              </a:rPr>
              <a:t>low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3803904"/>
            <a:ext cx="3749039" cy="585216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9327" y="3895344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張宏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40" y="3849624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2C39A"/>
                </a:solidFill>
                <a:latin typeface="微軟正黑體"/>
                <a:ea typeface="微軟正黑體"/>
                <a:latin typeface="Calibri"/>
              </a:rPr>
              <a:t>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3941064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2C39A"/>
                </a:solidFill>
                <a:latin typeface="微軟正黑體"/>
                <a:ea typeface="微軟正黑體"/>
                <a:latin typeface="Calibri"/>
              </a:rPr>
              <a:t>low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4462272"/>
            <a:ext cx="3749039" cy="585216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9327" y="455371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劉燕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49840" y="4507992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2C39A"/>
                </a:solidFill>
                <a:latin typeface="微軟正黑體"/>
                <a:ea typeface="微軟正黑體"/>
                <a:latin typeface="Calibri"/>
              </a:rPr>
              <a:t>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4599432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2C39A"/>
                </a:solidFill>
                <a:latin typeface="微軟正黑體"/>
                <a:ea typeface="微軟正黑體"/>
                <a:latin typeface="Calibri"/>
              </a:rPr>
              <a:t>low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0" y="5120640"/>
            <a:ext cx="3749039" cy="1645920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66760" y="5230368"/>
            <a:ext cx="34747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B04B"/>
                </a:solidFill>
                <a:latin typeface="微軟正黑體"/>
                <a:ea typeface="微軟正黑體"/>
                <a:latin typeface="Calibri"/>
              </a:rPr>
              <a:t>計算方式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5559552"/>
            <a:ext cx="34747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疲勞指數公式：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66760" y="5833872"/>
            <a:ext cx="34747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      連續值勤天數貢獻 60%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60" y="6108192"/>
            <a:ext cx="34747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      近 7 日累計工時貢獻 40%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66760" y="6382512"/>
            <a:ext cx="34747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      合成為 0–100 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66760" y="6656832"/>
            <a:ext cx="34747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66760" y="6931152"/>
            <a:ext cx="34747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分級：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66760" y="7205472"/>
            <a:ext cx="34747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      low  &lt; 40（綠）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66760" y="7479792"/>
            <a:ext cx="34747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      mid  40–65（橘）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66760" y="7754112"/>
            <a:ext cx="34747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      high ≥ 65（紅）→ 建議輪休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D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工時公平性 ─ Lorenz 曲線 &amp; Gini = 0.042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840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Gini 係數移植自經濟學，量化海勤人力工時分配的均等程度</a:t>
            </a:r>
          </a:p>
        </p:txBody>
      </p:sp>
      <p:pic>
        <p:nvPicPr>
          <p:cNvPr id="5" name="Picture 4" descr="fairness_loren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49808"/>
            <a:ext cx="6858000" cy="58716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0" y="749808"/>
            <a:ext cx="4663440" cy="5943600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52360" y="859536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B04B"/>
                </a:solidFill>
                <a:latin typeface="微軟正黑體"/>
                <a:ea typeface="微軟正黑體"/>
                <a:latin typeface="Calibri"/>
              </a:rPr>
              <a:t>Lorenz / Gini 說明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1188720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Gini = 0.042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1463040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（0 = 完全平均，1 = 極度集中）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1737360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2011680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曲線緊貼對角線 → 高度均等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2286000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無任何人員工時異常集中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2560320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2834640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系統同時標記：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3108960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過勞：工時 ≥ 中位數 × 1.3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3383280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閒置：工時 ≤ 中位數 × 0.7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3657600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3931920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本次結果：無人員達過勞或閒置門檻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4206240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→ 輪班制度執行均勻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4480560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4754880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此維度純海象視覺化系統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5029200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完全無法產出（無人員資料）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D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船艦可用性 ─ 維護里程推估 &amp; 排班自動排除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840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累計趟次 mod MAINT_INTERVAL=45 → 可用度百分比；&lt; 30% 標記「需維護」</a:t>
            </a:r>
          </a:p>
        </p:txBody>
      </p:sp>
      <p:pic>
        <p:nvPicPr>
          <p:cNvPr id="5" name="Picture 4" descr="vessel_avail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49808"/>
            <a:ext cx="7772400" cy="426839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0" y="749808"/>
            <a:ext cx="3749039" cy="384048"/>
          </a:xfrm>
          <a:prstGeom prst="rect">
            <a:avLst/>
          </a:prstGeom>
          <a:solidFill>
            <a:srgbClr val="1D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8046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船艦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8046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可用度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8046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狀態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170432"/>
            <a:ext cx="3749039" cy="566928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9327" y="1261872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4EDE4"/>
                </a:solidFill>
                <a:latin typeface="Courier New"/>
                <a:ea typeface="Courier New"/>
                <a:latin typeface="Calibri"/>
              </a:rPr>
              <a:t>MAR-007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38360" y="121615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2C39A"/>
                </a:solidFill>
                <a:latin typeface="微軟正黑體"/>
                <a:ea typeface="微軟正黑體"/>
                <a:latin typeface="Calibri"/>
              </a:rPr>
              <a:t>18%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1280160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2C39A"/>
                </a:solidFill>
                <a:latin typeface="微軟正黑體"/>
                <a:ea typeface="微軟正黑體"/>
                <a:latin typeface="Calibri"/>
              </a:rPr>
              <a:t>可用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810512"/>
            <a:ext cx="3749039" cy="566928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7" y="1901952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4EDE4"/>
                </a:solidFill>
                <a:latin typeface="Courier New"/>
                <a:ea typeface="Courier New"/>
                <a:latin typeface="Calibri"/>
              </a:rPr>
              <a:t>MAR-001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38360" y="185623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2C39A"/>
                </a:solidFill>
                <a:latin typeface="微軟正黑體"/>
                <a:ea typeface="微軟正黑體"/>
                <a:latin typeface="Calibri"/>
              </a:rPr>
              <a:t>29%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1920240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2C39A"/>
                </a:solidFill>
                <a:latin typeface="微軟正黑體"/>
                <a:ea typeface="微軟正黑體"/>
                <a:latin typeface="Calibri"/>
              </a:rPr>
              <a:t>可用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2450591"/>
            <a:ext cx="3749039" cy="566928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9327" y="2542031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4EDE4"/>
                </a:solidFill>
                <a:latin typeface="Courier New"/>
                <a:ea typeface="Courier New"/>
                <a:latin typeface="Calibri"/>
              </a:rPr>
              <a:t>MAR-003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60" y="2496311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2C39A"/>
                </a:solidFill>
                <a:latin typeface="微軟正黑體"/>
                <a:ea typeface="微軟正黑體"/>
                <a:latin typeface="Calibri"/>
              </a:rPr>
              <a:t>36%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2560319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2C39A"/>
                </a:solidFill>
                <a:latin typeface="微軟正黑體"/>
                <a:ea typeface="微軟正黑體"/>
                <a:latin typeface="Calibri"/>
              </a:rPr>
              <a:t>可用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3090672"/>
            <a:ext cx="3749039" cy="566928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9327" y="3182112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4EDE4"/>
                </a:solidFill>
                <a:latin typeface="Courier New"/>
                <a:ea typeface="Courier New"/>
                <a:latin typeface="Calibri"/>
              </a:rPr>
              <a:t>MAR-002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38360" y="313639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2C39A"/>
                </a:solidFill>
                <a:latin typeface="微軟正黑體"/>
                <a:ea typeface="微軟正黑體"/>
                <a:latin typeface="Calibri"/>
              </a:rPr>
              <a:t>58%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3200400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2C39A"/>
                </a:solidFill>
                <a:latin typeface="微軟正黑體"/>
                <a:ea typeface="微軟正黑體"/>
                <a:latin typeface="Calibri"/>
              </a:rPr>
              <a:t>可用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3730752"/>
            <a:ext cx="3749039" cy="566928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9327" y="3822192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4EDE4"/>
                </a:solidFill>
                <a:latin typeface="Courier New"/>
                <a:ea typeface="Courier New"/>
                <a:latin typeface="Calibri"/>
              </a:rPr>
              <a:t>MAR-006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38360" y="377647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2C39A"/>
                </a:solidFill>
                <a:latin typeface="微軟正黑體"/>
                <a:ea typeface="微軟正黑體"/>
                <a:latin typeface="Calibri"/>
              </a:rPr>
              <a:t>60%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3840480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2C39A"/>
                </a:solidFill>
                <a:latin typeface="微軟正黑體"/>
                <a:ea typeface="微軟正黑體"/>
                <a:latin typeface="Calibri"/>
              </a:rPr>
              <a:t>可用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4370832"/>
            <a:ext cx="3749039" cy="566928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9327" y="4462272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4EDE4"/>
                </a:solidFill>
                <a:latin typeface="Courier New"/>
                <a:ea typeface="Courier New"/>
                <a:latin typeface="Calibri"/>
              </a:rPr>
              <a:t>MAR-008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38360" y="441655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2C39A"/>
                </a:solidFill>
                <a:latin typeface="微軟正黑體"/>
                <a:ea typeface="微軟正黑體"/>
                <a:latin typeface="Calibri"/>
              </a:rPr>
              <a:t>67%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4480560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2C39A"/>
                </a:solidFill>
                <a:latin typeface="微軟正黑體"/>
                <a:ea typeface="微軟正黑體"/>
                <a:latin typeface="Calibri"/>
              </a:rPr>
              <a:t>可用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0" y="5010912"/>
            <a:ext cx="3749039" cy="566928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39327" y="5102352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4EDE4"/>
                </a:solidFill>
                <a:latin typeface="Courier New"/>
                <a:ea typeface="Courier New"/>
                <a:latin typeface="Calibri"/>
              </a:rPr>
              <a:t>MAR-004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8360" y="505663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2C39A"/>
                </a:solidFill>
                <a:latin typeface="微軟正黑體"/>
                <a:ea typeface="微軟正黑體"/>
                <a:latin typeface="Calibri"/>
              </a:rPr>
              <a:t>69%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0" y="5120640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2C39A"/>
                </a:solidFill>
                <a:latin typeface="微軟正黑體"/>
                <a:ea typeface="微軟正黑體"/>
                <a:latin typeface="Calibri"/>
              </a:rPr>
              <a:t>可用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0" y="5650992"/>
            <a:ext cx="3749039" cy="566928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39327" y="5742432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4EDE4"/>
                </a:solidFill>
                <a:latin typeface="Courier New"/>
                <a:ea typeface="Courier New"/>
                <a:latin typeface="Calibri"/>
              </a:rPr>
              <a:t>MAR-005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38360" y="569671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2C39A"/>
                </a:solidFill>
                <a:latin typeface="微軟正黑體"/>
                <a:ea typeface="微軟正黑體"/>
                <a:latin typeface="Calibri"/>
              </a:rPr>
              <a:t>98%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55680" y="5760720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2C39A"/>
                </a:solidFill>
                <a:latin typeface="微軟正黑體"/>
                <a:ea typeface="微軟正黑體"/>
                <a:latin typeface="Calibri"/>
              </a:rPr>
              <a:t>可用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29600" y="6217920"/>
            <a:ext cx="3749039" cy="47548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39327" y="62636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A3A"/>
                </a:solidFill>
                <a:latin typeface="微軟正黑體"/>
                <a:ea typeface="微軟正黑體"/>
                <a:latin typeface="Calibri"/>
              </a:rPr>
              <a:t>本次：所有船艦可用，無需維護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D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人員 5 維能力雷達圖 ─ 辨識核心特性、輔助精準調度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840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5 維：出勤次數 · 總工時 · 平均工時 · 外海暴露率 · 大浪暴露率（最大值歸一化）</a:t>
            </a:r>
          </a:p>
        </p:txBody>
      </p:sp>
      <p:pic>
        <p:nvPicPr>
          <p:cNvPr id="5" name="Picture 4" descr="crew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49808"/>
            <a:ext cx="7315200" cy="627017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772400" y="749808"/>
            <a:ext cx="4206240" cy="5943600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09560" y="859536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B04B"/>
                </a:solidFill>
                <a:latin typeface="微軟正黑體"/>
                <a:ea typeface="微軟正黑體"/>
                <a:latin typeface="Calibri"/>
              </a:rPr>
              <a:t>應用說明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1188720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雷達圖如何輔助排班？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1463040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1737360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外海暴露率高 + 大浪暴露高：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2011680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      → 優先換至近海/港口輪換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2286000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外海暴露率低 + 疲勞低：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2560320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      → 外海指派的最佳候選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2834640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總工時明顯高於均值：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3108960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      → 潛在過勞，建議輪休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3383280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3657600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雷達圖補足 Lorenz 曲線的不足：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3931920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Lorenz 只看整體分配，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4206240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雷達圖能呈現個人多維特性。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4480560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60" y="4754880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與 K-means 分群圖結合：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60" y="5029200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      → 三種人員型態立刻可見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D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E8B04B"/>
                </a:solidFill>
                <a:latin typeface="微軟正黑體"/>
                <a:ea typeface="微軟正黑體"/>
                <a:latin typeface="Calibri"/>
              </a:rPr>
              <a:t>§7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749039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互動介面 ─ Gradio &amp; Folium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09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C7293"/>
                </a:solidFill>
                <a:latin typeface="Calibri"/>
                <a:ea typeface="Calibri"/>
                <a:latin typeface="Calibri"/>
              </a:rPr>
              <a:t>Interactive Dashboard · Real-time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5303520"/>
            <a:ext cx="3657600" cy="36576"/>
          </a:xfrm>
          <a:prstGeom prst="rect">
            <a:avLst/>
          </a:prstGeom>
          <a:solidFill>
            <a:srgbClr val="E8B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D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Gradio 互動分析儀表板（:7860）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840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篩選條件 → 執行分析 → 即時重跑 25 張圖表 &amp; 更新班表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04672"/>
            <a:ext cx="5623560" cy="1207008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804672"/>
            <a:ext cx="164592" cy="1207008"/>
          </a:xfrm>
          <a:prstGeom prst="rect">
            <a:avLst/>
          </a:prstGeom>
          <a:solidFill>
            <a:srgbClr val="E06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89611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勤務決策建議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325879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海況警示 · 海域風險表 · 人員外海暴露 Top 8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804672"/>
            <a:ext cx="5623560" cy="1207008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804672"/>
            <a:ext cx="164592" cy="120700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89611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時序趨勢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1325879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月度趨勢 · 請假走勢 · 週幾出勤（3 張）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112264"/>
            <a:ext cx="5623560" cy="1207008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112264"/>
            <a:ext cx="164592" cy="1207008"/>
          </a:xfrm>
          <a:prstGeom prst="rect">
            <a:avLst/>
          </a:prstGeom>
          <a:solidFill>
            <a:srgbClr val="E8B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2203704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預測與建模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2633471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線性外推 · Holt 平滑 · Spearman · OLS · 特徵重要度（5 張）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2112264"/>
            <a:ext cx="5623560" cy="1207008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2112264"/>
            <a:ext cx="164592" cy="12070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8232" y="2203704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海域×海況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633471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海域分布 · 堆疊圖 · 箱型圖 · 工時熱力圖（4 張）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419856"/>
            <a:ext cx="5623560" cy="1207008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3419856"/>
            <a:ext cx="164592" cy="1207008"/>
          </a:xfrm>
          <a:prstGeom prst="rect">
            <a:avLst/>
          </a:prstGeom>
          <a:solidFill>
            <a:srgbClr val="E8B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3511296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人力資源決策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" y="3941063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疲勞 · Lorenz · 船艦 · 雷達圖 · 分群 · MILP 比較（6 張）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3419856"/>
            <a:ext cx="5623560" cy="1207008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419856"/>
            <a:ext cx="164592" cy="120700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8232" y="3511296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資源調度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8232" y="3941063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船艦次數 · Pareto · 人員月度熱力圖（3 張）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4727448"/>
            <a:ext cx="5623560" cy="1207008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" y="4727448"/>
            <a:ext cx="164592" cy="1207008"/>
          </a:xfrm>
          <a:prstGeom prst="rect">
            <a:avLst/>
          </a:prstGeom>
          <a:solidFill>
            <a:srgbClr val="E06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481888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異常診斷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" y="5248655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Z-score + Isolation Forest 5 維異常（2 張）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5852160"/>
            <a:ext cx="11612880" cy="822960"/>
          </a:xfrm>
          <a:prstGeom prst="rect">
            <a:avLst/>
          </a:prstGeom>
          <a:solidFill>
            <a:srgbClr val="1D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598932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日期區間篩選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95728" y="598932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海域多選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34256" y="598932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船艦動態載入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72784" y="598932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執行分析（重跑全部）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11312" y="598932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filtered_*.png 不覆蓋全覽結果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49840" y="598932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SQL層篩選（不佔記憶體）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D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Folium 互動海域地圖 ─ duty_map.html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840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三海域風險圈 · 8 艘船艦位置 · 4 個 CWA 浮標觀測站（可縮放點擊）</a:t>
            </a:r>
          </a:p>
        </p:txBody>
      </p:sp>
      <p:pic>
        <p:nvPicPr>
          <p:cNvPr id="5" name="Picture 4" descr="zone_map_st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49808"/>
            <a:ext cx="7132320" cy="586903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589520" y="749808"/>
            <a:ext cx="4389120" cy="5029200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26680" y="859536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B04B"/>
                </a:solidFill>
                <a:latin typeface="微軟正黑體"/>
                <a:ea typeface="微軟正黑體"/>
                <a:latin typeface="Calibri"/>
              </a:rPr>
              <a:t>地圖功能說明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80" y="118872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Folium（leaflet.js 封裝）互動功能：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80" y="146304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      縮放/平移/點擊 popup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80" y="173736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      三海域半透明風險圈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80" y="201168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      點擊船艦標記：編號/海域/狀態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80" y="228600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      點擊浮標站：最新波高/海況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80" y="256032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80" y="283464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靜態版（zone_map_static.png）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80" y="310896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      內嵌於 PHP 儀表板，無需 JS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80" y="338328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80" y="365760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▸ HTML 互動版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80" y="393192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      由 analysis.py 輸出至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80" y="420624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      analysis_output/duty_map.html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80" y="448056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      在 PHP 儀表板以 iframe 呈現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D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E8B04B"/>
                </a:solidFill>
                <a:latin typeface="微軟正黑體"/>
                <a:ea typeface="微軟正黑體"/>
                <a:latin typeface="Calibri"/>
              </a:rPr>
              <a:t>§8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749039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GitHub 管理・CI・技術清單・結語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09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C7293"/>
                </a:solidFill>
                <a:latin typeface="Calibri"/>
                <a:ea typeface="Calibri"/>
                <a:latin typeface="Calibri"/>
              </a:rPr>
              <a:t>Version Control · CI · 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5303520"/>
            <a:ext cx="3657600" cy="36576"/>
          </a:xfrm>
          <a:prstGeom prst="rect">
            <a:avLst/>
          </a:prstGeom>
          <a:solidFill>
            <a:srgbClr val="E8B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D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GitHub 管理 &amp; GitHub Actions CI（45 tests 全綠）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7315200" cy="384048"/>
          </a:xfrm>
          <a:prstGeom prst="rect">
            <a:avLst/>
          </a:prstGeom>
          <a:solidFill>
            <a:srgbClr val="1D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8046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類型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8046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commit 說明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8046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性質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70432"/>
            <a:ext cx="7315200" cy="676656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298448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ourier New"/>
                <a:ea typeface="Courier New"/>
                <a:latin typeface="Calibri"/>
              </a:rPr>
              <a:t>[docker]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29844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建立三容器 docker-compose 配置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920240"/>
            <a:ext cx="7315200" cy="676656"/>
          </a:xfrm>
          <a:prstGeom prst="rect">
            <a:avLst/>
          </a:prstGeom>
          <a:solidFill>
            <a:srgbClr val="183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048256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ourier New"/>
                <a:ea typeface="Courier New"/>
                <a:latin typeface="Calibri"/>
              </a:rPr>
              <a:t>[app]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048256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置入 PHP 系統 + 明日排班決策頁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670048"/>
            <a:ext cx="7315200" cy="676656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798064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ourier New"/>
                <a:ea typeface="Courier New"/>
                <a:latin typeface="Calibri"/>
              </a:rPr>
              <a:t>[data]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2798064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模擬值勤資料 + CWA 海象管線（AR(1)）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419856"/>
            <a:ext cx="7315200" cy="676656"/>
          </a:xfrm>
          <a:prstGeom prst="rect">
            <a:avLst/>
          </a:prstGeom>
          <a:solidFill>
            <a:srgbClr val="183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3547872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B04B"/>
                </a:solidFill>
                <a:latin typeface="Courier New"/>
                <a:ea typeface="Courier New"/>
                <a:latin typeface="Calibri"/>
              </a:rPr>
              <a:t>[analysis]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547872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排班引擎(MILP)+25張圖+ML(AUC=0.811)+IsoForest+Holt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169663"/>
            <a:ext cx="7315200" cy="676656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4297679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ourier New"/>
                <a:ea typeface="Courier New"/>
                <a:latin typeface="Calibri"/>
              </a:rPr>
              <a:t>[docs]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297679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期末報告・投影片・stats_summary.json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919472"/>
            <a:ext cx="7315200" cy="676656"/>
          </a:xfrm>
          <a:prstGeom prst="rect">
            <a:avLst/>
          </a:prstGeom>
          <a:solidFill>
            <a:srgbClr val="183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5047488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ourier New"/>
                <a:ea typeface="Courier New"/>
                <a:latin typeface="Calibri"/>
              </a:rPr>
              <a:t>[fix]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504748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Docker 轉移問題：start_demo.sh 自動建 .env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0" y="749808"/>
            <a:ext cx="4206240" cy="4983480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9560" y="82296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B04B"/>
                </a:solidFill>
                <a:latin typeface="微軟正黑體"/>
                <a:ea typeface="微軟正黑體"/>
                <a:latin typeface="Calibri"/>
              </a:rPr>
              <a:t>GitHub Actions CI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9560" y="1234440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45 項測試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0" y="1234440"/>
            <a:ext cx="1508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2C39A"/>
                </a:solidFill>
                <a:latin typeface="微軟正黑體"/>
                <a:ea typeface="微軟正黑體"/>
                <a:latin typeface="Calibri"/>
              </a:rPr>
              <a:t>全數通過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9560" y="1920240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MILP 排班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2720" y="1920240"/>
            <a:ext cx="1508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2C39A"/>
                </a:solidFill>
                <a:latin typeface="微軟正黑體"/>
                <a:ea typeface="微軟正黑體"/>
                <a:latin typeface="Calibri"/>
              </a:rPr>
              <a:t>無雙重指派 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09560" y="2606040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Holt 預測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32720" y="2606040"/>
            <a:ext cx="1508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2C39A"/>
                </a:solidFill>
                <a:latin typeface="微軟正黑體"/>
                <a:ea typeface="微軟正黑體"/>
                <a:latin typeface="Calibri"/>
              </a:rPr>
              <a:t>趨勢追蹤 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09560" y="3291840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IsoForest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2720" y="3291840"/>
            <a:ext cx="1508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2C39A"/>
                </a:solidFill>
                <a:latin typeface="微軟正黑體"/>
                <a:ea typeface="微軟正黑體"/>
                <a:latin typeface="Calibri"/>
              </a:rPr>
              <a:t>5% 污染率 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09560" y="3977639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ML CV AUC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32720" y="3977639"/>
            <a:ext cx="1508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2C39A"/>
                </a:solidFill>
                <a:latin typeface="微軟正黑體"/>
                <a:ea typeface="微軟正黑體"/>
                <a:latin typeface="Calibri"/>
              </a:rPr>
              <a:t>時序分割 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09560" y="4663440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25 張圖表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32720" y="4663440"/>
            <a:ext cx="1508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2C39A"/>
                </a:solidFill>
                <a:latin typeface="微軟正黑體"/>
                <a:ea typeface="微軟正黑體"/>
                <a:latin typeface="Calibri"/>
              </a:rPr>
              <a:t>全部生成 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0" y="5779008"/>
            <a:ext cx="4206240" cy="38404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09560" y="5815584"/>
            <a:ext cx="3931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A3A"/>
                </a:solidFill>
                <a:latin typeface="Courier New"/>
                <a:ea typeface="Courier New"/>
                <a:latin typeface="Calibri"/>
              </a:rPr>
              <a:t>CI run time: 17.87s / 45 passed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D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技術清單完整覆蓋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840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必要技術 4/4 ✅　選擇性技術 6+ ✅　差異化創新技術 4 ✅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777240"/>
            <a:ext cx="3657600" cy="402336"/>
          </a:xfrm>
          <a:prstGeom prst="rect">
            <a:avLst/>
          </a:prstGeom>
          <a:solidFill>
            <a:srgbClr val="1D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82296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B04B"/>
                </a:solidFill>
                <a:latin typeface="微軟正黑體"/>
                <a:ea typeface="微軟正黑體"/>
                <a:latin typeface="Calibri"/>
              </a:rPr>
              <a:t>必要技術（4/4）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234440"/>
            <a:ext cx="3657600" cy="603504"/>
          </a:xfrm>
          <a:prstGeom prst="rect">
            <a:avLst/>
          </a:prstGeom>
          <a:solidFill>
            <a:srgbClr val="182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271016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✅  Python + Pandas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581912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資料清洗 / 統計分析 / 排班引擎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901952"/>
            <a:ext cx="3657600" cy="603504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938528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✅  Matplotlib / Seaborn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2249424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25 張統計視覺化圖表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2569464"/>
            <a:ext cx="3657600" cy="603504"/>
          </a:xfrm>
          <a:prstGeom prst="rect">
            <a:avLst/>
          </a:prstGeom>
          <a:solidFill>
            <a:srgbClr val="182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260604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✅  Docker / Docker Compose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2916936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docker-compose 三容器，一鍵部署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3236976"/>
            <a:ext cx="3657600" cy="603504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3273552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✅  Git / GitHub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3584448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commit 紀錄 / PR / CI 45 tests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0" y="777240"/>
            <a:ext cx="3657600" cy="402336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6240" y="82296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7293"/>
                </a:solidFill>
                <a:latin typeface="微軟正黑體"/>
                <a:ea typeface="微軟正黑體"/>
                <a:latin typeface="Calibri"/>
              </a:rPr>
              <a:t>選擇性技術（7 項）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0" y="1234440"/>
            <a:ext cx="3657600" cy="603504"/>
          </a:xfrm>
          <a:prstGeom prst="rect">
            <a:avLst/>
          </a:prstGeom>
          <a:solidFill>
            <a:srgbClr val="182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0" y="1271016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✅  MySQL 8.0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1581912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四張資料表（含 sea_observations）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0" y="1901952"/>
            <a:ext cx="3657600" cy="603504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40" y="1938528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✅  Apache + PHP 8.2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2249424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完整業務系統 + 排班決策頁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0" y="2569464"/>
            <a:ext cx="3657600" cy="603504"/>
          </a:xfrm>
          <a:prstGeom prst="rect">
            <a:avLst/>
          </a:prstGeom>
          <a:solidFill>
            <a:srgbClr val="182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6240" y="260604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✅  scikit-learn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2916936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RandomForest + GridSearchCV + IsoForest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0" y="3236976"/>
            <a:ext cx="3657600" cy="603504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40" y="3273552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✅  Folium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0" y="3584448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互動海域地圖 duty_map.html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0" y="3904487"/>
            <a:ext cx="3657600" cy="603504"/>
          </a:xfrm>
          <a:prstGeom prst="rect">
            <a:avLst/>
          </a:prstGeom>
          <a:solidFill>
            <a:srgbClr val="182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06240" y="3941063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✅  Gradio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06240" y="4251959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即時篩選互動分析儀表板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0" y="4572000"/>
            <a:ext cx="3657600" cy="603504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06240" y="4608576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✅  CWA 開放資料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0" y="4919472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浮標海象（無金鑰自動模擬備援）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0" y="5239512"/>
            <a:ext cx="3657600" cy="603504"/>
          </a:xfrm>
          <a:prstGeom prst="rect">
            <a:avLst/>
          </a:prstGeom>
          <a:solidFill>
            <a:srgbClr val="182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06240" y="5276088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✅  Jupyter Notebook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06240" y="5586984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EDA + 分析推理完整紀錄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29600" y="777240"/>
            <a:ext cx="3657600" cy="402336"/>
          </a:xfrm>
          <a:prstGeom prst="rect">
            <a:avLst/>
          </a:prstGeom>
          <a:solidFill>
            <a:srgbClr val="1A3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21040" y="82296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C39A"/>
                </a:solidFill>
                <a:latin typeface="微軟正黑體"/>
                <a:ea typeface="微軟正黑體"/>
                <a:latin typeface="Calibri"/>
              </a:rPr>
              <a:t>差異化創新（4 項）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9600" y="1234440"/>
            <a:ext cx="3657600" cy="603504"/>
          </a:xfrm>
          <a:prstGeom prst="rect">
            <a:avLst/>
          </a:prstGeom>
          <a:solidFill>
            <a:srgbClr val="182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21040" y="1271016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✅  MILP（scipy HiGHS）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1581912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整數規劃排班全域最佳化，驗證差距 = 0%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9600" y="1901952"/>
            <a:ext cx="3657600" cy="603504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21040" y="1938528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✅  Isolation Forest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21040" y="2249424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5 維聯合異常偵測，補強 Z-score 盲點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29600" y="2569464"/>
            <a:ext cx="3657600" cy="603504"/>
          </a:xfrm>
          <a:prstGeom prst="rect">
            <a:avLst/>
          </a:prstGeom>
          <a:solidFill>
            <a:srgbClr val="182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21040" y="260604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✅  Holt 雙指數平滑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21040" y="2916936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純 NumPy 實作，格點搜尋最佳 α/β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29600" y="3236976"/>
            <a:ext cx="3657600" cy="603504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21040" y="3273552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✅  人員雷達圖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21040" y="3584448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5 維能力輪廓，精準辨識調度特性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B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8B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1D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B04B"/>
                </a:solidFill>
                <a:latin typeface="微軟正黑體"/>
                <a:ea typeface="微軟正黑體"/>
                <a:latin typeface="Calibri"/>
              </a:rPr>
              <a:t>本學期達成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22960"/>
            <a:ext cx="11155680" cy="603504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886968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🐳  Docker 三容器一鍵部署，修正跨平台轉移問題（start_demo.sh 自動建 .env）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11155680" cy="603504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72768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⭐  MILP 整數線性規劃排班引擎 ─ 全球最優性差距 = 0%（全班唯一具名班表輸出）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194560"/>
            <a:ext cx="11155680" cy="603504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258568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🧠  RandomForest ML（acc=0.949 / AUC=0.811）+ Markov 雙模型海況預測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880360"/>
            <a:ext cx="11155680" cy="603504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944368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🔍  Isolation Forest 5 維聯合異常偵測（補強 Z-score 盲點）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566160"/>
            <a:ext cx="11155680" cy="603504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630168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📈  Holt 雙指數平滑 + 線性外推雙趨勢預測（純 NumPy）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251960"/>
            <a:ext cx="11155680" cy="603504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315968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🎯  人員 5 維雷達圖・疲勞指數・Gini=0.042・船艦可用性四項人力決策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937760"/>
            <a:ext cx="11155680" cy="603504"/>
          </a:xfrm>
          <a:prstGeom prst="rect">
            <a:avLst/>
          </a:prstGeom>
          <a:solidFill>
            <a:srgbClr val="14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001768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微軟正黑體"/>
                <a:ea typeface="微軟正黑體"/>
                <a:latin typeface="Calibri"/>
              </a:rPr>
              <a:t>📊  25 張統計圖表・45 項 CI 測試全綠・F=181.433・χ²=349.634・R²=0.784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669280"/>
            <a:ext cx="11155680" cy="402336"/>
          </a:xfrm>
          <a:prstGeom prst="rect">
            <a:avLst/>
          </a:prstGeom>
          <a:solidFill>
            <a:srgbClr val="1D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724144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4EDE4"/>
                </a:solidFill>
                <a:latin typeface="微軟正黑體"/>
                <a:ea typeface="微軟正黑體"/>
                <a:latin typeface="Calibri"/>
              </a:rPr>
              <a:t>未來可延伸：CWA 即時 API · 多日滾動排班 · 行動裝置打卡推播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6172200"/>
            <a:ext cx="11155680" cy="548640"/>
          </a:xfrm>
          <a:prstGeom prst="rect">
            <a:avLst/>
          </a:prstGeom>
          <a:solidFill>
            <a:srgbClr val="E8B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62362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2A3A"/>
                </a:solidFill>
                <a:latin typeface="微軟正黑體"/>
                <a:ea typeface="微軟正黑體"/>
                <a:latin typeface="Calibri"/>
              </a:rPr>
              <a:t>別人把海象畫成圖 ─ 我們把海象變成「明天誰上哪艘船」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