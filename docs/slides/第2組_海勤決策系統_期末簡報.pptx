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image" Target="../media/image14.pn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0" y="0"/>
            <a:ext cx="12191695" cy="0"/>
          </a:xfrm>
          <a:prstGeom prst="bentConnector3">
            <a:avLst/>
          </a:prstGeom>
          <a:ln w="38100">
            <a:solidFill>
              <a:srgbClr val="C892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C3D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640080"/>
            <a:ext cx="1091153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400" b="0" i="0">
                <a:solidFill>
                  <a:srgbClr val="7C8B97"/>
                </a:solidFill>
                <a:latin typeface="Microsoft JhengHei"/>
                <a:ea typeface="Microsoft JhengHei"/>
                <a:cs typeface="Microsoft JhengHei"/>
              </a:rPr>
              <a:t>國立高雄科技大學 · 海事資訊科技系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1051560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4600" b="1" i="0">
                <a:solidFill>
                  <a:srgbClr val="1C3D5A"/>
                </a:solidFill>
                <a:latin typeface="Microsoft JhengHei"/>
                <a:ea typeface="Microsoft JhengHei"/>
                <a:cs typeface="Microsoft JhengHei"/>
              </a:rPr>
              <a:t>海勤人力資源與</a:t>
            </a:r>
          </a:p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4600" b="1" i="0">
                <a:solidFill>
                  <a:srgbClr val="1C3D5A"/>
                </a:solidFill>
                <a:latin typeface="Microsoft JhengHei"/>
                <a:ea typeface="Microsoft JhengHei"/>
                <a:cs typeface="Microsoft JhengHei"/>
              </a:rPr>
              <a:t>作業安全決策系統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154680"/>
            <a:ext cx="109115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2000" b="1" i="0">
                <a:solidFill>
                  <a:srgbClr val="C8922E"/>
                </a:solidFill>
                <a:latin typeface="Microsoft JhengHei"/>
                <a:ea typeface="Microsoft JhengHei"/>
                <a:cs typeface="Microsoft JhengHei"/>
              </a:rPr>
              <a:t>海象感知智慧排班 · 海事勤務雲端管理平台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931920"/>
            <a:ext cx="73152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400" b="1" i="0">
                <a:solidFill>
                  <a:srgbClr val="1C3D5A"/>
                </a:solidFill>
                <a:latin typeface="Microsoft JhengHei"/>
                <a:ea typeface="Microsoft JhengHei"/>
                <a:cs typeface="Microsoft JhengHei"/>
              </a:rPr>
              <a:t>114-2 巨量資料與雲端運算　|　第 2 組</a:t>
            </a:r>
          </a:p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1250" b="0" i="0">
                <a:solidFill>
                  <a:srgbClr val="3D4D5A"/>
                </a:solidFill>
                <a:latin typeface="Microsoft JhengHei"/>
                <a:ea typeface="Microsoft JhengHei"/>
                <a:cs typeface="Microsoft JhengHei"/>
              </a:rPr>
              <a:t>組員　黃宇平（組長）· 傅瀚鋌 · 曾紹喆 · 劉家样 · 李翊丞 · 林秉賢</a:t>
            </a:r>
          </a:p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250" b="0" i="0">
                <a:solidFill>
                  <a:srgbClr val="7C8B97"/>
                </a:solidFill>
                <a:latin typeface="Microsoft JhengHei"/>
                <a:ea typeface="Microsoft JhengHei"/>
                <a:cs typeface="Microsoft JhengHei"/>
              </a:rPr>
              <a:t>指導教師　張珀銀 老師　　　2026 年 6 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18120" y="4937760"/>
            <a:ext cx="10058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  <a:spcAft>
                <a:spcPts val="500"/>
              </a:spcAft>
            </a:pPr>
            <a:r>
              <a:rPr sz="2400" b="1" i="0">
                <a:solidFill>
                  <a:srgbClr val="C8922E"/>
                </a:solidFill>
                <a:latin typeface="Consolas"/>
                <a:ea typeface="Microsoft JhengHei"/>
                <a:cs typeface="Consolas"/>
              </a:rPr>
              <a:t>25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18120" y="5532120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  <a:spcAft>
                <a:spcPts val="500"/>
              </a:spcAft>
            </a:pPr>
            <a:r>
              <a:rPr sz="1100" b="0" i="0">
                <a:solidFill>
                  <a:srgbClr val="7C8B97"/>
                </a:solidFill>
                <a:latin typeface="Microsoft JhengHei"/>
                <a:ea typeface="Microsoft JhengHei"/>
                <a:cs typeface="Microsoft JhengHei"/>
              </a:rPr>
              <a:t>分析圖表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8851392" y="4983480"/>
            <a:ext cx="0" cy="868680"/>
          </a:xfrm>
          <a:prstGeom prst="bentConnector3">
            <a:avLst/>
          </a:prstGeom>
          <a:ln w="12700">
            <a:solidFill>
              <a:srgbClr val="D7E0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8897112" y="4937760"/>
            <a:ext cx="10058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  <a:spcAft>
                <a:spcPts val="500"/>
              </a:spcAft>
            </a:pPr>
            <a:r>
              <a:rPr sz="2400" b="1" i="0">
                <a:solidFill>
                  <a:srgbClr val="C8922E"/>
                </a:solidFill>
                <a:latin typeface="Consolas"/>
                <a:ea typeface="Microsoft JhengHei"/>
                <a:cs typeface="Consolas"/>
              </a:rPr>
              <a:t>45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97112" y="5532120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  <a:spcAft>
                <a:spcPts val="500"/>
              </a:spcAft>
            </a:pPr>
            <a:r>
              <a:rPr sz="1100" b="0" i="0">
                <a:solidFill>
                  <a:srgbClr val="7C8B97"/>
                </a:solidFill>
                <a:latin typeface="Microsoft JhengHei"/>
                <a:ea typeface="Microsoft JhengHei"/>
                <a:cs typeface="Microsoft JhengHei"/>
              </a:rPr>
              <a:t>CI 測試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9930384" y="4983480"/>
            <a:ext cx="0" cy="868680"/>
          </a:xfrm>
          <a:prstGeom prst="bentConnector3">
            <a:avLst/>
          </a:prstGeom>
          <a:ln w="12700">
            <a:solidFill>
              <a:srgbClr val="D7E0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9976104" y="4937760"/>
            <a:ext cx="10058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  <a:spcAft>
                <a:spcPts val="500"/>
              </a:spcAft>
            </a:pPr>
            <a:r>
              <a:rPr sz="2400" b="1" i="0">
                <a:solidFill>
                  <a:srgbClr val="C8922E"/>
                </a:solidFill>
                <a:latin typeface="Consolas"/>
                <a:ea typeface="Microsoft JhengHei"/>
                <a:cs typeface="Consolas"/>
              </a:rPr>
              <a:t>0.811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976104" y="5532120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  <a:spcAft>
                <a:spcPts val="500"/>
              </a:spcAft>
            </a:pPr>
            <a:r>
              <a:rPr sz="1100" b="0" i="0">
                <a:solidFill>
                  <a:srgbClr val="7C8B97"/>
                </a:solidFill>
                <a:latin typeface="Microsoft JhengHei"/>
                <a:ea typeface="Microsoft JhengHei"/>
                <a:cs typeface="Microsoft JhengHei"/>
              </a:rPr>
              <a:t>ML AUC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11009376" y="4983480"/>
            <a:ext cx="0" cy="868680"/>
          </a:xfrm>
          <a:prstGeom prst="bentConnector3">
            <a:avLst/>
          </a:prstGeom>
          <a:ln w="12700">
            <a:solidFill>
              <a:srgbClr val="D7E0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11055096" y="4937760"/>
            <a:ext cx="10058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  <a:spcAft>
                <a:spcPts val="500"/>
              </a:spcAft>
            </a:pPr>
            <a:r>
              <a:rPr sz="2400" b="1" i="0">
                <a:solidFill>
                  <a:srgbClr val="C8922E"/>
                </a:solidFill>
                <a:latin typeface="Consolas"/>
                <a:ea typeface="Microsoft JhengHei"/>
                <a:cs typeface="Consolas"/>
              </a:rPr>
              <a:t>0%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055096" y="5532120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  <a:spcAft>
                <a:spcPts val="500"/>
              </a:spcAft>
            </a:pPr>
            <a:r>
              <a:rPr sz="1100" b="0" i="0">
                <a:solidFill>
                  <a:srgbClr val="7C8B97"/>
                </a:solidFill>
                <a:latin typeface="Microsoft JhengHei"/>
                <a:ea typeface="Microsoft JhengHei"/>
                <a:cs typeface="Microsoft JhengHei"/>
              </a:rPr>
              <a:t>MILP 差距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640080" y="6355080"/>
            <a:ext cx="10911535" cy="0"/>
          </a:xfrm>
          <a:prstGeom prst="bentConnector3">
            <a:avLst/>
          </a:prstGeom>
          <a:ln w="12700">
            <a:solidFill>
              <a:srgbClr val="D7E0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640080" y="6446520"/>
            <a:ext cx="109115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050" b="0" i="0">
                <a:solidFill>
                  <a:srgbClr val="7C8B97"/>
                </a:solidFill>
                <a:latin typeface="Microsoft JhengHei"/>
                <a:ea typeface="Microsoft JhengHei"/>
                <a:cs typeface="Microsoft JhengHei"/>
              </a:rPr>
              <a:t>MILP 整數規劃排班 · RandomForest 海況預測 · Isolation Forest 異常偵測 · Gradio 互動分析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20624"/>
            <a:ext cx="109115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200" b="1" i="0">
                <a:solidFill>
                  <a:srgbClr val="C8922E"/>
                </a:solidFill>
                <a:latin typeface="Microsoft JhengHei"/>
                <a:ea typeface="Microsoft JhengHei"/>
                <a:cs typeface="Microsoft JhengHei"/>
              </a:rPr>
              <a:t>核心定位 · POSITIONING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76656"/>
            <a:ext cx="10911535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2500" b="1" i="0">
                <a:solidFill>
                  <a:srgbClr val="1C3D5A"/>
                </a:solidFill>
                <a:latin typeface="Microsoft JhengHei"/>
                <a:ea typeface="Microsoft JhengHei"/>
                <a:cs typeface="Microsoft JhengHei"/>
              </a:rPr>
              <a:t>海象只是輸入，輸出是「明天誰上哪艘船」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40080" y="1417320"/>
            <a:ext cx="566928" cy="0"/>
          </a:xfrm>
          <a:prstGeom prst="bentConnector3">
            <a:avLst/>
          </a:prstGeom>
          <a:ln w="30480">
            <a:solidFill>
              <a:srgbClr val="C892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640080" y="6455664"/>
            <a:ext cx="10911535" cy="0"/>
          </a:xfrm>
          <a:prstGeom prst="bentConnector3">
            <a:avLst/>
          </a:prstGeom>
          <a:ln w="9525">
            <a:solidFill>
              <a:srgbClr val="D7E0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40080" y="651052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950" b="0" i="0">
                <a:solidFill>
                  <a:srgbClr val="7C8B97"/>
                </a:solidFill>
                <a:latin typeface="Microsoft JhengHei"/>
                <a:ea typeface="Microsoft JhengHei"/>
                <a:cs typeface="Microsoft JhengHei"/>
              </a:rPr>
              <a:t>海勤人力資源與作業安全決策系統  ·  114-2 巨量資料與雲端運算  第 2 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54335" y="6510528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500"/>
              </a:spcAft>
            </a:pPr>
            <a:r>
              <a:rPr sz="950" b="0" i="0">
                <a:solidFill>
                  <a:srgbClr val="7C8B97"/>
                </a:solidFill>
                <a:latin typeface="Consolas"/>
                <a:ea typeface="Microsoft JhengHei"/>
                <a:cs typeface="Consolas"/>
              </a:rPr>
              <a:t>01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286000"/>
            <a:ext cx="3246120" cy="21945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7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2286000"/>
            <a:ext cx="3246120" cy="64008"/>
          </a:xfrm>
          <a:prstGeom prst="rect">
            <a:avLst/>
          </a:prstGeom>
          <a:solidFill>
            <a:srgbClr val="1C3D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2487168"/>
            <a:ext cx="3246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  <a:spcAft>
                <a:spcPts val="500"/>
              </a:spcAft>
            </a:pPr>
            <a:r>
              <a:rPr sz="1500" b="1" i="0">
                <a:solidFill>
                  <a:srgbClr val="1C3D5A"/>
                </a:solidFill>
                <a:latin typeface="Consolas"/>
                <a:ea typeface="Microsoft JhengHei"/>
                <a:cs typeface="Consolas"/>
              </a:rPr>
              <a:t>輸入 INPUT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999232"/>
            <a:ext cx="278892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700"/>
              </a:spcAft>
            </a:pPr>
            <a:r>
              <a:rPr sz="1250" b="1" i="0">
                <a:solidFill>
                  <a:srgbClr val="1C3D5A"/>
                </a:solidFill>
                <a:latin typeface="Microsoft JhengHei"/>
                <a:ea typeface="Microsoft JhengHei"/>
                <a:cs typeface="Microsoft JhengHei"/>
              </a:rPr>
              <a:t>▪  </a:t>
            </a:r>
            <a:r>
              <a:rPr sz="1250" b="0" i="0">
                <a:solidFill>
                  <a:srgbClr val="3D4D5A"/>
                </a:solidFill>
                <a:latin typeface="Microsoft JhengHei"/>
                <a:ea typeface="Microsoft JhengHei"/>
                <a:cs typeface="Microsoft JhengHei"/>
              </a:rPr>
              <a:t>明日海況預測（ML / Markov）</a:t>
            </a:r>
          </a:p>
          <a:p>
            <a:pPr algn="l">
              <a:lnSpc>
                <a:spcPct val="115000"/>
              </a:lnSpc>
              <a:spcAft>
                <a:spcPts val="700"/>
              </a:spcAft>
            </a:pPr>
            <a:r>
              <a:rPr sz="1250" b="1" i="0">
                <a:solidFill>
                  <a:srgbClr val="1C3D5A"/>
                </a:solidFill>
                <a:latin typeface="Microsoft JhengHei"/>
                <a:ea typeface="Microsoft JhengHei"/>
                <a:cs typeface="Microsoft JhengHei"/>
              </a:rPr>
              <a:t>▪  </a:t>
            </a:r>
            <a:r>
              <a:rPr sz="1250" b="0" i="0">
                <a:solidFill>
                  <a:srgbClr val="3D4D5A"/>
                </a:solidFill>
                <a:latin typeface="Microsoft JhengHei"/>
                <a:ea typeface="Microsoft JhengHei"/>
                <a:cs typeface="Microsoft JhengHei"/>
              </a:rPr>
              <a:t>人員疲勞指數</a:t>
            </a:r>
          </a:p>
          <a:p>
            <a:pPr algn="l">
              <a:lnSpc>
                <a:spcPct val="115000"/>
              </a:lnSpc>
              <a:spcAft>
                <a:spcPts val="700"/>
              </a:spcAft>
            </a:pPr>
            <a:r>
              <a:rPr sz="1250" b="1" i="0">
                <a:solidFill>
                  <a:srgbClr val="1C3D5A"/>
                </a:solidFill>
                <a:latin typeface="Microsoft JhengHei"/>
                <a:ea typeface="Microsoft JhengHei"/>
                <a:cs typeface="Microsoft JhengHei"/>
              </a:rPr>
              <a:t>▪  </a:t>
            </a:r>
            <a:r>
              <a:rPr sz="1250" b="0" i="0">
                <a:solidFill>
                  <a:srgbClr val="3D4D5A"/>
                </a:solidFill>
                <a:latin typeface="Microsoft JhengHei"/>
                <a:ea typeface="Microsoft JhengHei"/>
                <a:cs typeface="Microsoft JhengHei"/>
              </a:rPr>
              <a:t>外海暴露輪換</a:t>
            </a:r>
          </a:p>
          <a:p>
            <a:pPr algn="l">
              <a:lnSpc>
                <a:spcPct val="115000"/>
              </a:lnSpc>
              <a:spcAft>
                <a:spcPts val="700"/>
              </a:spcAft>
            </a:pPr>
            <a:r>
              <a:rPr sz="1250" b="1" i="0">
                <a:solidFill>
                  <a:srgbClr val="1C3D5A"/>
                </a:solidFill>
                <a:latin typeface="Microsoft JhengHei"/>
                <a:ea typeface="Microsoft JhengHei"/>
                <a:cs typeface="Microsoft JhengHei"/>
              </a:rPr>
              <a:t>▪  </a:t>
            </a:r>
            <a:r>
              <a:rPr sz="1250" b="0" i="0">
                <a:solidFill>
                  <a:srgbClr val="3D4D5A"/>
                </a:solidFill>
                <a:latin typeface="Microsoft JhengHei"/>
                <a:ea typeface="Microsoft JhengHei"/>
                <a:cs typeface="Microsoft JhengHei"/>
              </a:rPr>
              <a:t>船艦可用性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86200" y="2286000"/>
            <a:ext cx="640080" cy="2194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  <a:spcAft>
                <a:spcPts val="500"/>
              </a:spcAft>
            </a:pPr>
            <a:r>
              <a:rPr sz="3000" b="1" i="0">
                <a:solidFill>
                  <a:srgbClr val="C8922E"/>
                </a:solidFill>
                <a:latin typeface="Microsoft JhengHei"/>
                <a:ea typeface="Microsoft JhengHei"/>
                <a:cs typeface="Microsoft JhengHei"/>
              </a:rP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26280" y="2286000"/>
            <a:ext cx="3246120" cy="21945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7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26280" y="2286000"/>
            <a:ext cx="3246120" cy="64008"/>
          </a:xfrm>
          <a:prstGeom prst="rect">
            <a:avLst/>
          </a:prstGeom>
          <a:solidFill>
            <a:srgbClr val="C892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26280" y="2487168"/>
            <a:ext cx="3246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  <a:spcAft>
                <a:spcPts val="500"/>
              </a:spcAft>
            </a:pPr>
            <a:r>
              <a:rPr sz="1500" b="1" i="0">
                <a:solidFill>
                  <a:srgbClr val="C8922E"/>
                </a:solidFill>
                <a:latin typeface="Consolas"/>
                <a:ea typeface="Microsoft JhengHei"/>
                <a:cs typeface="Consolas"/>
              </a:rPr>
              <a:t>引擎 ENGINE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00600" y="2999232"/>
            <a:ext cx="278892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700"/>
              </a:spcAft>
            </a:pPr>
            <a:r>
              <a:rPr sz="1250" b="1" i="0">
                <a:solidFill>
                  <a:srgbClr val="C8922E"/>
                </a:solidFill>
                <a:latin typeface="Microsoft JhengHei"/>
                <a:ea typeface="Microsoft JhengHei"/>
                <a:cs typeface="Microsoft JhengHei"/>
              </a:rPr>
              <a:t>▪  </a:t>
            </a:r>
            <a:r>
              <a:rPr sz="1250" b="0" i="0">
                <a:solidFill>
                  <a:srgbClr val="3D4D5A"/>
                </a:solidFill>
                <a:latin typeface="Microsoft JhengHei"/>
                <a:ea typeface="Microsoft JhengHei"/>
                <a:cs typeface="Microsoft JhengHei"/>
              </a:rPr>
              <a:t>MILP 整數線性規劃</a:t>
            </a:r>
          </a:p>
          <a:p>
            <a:pPr algn="l">
              <a:lnSpc>
                <a:spcPct val="115000"/>
              </a:lnSpc>
              <a:spcAft>
                <a:spcPts val="700"/>
              </a:spcAft>
            </a:pPr>
            <a:r>
              <a:rPr sz="1250" b="1" i="0">
                <a:solidFill>
                  <a:srgbClr val="C8922E"/>
                </a:solidFill>
                <a:latin typeface="Microsoft JhengHei"/>
                <a:ea typeface="Microsoft JhengHei"/>
                <a:cs typeface="Microsoft JhengHei"/>
              </a:rPr>
              <a:t>▪  </a:t>
            </a:r>
            <a:r>
              <a:rPr sz="1250" b="0" i="0">
                <a:solidFill>
                  <a:srgbClr val="3D4D5A"/>
                </a:solidFill>
                <a:latin typeface="Microsoft JhengHei"/>
                <a:ea typeface="Microsoft JhengHei"/>
                <a:cs typeface="Microsoft JhengHei"/>
              </a:rPr>
              <a:t>scipy.optimize.milp</a:t>
            </a:r>
          </a:p>
          <a:p>
            <a:pPr algn="l">
              <a:lnSpc>
                <a:spcPct val="115000"/>
              </a:lnSpc>
              <a:spcAft>
                <a:spcPts val="700"/>
              </a:spcAft>
            </a:pPr>
            <a:r>
              <a:rPr sz="1250" b="1" i="0">
                <a:solidFill>
                  <a:srgbClr val="C8922E"/>
                </a:solidFill>
                <a:latin typeface="Microsoft JhengHei"/>
                <a:ea typeface="Microsoft JhengHei"/>
                <a:cs typeface="Microsoft JhengHei"/>
              </a:rPr>
              <a:t>▪  </a:t>
            </a:r>
            <a:r>
              <a:rPr sz="1250" b="0" i="0">
                <a:solidFill>
                  <a:srgbClr val="3D4D5A"/>
                </a:solidFill>
                <a:latin typeface="Microsoft JhengHei"/>
                <a:ea typeface="Microsoft JhengHei"/>
                <a:cs typeface="Microsoft JhengHei"/>
              </a:rPr>
              <a:t>HiGHS 後端</a:t>
            </a:r>
          </a:p>
          <a:p>
            <a:pPr algn="l">
              <a:lnSpc>
                <a:spcPct val="115000"/>
              </a:lnSpc>
              <a:spcAft>
                <a:spcPts val="700"/>
              </a:spcAft>
            </a:pPr>
            <a:r>
              <a:rPr sz="1250" b="1" i="0">
                <a:solidFill>
                  <a:srgbClr val="C8922E"/>
                </a:solidFill>
                <a:latin typeface="Microsoft JhengHei"/>
                <a:ea typeface="Microsoft JhengHei"/>
                <a:cs typeface="Microsoft JhengHei"/>
              </a:rPr>
              <a:t>▪  </a:t>
            </a:r>
            <a:r>
              <a:rPr sz="1250" b="0" i="0">
                <a:solidFill>
                  <a:srgbClr val="3D4D5A"/>
                </a:solidFill>
                <a:latin typeface="Microsoft JhengHei"/>
                <a:ea typeface="Microsoft JhengHei"/>
                <a:cs typeface="Microsoft JhengHei"/>
              </a:rPr>
              <a:t>ZONE_PRIORITY 加權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0" y="2286000"/>
            <a:ext cx="640080" cy="2194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  <a:spcAft>
                <a:spcPts val="500"/>
              </a:spcAft>
            </a:pPr>
            <a:r>
              <a:rPr sz="3000" b="1" i="0">
                <a:solidFill>
                  <a:srgbClr val="C8922E"/>
                </a:solidFill>
                <a:latin typeface="Microsoft JhengHei"/>
                <a:ea typeface="Microsoft JhengHei"/>
                <a:cs typeface="Microsoft JhengHei"/>
              </a:rP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412480" y="2286000"/>
            <a:ext cx="3246120" cy="21945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7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412480" y="2286000"/>
            <a:ext cx="3246120" cy="64008"/>
          </a:xfrm>
          <a:prstGeom prst="rect">
            <a:avLst/>
          </a:prstGeom>
          <a:solidFill>
            <a:srgbClr val="4E8C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412480" y="2487168"/>
            <a:ext cx="3246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  <a:spcAft>
                <a:spcPts val="500"/>
              </a:spcAft>
            </a:pPr>
            <a:r>
              <a:rPr sz="1500" b="1" i="0">
                <a:solidFill>
                  <a:srgbClr val="4E8C8A"/>
                </a:solidFill>
                <a:latin typeface="Consolas"/>
                <a:ea typeface="Microsoft JhengHei"/>
                <a:cs typeface="Consolas"/>
              </a:rPr>
              <a:t>輸出 OUTPUT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0" y="2999232"/>
            <a:ext cx="278892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700"/>
              </a:spcAft>
            </a:pPr>
            <a:r>
              <a:rPr sz="1250" b="1" i="0">
                <a:solidFill>
                  <a:srgbClr val="4E8C8A"/>
                </a:solidFill>
                <a:latin typeface="Microsoft JhengHei"/>
                <a:ea typeface="Microsoft JhengHei"/>
                <a:cs typeface="Microsoft JhengHei"/>
              </a:rPr>
              <a:t>▪  </a:t>
            </a:r>
            <a:r>
              <a:rPr sz="1250" b="0" i="0">
                <a:solidFill>
                  <a:srgbClr val="3D4D5A"/>
                </a:solidFill>
                <a:latin typeface="Microsoft JhengHei"/>
                <a:ea typeface="Microsoft JhengHei"/>
                <a:cs typeface="Microsoft JhengHei"/>
              </a:rPr>
              <a:t>明日三海域具名班表</a:t>
            </a:r>
          </a:p>
          <a:p>
            <a:pPr algn="l">
              <a:lnSpc>
                <a:spcPct val="115000"/>
              </a:lnSpc>
              <a:spcAft>
                <a:spcPts val="700"/>
              </a:spcAft>
            </a:pPr>
            <a:r>
              <a:rPr sz="1250" b="1" i="0">
                <a:solidFill>
                  <a:srgbClr val="4E8C8A"/>
                </a:solidFill>
                <a:latin typeface="Microsoft JhengHei"/>
                <a:ea typeface="Microsoft JhengHei"/>
                <a:cs typeface="Microsoft JhengHei"/>
              </a:rPr>
              <a:t>▪  </a:t>
            </a:r>
            <a:r>
              <a:rPr sz="1250" b="0" i="0">
                <a:solidFill>
                  <a:srgbClr val="3D4D5A"/>
                </a:solidFill>
                <a:latin typeface="Microsoft JhengHei"/>
                <a:ea typeface="Microsoft JhengHei"/>
                <a:cs typeface="Microsoft JhengHei"/>
              </a:rPr>
              <a:t>建議輪休名單</a:t>
            </a:r>
          </a:p>
          <a:p>
            <a:pPr algn="l">
              <a:lnSpc>
                <a:spcPct val="115000"/>
              </a:lnSpc>
              <a:spcAft>
                <a:spcPts val="700"/>
              </a:spcAft>
            </a:pPr>
            <a:r>
              <a:rPr sz="1250" b="1" i="0">
                <a:solidFill>
                  <a:srgbClr val="4E8C8A"/>
                </a:solidFill>
                <a:latin typeface="Microsoft JhengHei"/>
                <a:ea typeface="Microsoft JhengHei"/>
                <a:cs typeface="Microsoft JhengHei"/>
              </a:rPr>
              <a:t>▪  </a:t>
            </a:r>
            <a:r>
              <a:rPr sz="1250" b="0" i="0">
                <a:solidFill>
                  <a:srgbClr val="3D4D5A"/>
                </a:solidFill>
                <a:latin typeface="Microsoft JhengHei"/>
                <a:ea typeface="Microsoft JhengHei"/>
                <a:cs typeface="Microsoft JhengHei"/>
              </a:rPr>
              <a:t>維護船艦排除</a:t>
            </a:r>
          </a:p>
          <a:p>
            <a:pPr algn="l">
              <a:lnSpc>
                <a:spcPct val="115000"/>
              </a:lnSpc>
              <a:spcAft>
                <a:spcPts val="700"/>
              </a:spcAft>
            </a:pPr>
            <a:r>
              <a:rPr sz="1250" b="1" i="0">
                <a:solidFill>
                  <a:srgbClr val="4E8C8A"/>
                </a:solidFill>
                <a:latin typeface="Microsoft JhengHei"/>
                <a:ea typeface="Microsoft JhengHei"/>
                <a:cs typeface="Microsoft JhengHei"/>
              </a:rPr>
              <a:t>▪  </a:t>
            </a:r>
            <a:r>
              <a:rPr sz="1250" b="0" i="0">
                <a:solidFill>
                  <a:srgbClr val="3D4D5A"/>
                </a:solidFill>
                <a:latin typeface="Microsoft JhengHei"/>
                <a:ea typeface="Microsoft JhengHei"/>
                <a:cs typeface="Microsoft JhengHei"/>
              </a:rPr>
              <a:t>決策可追溯理由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" y="5650992"/>
            <a:ext cx="10911535" cy="566928"/>
          </a:xfrm>
          <a:prstGeom prst="roundRect">
            <a:avLst>
              <a:gd name="adj" fmla="val 10000"/>
            </a:avLst>
          </a:prstGeom>
          <a:solidFill>
            <a:srgbClr val="FBF4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40080" y="5650992"/>
            <a:ext cx="82296" cy="566928"/>
          </a:xfrm>
          <a:prstGeom prst="rect">
            <a:avLst/>
          </a:prstGeom>
          <a:solidFill>
            <a:srgbClr val="C892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96112" y="5650992"/>
            <a:ext cx="137160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200" b="1" i="0">
                <a:solidFill>
                  <a:srgbClr val="C8922E"/>
                </a:solidFill>
                <a:latin typeface="Microsoft JhengHei"/>
                <a:ea typeface="Microsoft JhengHei"/>
                <a:cs typeface="Microsoft JhengHei"/>
              </a:rPr>
              <a:t>核心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331720" y="5650992"/>
            <a:ext cx="8991295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300" b="0" i="0">
                <a:solidFill>
                  <a:srgbClr val="1C3D5A"/>
                </a:solidFill>
                <a:latin typeface="Microsoft JhengHei"/>
                <a:ea typeface="Microsoft JhengHei"/>
                <a:cs typeface="Microsoft JhengHei"/>
              </a:rPr>
              <a:t>本系統整合值勤、人員、船艦、海象四類資料，最終輸出可執行的明日具名班表。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20624"/>
            <a:ext cx="109115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200" b="1" i="0">
                <a:solidFill>
                  <a:srgbClr val="C8922E"/>
                </a:solidFill>
                <a:latin typeface="Microsoft JhengHei"/>
                <a:ea typeface="Microsoft JhengHei"/>
                <a:cs typeface="Microsoft JhengHei"/>
              </a:rPr>
              <a:t>簡報大綱 · AGENDA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76656"/>
            <a:ext cx="10911535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2500" b="1" i="0">
                <a:solidFill>
                  <a:srgbClr val="1C3D5A"/>
                </a:solidFill>
                <a:latin typeface="Microsoft JhengHei"/>
                <a:ea typeface="Microsoft JhengHei"/>
                <a:cs typeface="Microsoft JhengHei"/>
              </a:rPr>
              <a:t>從研究背景到決策引擎的完整技術鏈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40080" y="1417320"/>
            <a:ext cx="566928" cy="0"/>
          </a:xfrm>
          <a:prstGeom prst="bentConnector3">
            <a:avLst/>
          </a:prstGeom>
          <a:ln w="30480">
            <a:solidFill>
              <a:srgbClr val="C892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640080" y="6455664"/>
            <a:ext cx="10911535" cy="0"/>
          </a:xfrm>
          <a:prstGeom prst="bentConnector3">
            <a:avLst/>
          </a:prstGeom>
          <a:ln w="9525">
            <a:solidFill>
              <a:srgbClr val="D7E0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40080" y="651052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950" b="0" i="0">
                <a:solidFill>
                  <a:srgbClr val="7C8B97"/>
                </a:solidFill>
                <a:latin typeface="Microsoft JhengHei"/>
                <a:ea typeface="Microsoft JhengHei"/>
                <a:cs typeface="Microsoft JhengHei"/>
              </a:rPr>
              <a:t>海勤人力資源與作業安全決策系統  ·  114-2 巨量資料與雲端運算  第 2 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54335" y="6510528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500"/>
              </a:spcAft>
            </a:pPr>
            <a:r>
              <a:rPr sz="950" b="0" i="0">
                <a:solidFill>
                  <a:srgbClr val="7C8B97"/>
                </a:solidFill>
                <a:latin typeface="Consolas"/>
                <a:ea typeface="Microsoft JhengHei"/>
                <a:cs typeface="Consolas"/>
              </a:rPr>
              <a:t>02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965960"/>
            <a:ext cx="3454298" cy="129844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7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1248" y="2112264"/>
            <a:ext cx="10972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3000" b="1" i="0">
                <a:solidFill>
                  <a:srgbClr val="C8922E"/>
                </a:solidFill>
                <a:latin typeface="Consolas"/>
                <a:ea typeface="Microsoft JhengHei"/>
                <a:cs typeface="Consolas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2148840"/>
            <a:ext cx="226557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450" b="1" i="0">
                <a:solidFill>
                  <a:srgbClr val="1C3D5A"/>
                </a:solidFill>
                <a:latin typeface="Microsoft JhengHei"/>
                <a:ea typeface="Microsoft JhengHei"/>
                <a:cs typeface="Microsoft JhengHei"/>
              </a:rPr>
              <a:t>研究背景與動機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91640" y="2569464"/>
            <a:ext cx="226557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500"/>
              </a:spcAft>
            </a:pPr>
            <a:r>
              <a:rPr sz="1050" b="0" i="0">
                <a:solidFill>
                  <a:srgbClr val="7C8B97"/>
                </a:solidFill>
                <a:latin typeface="Microsoft JhengHei"/>
                <a:ea typeface="Microsoft JhengHei"/>
                <a:cs typeface="Microsoft JhengHei"/>
              </a:rPr>
              <a:t>上學期成果 · 三大不足 · 量化研究問題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68698" y="1965960"/>
            <a:ext cx="3454298" cy="129844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7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69866" y="2112264"/>
            <a:ext cx="10972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3000" b="1" i="0">
                <a:solidFill>
                  <a:srgbClr val="C8922E"/>
                </a:solidFill>
                <a:latin typeface="Consolas"/>
                <a:ea typeface="Microsoft JhengHei"/>
                <a:cs typeface="Consolas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20258" y="2148840"/>
            <a:ext cx="226557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450" b="1" i="0">
                <a:solidFill>
                  <a:srgbClr val="1C3D5A"/>
                </a:solidFill>
                <a:latin typeface="Microsoft JhengHei"/>
                <a:ea typeface="Microsoft JhengHei"/>
                <a:cs typeface="Microsoft JhengHei"/>
              </a:rPr>
              <a:t>系統架構與部署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20258" y="2569464"/>
            <a:ext cx="226557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500"/>
              </a:spcAft>
            </a:pPr>
            <a:r>
              <a:rPr sz="1050" b="0" i="0">
                <a:solidFill>
                  <a:srgbClr val="7C8B97"/>
                </a:solidFill>
                <a:latin typeface="Microsoft JhengHei"/>
                <a:ea typeface="Microsoft JhengHei"/>
                <a:cs typeface="Microsoft JhengHei"/>
              </a:rPr>
              <a:t>Docker 三容器 · 技術選型 · 一鍵部署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97316" y="1965960"/>
            <a:ext cx="3454298" cy="129844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7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98484" y="2112264"/>
            <a:ext cx="10972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3000" b="1" i="0">
                <a:solidFill>
                  <a:srgbClr val="C8922E"/>
                </a:solidFill>
                <a:latin typeface="Consolas"/>
                <a:ea typeface="Microsoft JhengHei"/>
                <a:cs typeface="Consolas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8876" y="2148840"/>
            <a:ext cx="226557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450" b="1" i="0">
                <a:solidFill>
                  <a:srgbClr val="1C3D5A"/>
                </a:solidFill>
                <a:latin typeface="Microsoft JhengHei"/>
                <a:ea typeface="Microsoft JhengHei"/>
                <a:cs typeface="Microsoft JhengHei"/>
              </a:rPr>
              <a:t>PHP 應用系統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8876" y="2569464"/>
            <a:ext cx="226557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500"/>
              </a:spcAft>
            </a:pPr>
            <a:r>
              <a:rPr sz="1050" b="0" i="0">
                <a:solidFill>
                  <a:srgbClr val="7C8B97"/>
                </a:solidFill>
                <a:latin typeface="Microsoft JhengHei"/>
                <a:ea typeface="Microsoft JhengHei"/>
                <a:cs typeface="Microsoft JhengHei"/>
              </a:rPr>
              <a:t>業務功能 · 權限分層 · 操作 Demo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" y="3538728"/>
            <a:ext cx="3454298" cy="129844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7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41248" y="3685032"/>
            <a:ext cx="10972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3000" b="1" i="0">
                <a:solidFill>
                  <a:srgbClr val="C8922E"/>
                </a:solidFill>
                <a:latin typeface="Consolas"/>
                <a:ea typeface="Microsoft JhengHei"/>
                <a:cs typeface="Consolas"/>
              </a:rPr>
              <a:t>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691640" y="3721608"/>
            <a:ext cx="226557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450" b="1" i="0">
                <a:solidFill>
                  <a:srgbClr val="1C3D5A"/>
                </a:solidFill>
                <a:latin typeface="Microsoft JhengHei"/>
                <a:ea typeface="Microsoft JhengHei"/>
                <a:cs typeface="Microsoft JhengHei"/>
              </a:rPr>
              <a:t>核心：自動排班引擎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691640" y="4142232"/>
            <a:ext cx="226557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500"/>
              </a:spcAft>
            </a:pPr>
            <a:r>
              <a:rPr sz="1050" b="0" i="0">
                <a:solidFill>
                  <a:srgbClr val="7C8B97"/>
                </a:solidFill>
                <a:latin typeface="Microsoft JhengHei"/>
                <a:ea typeface="Microsoft JhengHei"/>
                <a:cs typeface="Microsoft JhengHei"/>
              </a:rPr>
              <a:t>MILP 最佳化 · 決策規則 · 實機班表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368698" y="3538728"/>
            <a:ext cx="3454298" cy="129844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7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69866" y="3685032"/>
            <a:ext cx="10972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3000" b="1" i="0">
                <a:solidFill>
                  <a:srgbClr val="C8922E"/>
                </a:solidFill>
                <a:latin typeface="Consolas"/>
                <a:ea typeface="Microsoft JhengHei"/>
                <a:cs typeface="Consolas"/>
              </a:rPr>
              <a:t>05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20258" y="3721608"/>
            <a:ext cx="226557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450" b="1" i="0">
                <a:solidFill>
                  <a:srgbClr val="1C3D5A"/>
                </a:solidFill>
                <a:latin typeface="Microsoft JhengHei"/>
                <a:ea typeface="Microsoft JhengHei"/>
                <a:cs typeface="Microsoft JhengHei"/>
              </a:rPr>
              <a:t>資料工程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20258" y="4142232"/>
            <a:ext cx="226557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500"/>
              </a:spcAft>
            </a:pPr>
            <a:r>
              <a:rPr sz="1050" b="0" i="0">
                <a:solidFill>
                  <a:srgbClr val="7C8B97"/>
                </a:solidFill>
                <a:latin typeface="Microsoft JhengHei"/>
                <a:ea typeface="Microsoft JhengHei"/>
                <a:cs typeface="Microsoft JhengHei"/>
              </a:rPr>
              <a:t>Schema · AR(1) 模擬 · 清洗品質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097316" y="3538728"/>
            <a:ext cx="3454298" cy="129844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7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298484" y="3685032"/>
            <a:ext cx="10972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3000" b="1" i="0">
                <a:solidFill>
                  <a:srgbClr val="C8922E"/>
                </a:solidFill>
                <a:latin typeface="Consolas"/>
                <a:ea typeface="Microsoft JhengHei"/>
                <a:cs typeface="Consolas"/>
              </a:rPr>
              <a:t>06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8876" y="3721608"/>
            <a:ext cx="226557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450" b="1" i="0">
                <a:solidFill>
                  <a:srgbClr val="1C3D5A"/>
                </a:solidFill>
                <a:latin typeface="Microsoft JhengHei"/>
                <a:ea typeface="Microsoft JhengHei"/>
                <a:cs typeface="Microsoft JhengHei"/>
              </a:rPr>
              <a:t>統計分析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8876" y="4142232"/>
            <a:ext cx="226557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500"/>
              </a:spcAft>
            </a:pPr>
            <a:r>
              <a:rPr sz="1050" b="0" i="0">
                <a:solidFill>
                  <a:srgbClr val="7C8B97"/>
                </a:solidFill>
                <a:latin typeface="Microsoft JhengHei"/>
                <a:ea typeface="Microsoft JhengHei"/>
                <a:cs typeface="Microsoft JhengHei"/>
              </a:rPr>
              <a:t>ANOVA · 卡方 · OLS · 相關矩陣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40080" y="5111496"/>
            <a:ext cx="3454298" cy="129844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7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41248" y="5257800"/>
            <a:ext cx="10972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3000" b="1" i="0">
                <a:solidFill>
                  <a:srgbClr val="C8922E"/>
                </a:solidFill>
                <a:latin typeface="Consolas"/>
                <a:ea typeface="Microsoft JhengHei"/>
                <a:cs typeface="Consolas"/>
              </a:rPr>
              <a:t>07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691640" y="5294376"/>
            <a:ext cx="226557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450" b="1" i="0">
                <a:solidFill>
                  <a:srgbClr val="1C3D5A"/>
                </a:solidFill>
                <a:latin typeface="Microsoft JhengHei"/>
                <a:ea typeface="Microsoft JhengHei"/>
                <a:cs typeface="Microsoft JhengHei"/>
              </a:rPr>
              <a:t>預測與機器學習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691640" y="5715000"/>
            <a:ext cx="226557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500"/>
              </a:spcAft>
            </a:pPr>
            <a:r>
              <a:rPr sz="1050" b="0" i="0">
                <a:solidFill>
                  <a:srgbClr val="7C8B97"/>
                </a:solidFill>
                <a:latin typeface="Microsoft JhengHei"/>
                <a:ea typeface="Microsoft JhengHei"/>
                <a:cs typeface="Microsoft JhengHei"/>
              </a:rPr>
              <a:t>Holt · RandomForest · Markov · 異常偵測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368698" y="5111496"/>
            <a:ext cx="3454298" cy="129844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7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569866" y="5257800"/>
            <a:ext cx="10972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3000" b="1" i="0">
                <a:solidFill>
                  <a:srgbClr val="C8922E"/>
                </a:solidFill>
                <a:latin typeface="Consolas"/>
                <a:ea typeface="Microsoft JhengHei"/>
                <a:cs typeface="Consolas"/>
              </a:rPr>
              <a:t>08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420258" y="5294376"/>
            <a:ext cx="226557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450" b="1" i="0">
                <a:solidFill>
                  <a:srgbClr val="1C3D5A"/>
                </a:solidFill>
                <a:latin typeface="Microsoft JhengHei"/>
                <a:ea typeface="Microsoft JhengHei"/>
                <a:cs typeface="Microsoft JhengHei"/>
              </a:rPr>
              <a:t>人力資源決策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420258" y="5715000"/>
            <a:ext cx="226557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500"/>
              </a:spcAft>
            </a:pPr>
            <a:r>
              <a:rPr sz="1050" b="0" i="0">
                <a:solidFill>
                  <a:srgbClr val="7C8B97"/>
                </a:solidFill>
                <a:latin typeface="Microsoft JhengHei"/>
                <a:ea typeface="Microsoft JhengHei"/>
                <a:cs typeface="Microsoft JhengHei"/>
              </a:rPr>
              <a:t>疲勞 · 公平性 · 船艦 · 雷達圖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8097316" y="5111496"/>
            <a:ext cx="3454298" cy="129844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7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298484" y="5257800"/>
            <a:ext cx="10972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3000" b="1" i="0">
                <a:solidFill>
                  <a:srgbClr val="C8922E"/>
                </a:solidFill>
                <a:latin typeface="Consolas"/>
                <a:ea typeface="Microsoft JhengHei"/>
                <a:cs typeface="Consolas"/>
              </a:rPr>
              <a:t>09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148876" y="5294376"/>
            <a:ext cx="226557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450" b="1" i="0">
                <a:solidFill>
                  <a:srgbClr val="1C3D5A"/>
                </a:solidFill>
                <a:latin typeface="Microsoft JhengHei"/>
                <a:ea typeface="Microsoft JhengHei"/>
                <a:cs typeface="Microsoft JhengHei"/>
              </a:rPr>
              <a:t>互動介面與工程品質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148876" y="5715000"/>
            <a:ext cx="226557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500"/>
              </a:spcAft>
            </a:pPr>
            <a:r>
              <a:rPr sz="1050" b="0" i="0">
                <a:solidFill>
                  <a:srgbClr val="7C8B97"/>
                </a:solidFill>
                <a:latin typeface="Microsoft JhengHei"/>
                <a:ea typeface="Microsoft JhengHei"/>
                <a:cs typeface="Microsoft JhengHei"/>
              </a:rPr>
              <a:t>Gradio · Folium · GitHub CI · 總結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C3D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822960"/>
            <a:ext cx="4572000" cy="2926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20000" b="1" i="0">
                <a:solidFill>
                  <a:srgbClr val="E9F0F4"/>
                </a:solidFill>
                <a:latin typeface="Consolas"/>
                <a:ea typeface="Microsoft JhengHei"/>
                <a:cs typeface="Consolas"/>
              </a:rP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2788920"/>
            <a:ext cx="64008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300" b="1" i="0">
                <a:solidFill>
                  <a:srgbClr val="C8922E"/>
                </a:solidFill>
                <a:latin typeface="Consolas"/>
                <a:ea typeface="Microsoft JhengHei"/>
                <a:cs typeface="Consolas"/>
              </a:rPr>
              <a:t>SECTION 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3108960"/>
            <a:ext cx="77724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3600" b="1" i="0">
                <a:solidFill>
                  <a:srgbClr val="1C3D5A"/>
                </a:solidFill>
                <a:latin typeface="Microsoft JhengHei"/>
                <a:ea typeface="Microsoft JhengHei"/>
                <a:cs typeface="Microsoft JhengHei"/>
              </a:rPr>
              <a:t>研究背景與動機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4069080"/>
            <a:ext cx="7772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500" b="0" i="0">
                <a:solidFill>
                  <a:srgbClr val="7C8B97"/>
                </a:solidFill>
                <a:latin typeface="Consolas"/>
                <a:ea typeface="Microsoft JhengHei"/>
                <a:cs typeface="Consolas"/>
              </a:rPr>
              <a:t>Background &amp; Motivation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886968" y="3931920"/>
            <a:ext cx="2743200" cy="0"/>
          </a:xfrm>
          <a:prstGeom prst="bentConnector3">
            <a:avLst/>
          </a:prstGeom>
          <a:ln w="30480">
            <a:solidFill>
              <a:srgbClr val="C892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7955279" y="1371600"/>
            <a:ext cx="36576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200" b="1" i="0">
                <a:solidFill>
                  <a:srgbClr val="C8922E"/>
                </a:solidFill>
                <a:latin typeface="Microsoft JhengHei"/>
                <a:ea typeface="Microsoft JhengHei"/>
                <a:cs typeface="Microsoft JhengHei"/>
              </a:rPr>
              <a:t>本章內容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955279" y="1700784"/>
            <a:ext cx="3657600" cy="0"/>
          </a:xfrm>
          <a:prstGeom prst="bentConnector3">
            <a:avLst/>
          </a:prstGeom>
          <a:ln w="12700">
            <a:solidFill>
              <a:srgbClr val="D7E0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7955279" y="1865376"/>
            <a:ext cx="3657600" cy="4114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1100"/>
              </a:spcAft>
            </a:pPr>
            <a:r>
              <a:rPr sz="1300" b="1" i="0">
                <a:solidFill>
                  <a:srgbClr val="C8922E"/>
                </a:solidFill>
                <a:latin typeface="Microsoft JhengHei"/>
                <a:ea typeface="Microsoft JhengHei"/>
                <a:cs typeface="Microsoft JhengHei"/>
              </a:rPr>
              <a:t>▪  </a:t>
            </a:r>
            <a:r>
              <a:rPr sz="1300" b="0" i="0">
                <a:solidFill>
                  <a:srgbClr val="3D4D5A"/>
                </a:solidFill>
                <a:latin typeface="Microsoft JhengHei"/>
                <a:ea typeface="Microsoft JhengHei"/>
                <a:cs typeface="Microsoft JhengHei"/>
              </a:rPr>
              <a:t>上學期系統成果回顧</a:t>
            </a:r>
          </a:p>
          <a:p>
            <a:pPr algn="l">
              <a:lnSpc>
                <a:spcPct val="120000"/>
              </a:lnSpc>
              <a:spcAft>
                <a:spcPts val="1100"/>
              </a:spcAft>
            </a:pPr>
            <a:r>
              <a:rPr sz="1300" b="1" i="0">
                <a:solidFill>
                  <a:srgbClr val="C8922E"/>
                </a:solidFill>
                <a:latin typeface="Microsoft JhengHei"/>
                <a:ea typeface="Microsoft JhengHei"/>
                <a:cs typeface="Microsoft JhengHei"/>
              </a:rPr>
              <a:t>▪  </a:t>
            </a:r>
            <a:r>
              <a:rPr sz="1300" b="0" i="0">
                <a:solidFill>
                  <a:srgbClr val="3D4D5A"/>
                </a:solidFill>
                <a:latin typeface="Microsoft JhengHei"/>
                <a:ea typeface="Microsoft JhengHei"/>
                <a:cs typeface="Microsoft JhengHei"/>
              </a:rPr>
              <a:t>三項主要不足</a:t>
            </a:r>
          </a:p>
          <a:p>
            <a:pPr algn="l">
              <a:lnSpc>
                <a:spcPct val="120000"/>
              </a:lnSpc>
              <a:spcAft>
                <a:spcPts val="1100"/>
              </a:spcAft>
            </a:pPr>
            <a:r>
              <a:rPr sz="1300" b="1" i="0">
                <a:solidFill>
                  <a:srgbClr val="C8922E"/>
                </a:solidFill>
                <a:latin typeface="Microsoft JhengHei"/>
                <a:ea typeface="Microsoft JhengHei"/>
                <a:cs typeface="Microsoft JhengHei"/>
              </a:rPr>
              <a:t>▪  </a:t>
            </a:r>
            <a:r>
              <a:rPr sz="1300" b="0" i="0">
                <a:solidFill>
                  <a:srgbClr val="3D4D5A"/>
                </a:solidFill>
                <a:latin typeface="Microsoft JhengHei"/>
                <a:ea typeface="Microsoft JhengHei"/>
                <a:cs typeface="Microsoft JhengHei"/>
              </a:rPr>
              <a:t>量化研究問題</a:t>
            </a:r>
          </a:p>
          <a:p>
            <a:pPr algn="l">
              <a:lnSpc>
                <a:spcPct val="120000"/>
              </a:lnSpc>
              <a:spcAft>
                <a:spcPts val="1100"/>
              </a:spcAft>
            </a:pPr>
            <a:r>
              <a:rPr sz="1300" b="1" i="0">
                <a:solidFill>
                  <a:srgbClr val="C8922E"/>
                </a:solidFill>
                <a:latin typeface="Microsoft JhengHei"/>
                <a:ea typeface="Microsoft JhengHei"/>
                <a:cs typeface="Microsoft JhengHei"/>
              </a:rPr>
              <a:t>▪  </a:t>
            </a:r>
            <a:r>
              <a:rPr sz="1300" b="0" i="0">
                <a:solidFill>
                  <a:srgbClr val="3D4D5A"/>
                </a:solidFill>
                <a:latin typeface="Microsoft JhengHei"/>
                <a:ea typeface="Microsoft JhengHei"/>
                <a:cs typeface="Microsoft JhengHei"/>
              </a:rPr>
              <a:t>量化研究目的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640080" y="6455664"/>
            <a:ext cx="10911535" cy="0"/>
          </a:xfrm>
          <a:prstGeom prst="bentConnector3">
            <a:avLst/>
          </a:prstGeom>
          <a:ln w="9525">
            <a:solidFill>
              <a:srgbClr val="D7E0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640080" y="651052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950" b="0" i="0">
                <a:solidFill>
                  <a:srgbClr val="7C8B97"/>
                </a:solidFill>
                <a:latin typeface="Microsoft JhengHei"/>
                <a:ea typeface="Microsoft JhengHei"/>
                <a:cs typeface="Microsoft JhengHei"/>
              </a:rPr>
              <a:t>海勤人力資源與作業安全決策系統  ·  114-2 巨量資料與雲端運算  第 2 組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20624"/>
            <a:ext cx="109115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200" b="1" i="0">
                <a:solidFill>
                  <a:srgbClr val="C8922E"/>
                </a:solidFill>
                <a:latin typeface="Microsoft JhengHei"/>
                <a:ea typeface="Microsoft JhengHei"/>
                <a:cs typeface="Microsoft JhengHei"/>
              </a:rPr>
              <a:t>研究背景 · 上學期成果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76656"/>
            <a:ext cx="10911535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2500" b="1" i="0">
                <a:solidFill>
                  <a:srgbClr val="1C3D5A"/>
                </a:solidFill>
                <a:latin typeface="Microsoft JhengHei"/>
                <a:ea typeface="Microsoft JhengHei"/>
                <a:cs typeface="Microsoft JhengHei"/>
              </a:rPr>
              <a:t>從「紀錄工具」到「決策工具」的躍遷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40080" y="1417320"/>
            <a:ext cx="566928" cy="0"/>
          </a:xfrm>
          <a:prstGeom prst="bentConnector3">
            <a:avLst/>
          </a:prstGeom>
          <a:ln w="30480">
            <a:solidFill>
              <a:srgbClr val="C892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640080" y="6455664"/>
            <a:ext cx="10911535" cy="0"/>
          </a:xfrm>
          <a:prstGeom prst="bentConnector3">
            <a:avLst/>
          </a:prstGeom>
          <a:ln w="9525">
            <a:solidFill>
              <a:srgbClr val="D7E0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40080" y="651052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950" b="0" i="0">
                <a:solidFill>
                  <a:srgbClr val="7C8B97"/>
                </a:solidFill>
                <a:latin typeface="Microsoft JhengHei"/>
                <a:ea typeface="Microsoft JhengHei"/>
                <a:cs typeface="Microsoft JhengHei"/>
              </a:rPr>
              <a:t>海勤人力資源與作業安全決策系統  ·  114-2 巨量資料與雲端運算  第 2 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54335" y="6510528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500"/>
              </a:spcAft>
            </a:pPr>
            <a:r>
              <a:rPr sz="950" b="0" i="0">
                <a:solidFill>
                  <a:srgbClr val="7C8B97"/>
                </a:solidFill>
                <a:latin typeface="Consolas"/>
                <a:ea typeface="Microsoft JhengHei"/>
                <a:cs typeface="Consolas"/>
              </a:rPr>
              <a:t>03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874519"/>
            <a:ext cx="5212080" cy="3657600"/>
          </a:xfrm>
          <a:prstGeom prst="roundRect">
            <a:avLst>
              <a:gd name="adj" fmla="val 5000"/>
            </a:avLst>
          </a:prstGeom>
          <a:solidFill>
            <a:srgbClr val="F3F7F9"/>
          </a:solidFill>
          <a:ln w="9525">
            <a:solidFill>
              <a:srgbClr val="D7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057400"/>
            <a:ext cx="4663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500" b="1" i="0">
                <a:solidFill>
                  <a:srgbClr val="1C3D5A"/>
                </a:solidFill>
                <a:latin typeface="Microsoft JhengHei"/>
                <a:ea typeface="Microsoft JhengHei"/>
                <a:cs typeface="Microsoft JhengHei"/>
              </a:rPr>
              <a:t>114-1 已完成（PHP + MySQL 雛形）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914400" y="2468880"/>
            <a:ext cx="4663440" cy="0"/>
          </a:xfrm>
          <a:prstGeom prst="bentConnector3">
            <a:avLst/>
          </a:prstGeom>
          <a:ln w="12700">
            <a:solidFill>
              <a:srgbClr val="C5D2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914400" y="2606040"/>
            <a:ext cx="4663440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1200"/>
              </a:spcAft>
            </a:pPr>
            <a:r>
              <a:rPr sz="1300" b="1" i="0">
                <a:solidFill>
                  <a:srgbClr val="4E8C8A"/>
                </a:solidFill>
                <a:latin typeface="Microsoft JhengHei"/>
                <a:ea typeface="Microsoft JhengHei"/>
                <a:cs typeface="Microsoft JhengHei"/>
              </a:rPr>
              <a:t>▪  </a:t>
            </a:r>
            <a:r>
              <a:rPr sz="1300" b="0" i="0">
                <a:solidFill>
                  <a:srgbClr val="3D4D5A"/>
                </a:solidFill>
                <a:latin typeface="Microsoft JhengHei"/>
                <a:ea typeface="Microsoft JhengHei"/>
                <a:cs typeface="Microsoft JhengHei"/>
              </a:rPr>
              <a:t>登入認證與 Session 管理</a:t>
            </a:r>
          </a:p>
          <a:p>
            <a:pPr algn="l">
              <a:lnSpc>
                <a:spcPct val="120000"/>
              </a:lnSpc>
              <a:spcAft>
                <a:spcPts val="1200"/>
              </a:spcAft>
            </a:pPr>
            <a:r>
              <a:rPr sz="1300" b="1" i="0">
                <a:solidFill>
                  <a:srgbClr val="4E8C8A"/>
                </a:solidFill>
                <a:latin typeface="Microsoft JhengHei"/>
                <a:ea typeface="Microsoft JhengHei"/>
                <a:cs typeface="Microsoft JhengHei"/>
              </a:rPr>
              <a:t>▪  </a:t>
            </a:r>
            <a:r>
              <a:rPr sz="1300" b="0" i="0">
                <a:solidFill>
                  <a:srgbClr val="3D4D5A"/>
                </a:solidFill>
                <a:latin typeface="Microsoft JhengHei"/>
                <a:ea typeface="Microsoft JhengHei"/>
                <a:cs typeface="Microsoft JhengHei"/>
              </a:rPr>
              <a:t>值勤打卡（上 / 下勤）</a:t>
            </a:r>
          </a:p>
          <a:p>
            <a:pPr algn="l">
              <a:lnSpc>
                <a:spcPct val="120000"/>
              </a:lnSpc>
              <a:spcAft>
                <a:spcPts val="1200"/>
              </a:spcAft>
            </a:pPr>
            <a:r>
              <a:rPr sz="1300" b="1" i="0">
                <a:solidFill>
                  <a:srgbClr val="4E8C8A"/>
                </a:solidFill>
                <a:latin typeface="Microsoft JhengHei"/>
                <a:ea typeface="Microsoft JhengHei"/>
                <a:cs typeface="Microsoft JhengHei"/>
              </a:rPr>
              <a:t>▪  </a:t>
            </a:r>
            <a:r>
              <a:rPr sz="1300" b="0" i="0">
                <a:solidFill>
                  <a:srgbClr val="3D4D5A"/>
                </a:solidFill>
                <a:latin typeface="Microsoft JhengHei"/>
                <a:ea typeface="Microsoft JhengHei"/>
                <a:cs typeface="Microsoft JhengHei"/>
              </a:rPr>
              <a:t>請假申請與審核流程</a:t>
            </a:r>
          </a:p>
          <a:p>
            <a:pPr algn="l">
              <a:lnSpc>
                <a:spcPct val="120000"/>
              </a:lnSpc>
              <a:spcAft>
                <a:spcPts val="1200"/>
              </a:spcAft>
            </a:pPr>
            <a:r>
              <a:rPr sz="1300" b="1" i="0">
                <a:solidFill>
                  <a:srgbClr val="4E8C8A"/>
                </a:solidFill>
                <a:latin typeface="Microsoft JhengHei"/>
                <a:ea typeface="Microsoft JhengHei"/>
                <a:cs typeface="Microsoft JhengHei"/>
              </a:rPr>
              <a:t>▪  </a:t>
            </a:r>
            <a:r>
              <a:rPr sz="1300" b="0" i="0">
                <a:solidFill>
                  <a:srgbClr val="3D4D5A"/>
                </a:solidFill>
                <a:latin typeface="Microsoft JhengHei"/>
                <a:ea typeface="Microsoft JhengHei"/>
                <a:cs typeface="Microsoft JhengHei"/>
              </a:rPr>
              <a:t>三層級權限（老闆 / 管理員 / 員工）</a:t>
            </a:r>
          </a:p>
          <a:p>
            <a:pPr algn="l">
              <a:lnSpc>
                <a:spcPct val="120000"/>
              </a:lnSpc>
              <a:spcAft>
                <a:spcPts val="1200"/>
              </a:spcAft>
            </a:pPr>
            <a:r>
              <a:rPr sz="1300" b="1" i="0">
                <a:solidFill>
                  <a:srgbClr val="4E8C8A"/>
                </a:solidFill>
                <a:latin typeface="Microsoft JhengHei"/>
                <a:ea typeface="Microsoft JhengHei"/>
                <a:cs typeface="Microsoft JhengHei"/>
              </a:rPr>
              <a:t>▪  </a:t>
            </a:r>
            <a:r>
              <a:rPr sz="1300" b="0" i="0">
                <a:solidFill>
                  <a:srgbClr val="3D4D5A"/>
                </a:solidFill>
                <a:latin typeface="Microsoft JhengHei"/>
                <a:ea typeface="Microsoft JhengHei"/>
                <a:cs typeface="Microsoft JhengHei"/>
              </a:rPr>
              <a:t>共 22 個 PHP 檔案，運行於 XAMPP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09360" y="1874519"/>
            <a:ext cx="524225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500" b="1" i="0">
                <a:solidFill>
                  <a:srgbClr val="BC5B41"/>
                </a:solidFill>
                <a:latin typeface="Microsoft JhengHei"/>
                <a:ea typeface="Microsoft JhengHei"/>
                <a:cs typeface="Microsoft JhengHei"/>
              </a:rPr>
              <a:t>三項主要不足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09360" y="2331720"/>
            <a:ext cx="5242255" cy="914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7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09360" y="2331720"/>
            <a:ext cx="73152" cy="914400"/>
          </a:xfrm>
          <a:prstGeom prst="rect">
            <a:avLst/>
          </a:prstGeom>
          <a:solidFill>
            <a:srgbClr val="BC5B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37960" y="2441448"/>
            <a:ext cx="483077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350" b="1" i="0">
                <a:solidFill>
                  <a:srgbClr val="1C3D5A"/>
                </a:solidFill>
                <a:latin typeface="Microsoft JhengHei"/>
                <a:ea typeface="Microsoft JhengHei"/>
                <a:cs typeface="Microsoft JhengHei"/>
              </a:rPr>
              <a:t>1　部署侷限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37960" y="2788920"/>
            <a:ext cx="4830775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500"/>
              </a:spcAft>
            </a:pPr>
            <a:r>
              <a:rPr sz="1150" b="0" i="0">
                <a:solidFill>
                  <a:srgbClr val="3D4D5A"/>
                </a:solidFill>
                <a:latin typeface="Microsoft JhengHei"/>
                <a:ea typeface="Microsoft JhengHei"/>
                <a:cs typeface="Microsoft JhengHei"/>
              </a:rPr>
              <a:t>強依賴 Windows + XAMPP，無法跨平台移轉，不符雲端運維。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09360" y="3410712"/>
            <a:ext cx="5242255" cy="914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7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309360" y="3410712"/>
            <a:ext cx="73152" cy="914400"/>
          </a:xfrm>
          <a:prstGeom prst="rect">
            <a:avLst/>
          </a:prstGeom>
          <a:solidFill>
            <a:srgbClr val="BC5B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37960" y="3520440"/>
            <a:ext cx="483077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350" b="1" i="0">
                <a:solidFill>
                  <a:srgbClr val="1C3D5A"/>
                </a:solidFill>
                <a:latin typeface="Microsoft JhengHei"/>
                <a:ea typeface="Microsoft JhengHei"/>
                <a:cs typeface="Microsoft JhengHei"/>
              </a:rPr>
              <a:t>2　缺乏分析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37960" y="3867912"/>
            <a:ext cx="4830775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500"/>
              </a:spcAft>
            </a:pPr>
            <a:r>
              <a:rPr sz="1150" b="0" i="0">
                <a:solidFill>
                  <a:srgbClr val="3D4D5A"/>
                </a:solidFill>
                <a:latin typeface="Microsoft JhengHei"/>
                <a:ea typeface="Microsoft JhengHei"/>
                <a:cs typeface="Microsoft JhengHei"/>
              </a:rPr>
              <a:t>累積 1,200 筆紀錄卻產出 0 張圖表，管理層無從掌握趨勢。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09360" y="4489704"/>
            <a:ext cx="5242255" cy="914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7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09360" y="4489704"/>
            <a:ext cx="73152" cy="914400"/>
          </a:xfrm>
          <a:prstGeom prst="rect">
            <a:avLst/>
          </a:prstGeom>
          <a:solidFill>
            <a:srgbClr val="BC5B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37960" y="4599432"/>
            <a:ext cx="483077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350" b="1" i="0">
                <a:solidFill>
                  <a:srgbClr val="1C3D5A"/>
                </a:solidFill>
                <a:latin typeface="Microsoft JhengHei"/>
                <a:ea typeface="Microsoft JhengHei"/>
                <a:cs typeface="Microsoft JhengHei"/>
              </a:rPr>
              <a:t>3　業務特性不足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37960" y="4946904"/>
            <a:ext cx="4830775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500"/>
              </a:spcAft>
            </a:pPr>
            <a:r>
              <a:rPr sz="1150" b="0" i="0">
                <a:solidFill>
                  <a:srgbClr val="3D4D5A"/>
                </a:solidFill>
                <a:latin typeface="Microsoft JhengHei"/>
                <a:ea typeface="Microsoft JhengHei"/>
                <a:cs typeface="Microsoft JhengHei"/>
              </a:rPr>
              <a:t>通用打卡 schema，未反映海域 / 海況 / 船艦等海事維度。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20624"/>
            <a:ext cx="109115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200" b="1" i="0">
                <a:solidFill>
                  <a:srgbClr val="C8922E"/>
                </a:solidFill>
                <a:latin typeface="Microsoft JhengHei"/>
                <a:ea typeface="Microsoft JhengHei"/>
                <a:cs typeface="Microsoft JhengHei"/>
              </a:rPr>
              <a:t>研究背景 · 研究問題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76656"/>
            <a:ext cx="10911535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2500" b="1" i="0">
                <a:solidFill>
                  <a:srgbClr val="1C3D5A"/>
                </a:solidFill>
                <a:latin typeface="Microsoft JhengHei"/>
                <a:ea typeface="Microsoft JhengHei"/>
                <a:cs typeface="Microsoft JhengHei"/>
              </a:rPr>
              <a:t>三個可量化的問題，對應三個明確目標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40080" y="1417320"/>
            <a:ext cx="566928" cy="0"/>
          </a:xfrm>
          <a:prstGeom prst="bentConnector3">
            <a:avLst/>
          </a:prstGeom>
          <a:ln w="30480">
            <a:solidFill>
              <a:srgbClr val="C892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640080" y="6455664"/>
            <a:ext cx="10911535" cy="0"/>
          </a:xfrm>
          <a:prstGeom prst="bentConnector3">
            <a:avLst/>
          </a:prstGeom>
          <a:ln w="9525">
            <a:solidFill>
              <a:srgbClr val="D7E0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40080" y="651052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950" b="0" i="0">
                <a:solidFill>
                  <a:srgbClr val="7C8B97"/>
                </a:solidFill>
                <a:latin typeface="Microsoft JhengHei"/>
                <a:ea typeface="Microsoft JhengHei"/>
                <a:cs typeface="Microsoft JhengHei"/>
              </a:rPr>
              <a:t>海勤人力資源與作業安全決策系統  ·  114-2 巨量資料與雲端運算  第 2 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54335" y="6510528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500"/>
              </a:spcAft>
            </a:pPr>
            <a:r>
              <a:rPr sz="950" b="0" i="0">
                <a:solidFill>
                  <a:srgbClr val="7C8B97"/>
                </a:solidFill>
                <a:latin typeface="Consolas"/>
                <a:ea typeface="Microsoft JhengHei"/>
                <a:cs typeface="Consolas"/>
              </a:rPr>
              <a:t>04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965960"/>
            <a:ext cx="10911535" cy="1143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7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1965960"/>
            <a:ext cx="1051560" cy="1143000"/>
          </a:xfrm>
          <a:prstGeom prst="rect">
            <a:avLst/>
          </a:prstGeom>
          <a:solidFill>
            <a:srgbClr val="1C3D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965960"/>
            <a:ext cx="1051560" cy="114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  <a:spcAft>
                <a:spcPts val="500"/>
              </a:spcAft>
            </a:pPr>
            <a:r>
              <a:rPr sz="3000" b="1" i="0">
                <a:solidFill>
                  <a:srgbClr val="FFFFFF"/>
                </a:solidFill>
                <a:latin typeface="Consolas"/>
                <a:ea typeface="Microsoft JhengHei"/>
                <a:cs typeface="Consolas"/>
              </a:rPr>
              <a:t>Q1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20240" y="2112264"/>
            <a:ext cx="935705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500" b="1" i="0">
                <a:solidFill>
                  <a:srgbClr val="1C3D5A"/>
                </a:solidFill>
                <a:latin typeface="Microsoft JhengHei"/>
                <a:ea typeface="Microsoft JhengHei"/>
                <a:cs typeface="Microsoft JhengHei"/>
              </a:rPr>
              <a:t>環境不可重現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920240" y="2496312"/>
            <a:ext cx="935705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250" b="0" i="0">
                <a:solidFill>
                  <a:srgbClr val="3D4D5A"/>
                </a:solidFill>
                <a:latin typeface="Microsoft JhengHei"/>
                <a:ea typeface="Microsoft JhengHei"/>
                <a:cs typeface="Microsoft JhengHei"/>
              </a:rPr>
              <a:t>原系統綁定 Windows + XAMPP，移轉新主機須手動安裝 Apache / PHP / MySQL 至少 3 套軟體，組態不可重現，異常時無法快速復原。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291840"/>
            <a:ext cx="10911535" cy="1143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7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40080" y="3291840"/>
            <a:ext cx="1051560" cy="1143000"/>
          </a:xfrm>
          <a:prstGeom prst="rect">
            <a:avLst/>
          </a:prstGeom>
          <a:solidFill>
            <a:srgbClr val="1C3D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3291840"/>
            <a:ext cx="1051560" cy="114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  <a:spcAft>
                <a:spcPts val="500"/>
              </a:spcAft>
            </a:pPr>
            <a:r>
              <a:rPr sz="3000" b="1" i="0">
                <a:solidFill>
                  <a:srgbClr val="FFFFFF"/>
                </a:solidFill>
                <a:latin typeface="Consolas"/>
                <a:ea typeface="Microsoft JhengHei"/>
                <a:cs typeface="Consolas"/>
              </a:rPr>
              <a:t>Q2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920240" y="3438144"/>
            <a:ext cx="935705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500" b="1" i="0">
                <a:solidFill>
                  <a:srgbClr val="1C3D5A"/>
                </a:solidFill>
                <a:latin typeface="Microsoft JhengHei"/>
                <a:ea typeface="Microsoft JhengHei"/>
                <a:cs typeface="Microsoft JhengHei"/>
              </a:rPr>
              <a:t>有資料、無洞察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920240" y="3822192"/>
            <a:ext cx="935705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250" b="0" i="0">
                <a:solidFill>
                  <a:srgbClr val="3D4D5A"/>
                </a:solidFill>
                <a:latin typeface="Microsoft JhengHei"/>
                <a:ea typeface="Microsoft JhengHei"/>
                <a:cs typeface="Microsoft JhengHei"/>
              </a:rPr>
              <a:t>系統累積 1,200 筆值勤紀錄，卻產出 0 張分析圖表；管理層無法掌握工時負荷、海況與值勤量關聯，更無任何預測能力。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4617720"/>
            <a:ext cx="10911535" cy="1143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7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40080" y="4617720"/>
            <a:ext cx="1051560" cy="1143000"/>
          </a:xfrm>
          <a:prstGeom prst="rect">
            <a:avLst/>
          </a:prstGeom>
          <a:solidFill>
            <a:srgbClr val="1C3D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4617720"/>
            <a:ext cx="1051560" cy="114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  <a:spcAft>
                <a:spcPts val="500"/>
              </a:spcAft>
            </a:pPr>
            <a:r>
              <a:rPr sz="3000" b="1" i="0">
                <a:solidFill>
                  <a:srgbClr val="FFFFFF"/>
                </a:solidFill>
                <a:latin typeface="Consolas"/>
                <a:ea typeface="Microsoft JhengHei"/>
                <a:cs typeface="Consolas"/>
              </a:rPr>
              <a:t>Q3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920240" y="4764024"/>
            <a:ext cx="935705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500" b="1" i="0">
                <a:solidFill>
                  <a:srgbClr val="1C3D5A"/>
                </a:solidFill>
                <a:latin typeface="Microsoft JhengHei"/>
                <a:ea typeface="Microsoft JhengHei"/>
                <a:cs typeface="Microsoft JhengHei"/>
              </a:rPr>
              <a:t>排班全憑經驗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920240" y="5148072"/>
            <a:ext cx="935705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250" b="0" i="0">
                <a:solidFill>
                  <a:srgbClr val="3D4D5A"/>
                </a:solidFill>
                <a:latin typeface="Microsoft JhengHei"/>
                <a:ea typeface="Microsoft JhengHei"/>
                <a:cs typeface="Microsoft JhengHei"/>
              </a:rPr>
              <a:t>排班未納入海況風險、人員疲勞、工時公平、船艦維護等至少 4 項決策因子，惡劣海況時段無法系統性縮減外海派遣員額。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20624"/>
            <a:ext cx="109115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200" b="1" i="0">
                <a:solidFill>
                  <a:srgbClr val="C8922E"/>
                </a:solidFill>
                <a:latin typeface="Microsoft JhengHei"/>
                <a:ea typeface="Microsoft JhengHei"/>
                <a:cs typeface="Microsoft JhengHei"/>
              </a:rPr>
              <a:t>研究背景 · 研究目的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76656"/>
            <a:ext cx="10911535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2500" b="1" i="0">
                <a:solidFill>
                  <a:srgbClr val="1C3D5A"/>
                </a:solidFill>
                <a:latin typeface="Microsoft JhengHei"/>
                <a:ea typeface="Microsoft JhengHei"/>
                <a:cs typeface="Microsoft JhengHei"/>
              </a:rPr>
              <a:t>對應問題設定三項可驗證的量化目標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40080" y="1417320"/>
            <a:ext cx="566928" cy="0"/>
          </a:xfrm>
          <a:prstGeom prst="bentConnector3">
            <a:avLst/>
          </a:prstGeom>
          <a:ln w="30480">
            <a:solidFill>
              <a:srgbClr val="C892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640080" y="6455664"/>
            <a:ext cx="10911535" cy="0"/>
          </a:xfrm>
          <a:prstGeom prst="bentConnector3">
            <a:avLst/>
          </a:prstGeom>
          <a:ln w="9525">
            <a:solidFill>
              <a:srgbClr val="D7E0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40080" y="651052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950" b="0" i="0">
                <a:solidFill>
                  <a:srgbClr val="7C8B97"/>
                </a:solidFill>
                <a:latin typeface="Microsoft JhengHei"/>
                <a:ea typeface="Microsoft JhengHei"/>
                <a:cs typeface="Microsoft JhengHei"/>
              </a:rPr>
              <a:t>海勤人力資源與作業安全決策系統  ·  114-2 巨量資料與雲端運算  第 2 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54335" y="6510528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500"/>
              </a:spcAft>
            </a:pPr>
            <a:r>
              <a:rPr sz="950" b="0" i="0">
                <a:solidFill>
                  <a:srgbClr val="7C8B97"/>
                </a:solidFill>
                <a:latin typeface="Consolas"/>
                <a:ea typeface="Microsoft JhengHei"/>
                <a:cs typeface="Consolas"/>
              </a:rPr>
              <a:t>05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965960"/>
            <a:ext cx="3423818" cy="3383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7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1965960"/>
            <a:ext cx="3423818" cy="64008"/>
          </a:xfrm>
          <a:prstGeom prst="rect">
            <a:avLst/>
          </a:prstGeom>
          <a:solidFill>
            <a:srgbClr val="C892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2240280"/>
            <a:ext cx="296661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200" b="1" i="0">
                <a:solidFill>
                  <a:srgbClr val="C8922E"/>
                </a:solidFill>
                <a:latin typeface="Consolas"/>
                <a:ea typeface="Microsoft JhengHei"/>
                <a:cs typeface="Consolas"/>
              </a:rPr>
              <a:t>目標 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2606040"/>
            <a:ext cx="296661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600" b="1" i="0">
                <a:solidFill>
                  <a:srgbClr val="1C3D5A"/>
                </a:solidFill>
                <a:latin typeface="Microsoft JhengHei"/>
                <a:ea typeface="Microsoft JhengHei"/>
                <a:cs typeface="Microsoft JhengHei"/>
              </a:rPr>
              <a:t>跨平台容器化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868680.0" y="3108960"/>
            <a:ext cx="2966618.3333333335" cy="0"/>
          </a:xfrm>
          <a:prstGeom prst="bentConnector3">
            <a:avLst/>
          </a:prstGeom>
          <a:ln w="12700">
            <a:solidFill>
              <a:srgbClr val="D7E0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868680" y="3246120"/>
            <a:ext cx="2966618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500"/>
              </a:spcAft>
            </a:pPr>
            <a:r>
              <a:rPr sz="1250" b="0" i="0">
                <a:solidFill>
                  <a:srgbClr val="3D4D5A"/>
                </a:solidFill>
                <a:latin typeface="Microsoft JhengHei"/>
                <a:ea typeface="Microsoft JhengHei"/>
                <a:cs typeface="Microsoft JhengHei"/>
              </a:rPr>
              <a:t>docker compose up 單一指令完成 web / db / analysis 三容器部署，啟動 &lt; 60 秒，異常可一鍵重建。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68680" y="4892040"/>
            <a:ext cx="1188720" cy="310896"/>
          </a:xfrm>
          <a:prstGeom prst="roundRect">
            <a:avLst>
              <a:gd name="adj" fmla="val 30000"/>
            </a:avLst>
          </a:prstGeom>
          <a:solidFill>
            <a:srgbClr val="E9F0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4892040"/>
            <a:ext cx="118872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  <a:spcAft>
                <a:spcPts val="500"/>
              </a:spcAft>
            </a:pPr>
            <a:r>
              <a:rPr sz="1100" b="1" i="0">
                <a:solidFill>
                  <a:srgbClr val="34506A"/>
                </a:solidFill>
                <a:latin typeface="Microsoft JhengHei"/>
                <a:ea typeface="Microsoft JhengHei"/>
                <a:cs typeface="Microsoft JhengHei"/>
              </a:rPr>
              <a:t>對應 Q1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83938" y="1965960"/>
            <a:ext cx="3423818" cy="3383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7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383938" y="1965960"/>
            <a:ext cx="3423818" cy="64008"/>
          </a:xfrm>
          <a:prstGeom prst="rect">
            <a:avLst/>
          </a:prstGeom>
          <a:solidFill>
            <a:srgbClr val="C892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612538" y="2240280"/>
            <a:ext cx="296661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200" b="1" i="0">
                <a:solidFill>
                  <a:srgbClr val="C8922E"/>
                </a:solidFill>
                <a:latin typeface="Consolas"/>
                <a:ea typeface="Microsoft JhengHei"/>
                <a:cs typeface="Consolas"/>
              </a:rPr>
              <a:t>目標 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12538" y="2606040"/>
            <a:ext cx="296661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600" b="1" i="0">
                <a:solidFill>
                  <a:srgbClr val="1C3D5A"/>
                </a:solidFill>
                <a:latin typeface="Microsoft JhengHei"/>
                <a:ea typeface="Microsoft JhengHei"/>
                <a:cs typeface="Microsoft JhengHei"/>
              </a:rPr>
              <a:t>資料分析能力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4612538.333333334" y="3108960"/>
            <a:ext cx="2966618.333333334" cy="0"/>
          </a:xfrm>
          <a:prstGeom prst="bentConnector3">
            <a:avLst/>
          </a:prstGeom>
          <a:ln w="12700">
            <a:solidFill>
              <a:srgbClr val="D7E0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4612538" y="3246120"/>
            <a:ext cx="2966618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500"/>
              </a:spcAft>
            </a:pPr>
            <a:r>
              <a:rPr sz="1250" b="0" i="0">
                <a:solidFill>
                  <a:srgbClr val="3D4D5A"/>
                </a:solidFill>
                <a:latin typeface="Microsoft JhengHei"/>
                <a:ea typeface="Microsoft JhengHei"/>
                <a:cs typeface="Microsoft JhengHei"/>
              </a:rPr>
              <a:t>Pandas 清洗 1,200 筆值勤 + 736 筆海象，產出 25 張涵蓋描述統計、檢定、預測、ML 的圖表，並附 Gradio 互動。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612538" y="4892040"/>
            <a:ext cx="1188720" cy="310896"/>
          </a:xfrm>
          <a:prstGeom prst="roundRect">
            <a:avLst>
              <a:gd name="adj" fmla="val 30000"/>
            </a:avLst>
          </a:prstGeom>
          <a:solidFill>
            <a:srgbClr val="E9F0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612538" y="4892040"/>
            <a:ext cx="118872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  <a:spcAft>
                <a:spcPts val="500"/>
              </a:spcAft>
            </a:pPr>
            <a:r>
              <a:rPr sz="1100" b="1" i="0">
                <a:solidFill>
                  <a:srgbClr val="34506A"/>
                </a:solidFill>
                <a:latin typeface="Microsoft JhengHei"/>
                <a:ea typeface="Microsoft JhengHei"/>
                <a:cs typeface="Microsoft JhengHei"/>
              </a:rPr>
              <a:t>對應 Q2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127796" y="1965960"/>
            <a:ext cx="3423818" cy="3383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7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127796" y="1965960"/>
            <a:ext cx="3423818" cy="64008"/>
          </a:xfrm>
          <a:prstGeom prst="rect">
            <a:avLst/>
          </a:prstGeom>
          <a:solidFill>
            <a:srgbClr val="C892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356396" y="2240280"/>
            <a:ext cx="296661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200" b="1" i="0">
                <a:solidFill>
                  <a:srgbClr val="C8922E"/>
                </a:solidFill>
                <a:latin typeface="Consolas"/>
                <a:ea typeface="Microsoft JhengHei"/>
                <a:cs typeface="Consolas"/>
              </a:rPr>
              <a:t>目標 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56396" y="2606040"/>
            <a:ext cx="296661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600" b="1" i="0">
                <a:solidFill>
                  <a:srgbClr val="1C3D5A"/>
                </a:solidFill>
                <a:latin typeface="Microsoft JhengHei"/>
                <a:ea typeface="Microsoft JhengHei"/>
                <a:cs typeface="Microsoft JhengHei"/>
              </a:rPr>
              <a:t>自動排班決策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8356396.666666667" y="3108960"/>
            <a:ext cx="2966618.333333333" cy="0"/>
          </a:xfrm>
          <a:prstGeom prst="bentConnector3">
            <a:avLst/>
          </a:prstGeom>
          <a:ln w="12700">
            <a:solidFill>
              <a:srgbClr val="D7E0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8356396" y="3246120"/>
            <a:ext cx="2966618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500"/>
              </a:spcAft>
            </a:pPr>
            <a:r>
              <a:rPr sz="1250" b="0" i="0">
                <a:solidFill>
                  <a:srgbClr val="3D4D5A"/>
                </a:solidFill>
                <a:latin typeface="Microsoft JhengHei"/>
                <a:ea typeface="Microsoft JhengHei"/>
                <a:cs typeface="Microsoft JhengHei"/>
              </a:rPr>
              <a:t>build_schedule() 綜合 ML 海況預測、疲勞指數、外海暴露公平、船艦可用性 4 項輸入，自動產出明日具名班表。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356396" y="4892040"/>
            <a:ext cx="1188720" cy="310896"/>
          </a:xfrm>
          <a:prstGeom prst="roundRect">
            <a:avLst>
              <a:gd name="adj" fmla="val 30000"/>
            </a:avLst>
          </a:prstGeom>
          <a:solidFill>
            <a:srgbClr val="E9F0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356396" y="4892040"/>
            <a:ext cx="118872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  <a:spcAft>
                <a:spcPts val="500"/>
              </a:spcAft>
            </a:pPr>
            <a:r>
              <a:rPr sz="1100" b="1" i="0">
                <a:solidFill>
                  <a:srgbClr val="34506A"/>
                </a:solidFill>
                <a:latin typeface="Microsoft JhengHei"/>
                <a:ea typeface="Microsoft JhengHei"/>
                <a:cs typeface="Microsoft JhengHei"/>
              </a:rPr>
              <a:t>對應 Q3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C3D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822960"/>
            <a:ext cx="4572000" cy="2926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20000" b="1" i="0">
                <a:solidFill>
                  <a:srgbClr val="E9F0F4"/>
                </a:solidFill>
                <a:latin typeface="Consolas"/>
                <a:ea typeface="Microsoft JhengHei"/>
                <a:cs typeface="Consolas"/>
              </a:rP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2788920"/>
            <a:ext cx="64008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300" b="1" i="0">
                <a:solidFill>
                  <a:srgbClr val="C8922E"/>
                </a:solidFill>
                <a:latin typeface="Consolas"/>
                <a:ea typeface="Microsoft JhengHei"/>
                <a:cs typeface="Consolas"/>
              </a:rPr>
              <a:t>SECTION 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3108960"/>
            <a:ext cx="77724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3600" b="1" i="0">
                <a:solidFill>
                  <a:srgbClr val="1C3D5A"/>
                </a:solidFill>
                <a:latin typeface="Microsoft JhengHei"/>
                <a:ea typeface="Microsoft JhengHei"/>
                <a:cs typeface="Microsoft JhengHei"/>
              </a:rPr>
              <a:t>系統架構與部署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4069080"/>
            <a:ext cx="7772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500" b="0" i="0">
                <a:solidFill>
                  <a:srgbClr val="7C8B97"/>
                </a:solidFill>
                <a:latin typeface="Consolas"/>
                <a:ea typeface="Microsoft JhengHei"/>
                <a:cs typeface="Consolas"/>
              </a:rPr>
              <a:t>Architecture &amp; Deployment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886968" y="3931920"/>
            <a:ext cx="2743200" cy="0"/>
          </a:xfrm>
          <a:prstGeom prst="bentConnector3">
            <a:avLst/>
          </a:prstGeom>
          <a:ln w="30480">
            <a:solidFill>
              <a:srgbClr val="C892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7955279" y="1371600"/>
            <a:ext cx="36576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200" b="1" i="0">
                <a:solidFill>
                  <a:srgbClr val="C8922E"/>
                </a:solidFill>
                <a:latin typeface="Microsoft JhengHei"/>
                <a:ea typeface="Microsoft JhengHei"/>
                <a:cs typeface="Microsoft JhengHei"/>
              </a:rPr>
              <a:t>本章內容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955279" y="1700784"/>
            <a:ext cx="3657600" cy="0"/>
          </a:xfrm>
          <a:prstGeom prst="bentConnector3">
            <a:avLst/>
          </a:prstGeom>
          <a:ln w="12700">
            <a:solidFill>
              <a:srgbClr val="D7E0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7955279" y="1865376"/>
            <a:ext cx="3657600" cy="4114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1100"/>
              </a:spcAft>
            </a:pPr>
            <a:r>
              <a:rPr sz="1300" b="1" i="0">
                <a:solidFill>
                  <a:srgbClr val="C8922E"/>
                </a:solidFill>
                <a:latin typeface="Microsoft JhengHei"/>
                <a:ea typeface="Microsoft JhengHei"/>
                <a:cs typeface="Microsoft JhengHei"/>
              </a:rPr>
              <a:t>▪  </a:t>
            </a:r>
            <a:r>
              <a:rPr sz="1300" b="0" i="0">
                <a:solidFill>
                  <a:srgbClr val="3D4D5A"/>
                </a:solidFill>
                <a:latin typeface="Microsoft JhengHei"/>
                <a:ea typeface="Microsoft JhengHei"/>
                <a:cs typeface="Microsoft JhengHei"/>
              </a:rPr>
              <a:t>Docker 三容器架構</a:t>
            </a:r>
          </a:p>
          <a:p>
            <a:pPr algn="l">
              <a:lnSpc>
                <a:spcPct val="120000"/>
              </a:lnSpc>
              <a:spcAft>
                <a:spcPts val="1100"/>
              </a:spcAft>
            </a:pPr>
            <a:r>
              <a:rPr sz="1300" b="1" i="0">
                <a:solidFill>
                  <a:srgbClr val="C8922E"/>
                </a:solidFill>
                <a:latin typeface="Microsoft JhengHei"/>
                <a:ea typeface="Microsoft JhengHei"/>
                <a:cs typeface="Microsoft JhengHei"/>
              </a:rPr>
              <a:t>▪  </a:t>
            </a:r>
            <a:r>
              <a:rPr sz="1300" b="0" i="0">
                <a:solidFill>
                  <a:srgbClr val="3D4D5A"/>
                </a:solidFill>
                <a:latin typeface="Microsoft JhengHei"/>
                <a:ea typeface="Microsoft JhengHei"/>
                <a:cs typeface="Microsoft JhengHei"/>
              </a:rPr>
              <a:t>技術選型理由</a:t>
            </a:r>
          </a:p>
          <a:p>
            <a:pPr algn="l">
              <a:lnSpc>
                <a:spcPct val="120000"/>
              </a:lnSpc>
              <a:spcAft>
                <a:spcPts val="1100"/>
              </a:spcAft>
            </a:pPr>
            <a:r>
              <a:rPr sz="1300" b="1" i="0">
                <a:solidFill>
                  <a:srgbClr val="C8922E"/>
                </a:solidFill>
                <a:latin typeface="Microsoft JhengHei"/>
                <a:ea typeface="Microsoft JhengHei"/>
                <a:cs typeface="Microsoft JhengHei"/>
              </a:rPr>
              <a:t>▪  </a:t>
            </a:r>
            <a:r>
              <a:rPr sz="1300" b="0" i="0">
                <a:solidFill>
                  <a:srgbClr val="3D4D5A"/>
                </a:solidFill>
                <a:latin typeface="Microsoft JhengHei"/>
                <a:ea typeface="Microsoft JhengHei"/>
                <a:cs typeface="Microsoft JhengHei"/>
              </a:rPr>
              <a:t>一鍵部署流程</a:t>
            </a:r>
          </a:p>
          <a:p>
            <a:pPr algn="l">
              <a:lnSpc>
                <a:spcPct val="120000"/>
              </a:lnSpc>
              <a:spcAft>
                <a:spcPts val="1100"/>
              </a:spcAft>
            </a:pPr>
            <a:r>
              <a:rPr sz="1300" b="1" i="0">
                <a:solidFill>
                  <a:srgbClr val="C8922E"/>
                </a:solidFill>
                <a:latin typeface="Microsoft JhengHei"/>
                <a:ea typeface="Microsoft JhengHei"/>
                <a:cs typeface="Microsoft JhengHei"/>
              </a:rPr>
              <a:t>▪  </a:t>
            </a:r>
            <a:r>
              <a:rPr sz="1300" b="0" i="0">
                <a:solidFill>
                  <a:srgbClr val="3D4D5A"/>
                </a:solidFill>
                <a:latin typeface="Microsoft JhengHei"/>
                <a:ea typeface="Microsoft JhengHei"/>
                <a:cs typeface="Microsoft JhengHei"/>
              </a:rPr>
              <a:t>資料處理管線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640080" y="6455664"/>
            <a:ext cx="10911535" cy="0"/>
          </a:xfrm>
          <a:prstGeom prst="bentConnector3">
            <a:avLst/>
          </a:prstGeom>
          <a:ln w="9525">
            <a:solidFill>
              <a:srgbClr val="D7E0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640080" y="651052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950" b="0" i="0">
                <a:solidFill>
                  <a:srgbClr val="7C8B97"/>
                </a:solidFill>
                <a:latin typeface="Microsoft JhengHei"/>
                <a:ea typeface="Microsoft JhengHei"/>
                <a:cs typeface="Microsoft JhengHei"/>
              </a:rPr>
              <a:t>海勤人力資源與作業安全決策系統  ·  114-2 巨量資料與雲端運算  第 2 組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20624"/>
            <a:ext cx="109115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200" b="1" i="0">
                <a:solidFill>
                  <a:srgbClr val="C8922E"/>
                </a:solidFill>
                <a:latin typeface="Microsoft JhengHei"/>
                <a:ea typeface="Microsoft JhengHei"/>
                <a:cs typeface="Microsoft JhengHei"/>
              </a:rPr>
              <a:t>系統架構 ·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76656"/>
            <a:ext cx="10911535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2500" b="1" i="0">
                <a:solidFill>
                  <a:srgbClr val="1C3D5A"/>
                </a:solidFill>
                <a:latin typeface="Microsoft JhengHei"/>
                <a:ea typeface="Microsoft JhengHei"/>
                <a:cs typeface="Microsoft JhengHei"/>
              </a:rPr>
              <a:t>三容器各司其職，共用網路與資料卷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40080" y="1417320"/>
            <a:ext cx="566928" cy="0"/>
          </a:xfrm>
          <a:prstGeom prst="bentConnector3">
            <a:avLst/>
          </a:prstGeom>
          <a:ln w="30480">
            <a:solidFill>
              <a:srgbClr val="C892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640080" y="6455664"/>
            <a:ext cx="10911535" cy="0"/>
          </a:xfrm>
          <a:prstGeom prst="bentConnector3">
            <a:avLst/>
          </a:prstGeom>
          <a:ln w="9525">
            <a:solidFill>
              <a:srgbClr val="D7E0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40080" y="651052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950" b="0" i="0">
                <a:solidFill>
                  <a:srgbClr val="7C8B97"/>
                </a:solidFill>
                <a:latin typeface="Microsoft JhengHei"/>
                <a:ea typeface="Microsoft JhengHei"/>
                <a:cs typeface="Microsoft JhengHei"/>
              </a:rPr>
              <a:t>海勤人力資源與作業安全決策系統  ·  114-2 巨量資料與雲端運算  第 2 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54335" y="6510528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500"/>
              </a:spcAft>
            </a:pPr>
            <a:r>
              <a:rPr sz="950" b="0" i="0">
                <a:solidFill>
                  <a:srgbClr val="7C8B97"/>
                </a:solidFill>
                <a:latin typeface="Consolas"/>
                <a:ea typeface="Microsoft JhengHei"/>
                <a:cs typeface="Consolas"/>
              </a:rPr>
              <a:t>06</a:t>
            </a:r>
          </a:p>
        </p:txBody>
      </p:sp>
      <p:pic>
        <p:nvPicPr>
          <p:cNvPr id="8" name="Picture 7" descr="fig1_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3306" y="1828800"/>
            <a:ext cx="6842987" cy="4206240"/>
          </a:xfrm>
          <a:prstGeom prst="rect">
            <a:avLst/>
          </a:prstGeom>
          <a:ln w="9525">
            <a:solidFill>
              <a:srgbClr val="C5D2DA"/>
            </a:solidFill>
          </a:ln>
        </p:spPr>
      </p:pic>
      <p:sp>
        <p:nvSpPr>
          <p:cNvPr id="9" name="Rounded Rectangle 8"/>
          <p:cNvSpPr/>
          <p:nvPr/>
        </p:nvSpPr>
        <p:spPr>
          <a:xfrm>
            <a:off x="7863840" y="1828800"/>
            <a:ext cx="3687775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7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863840" y="1828800"/>
            <a:ext cx="73152" cy="1097280"/>
          </a:xfrm>
          <a:prstGeom prst="rect">
            <a:avLst/>
          </a:prstGeom>
          <a:solidFill>
            <a:srgbClr val="1C3D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92440" y="1947672"/>
            <a:ext cx="3322015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500" b="1" i="0">
                <a:solidFill>
                  <a:srgbClr val="1C3D5A"/>
                </a:solidFill>
                <a:latin typeface="Consolas"/>
                <a:ea typeface="Microsoft JhengHei"/>
                <a:cs typeface="Consolas"/>
              </a:rPr>
              <a:t>web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92440" y="2286000"/>
            <a:ext cx="33220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100" b="0" i="0">
                <a:solidFill>
                  <a:srgbClr val="7C8B97"/>
                </a:solidFill>
                <a:latin typeface="Consolas"/>
                <a:ea typeface="Microsoft JhengHei"/>
                <a:cs typeface="Consolas"/>
              </a:rPr>
              <a:t>php:8.2-apache · :8080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92440" y="2560320"/>
            <a:ext cx="3322015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150" b="0" i="0">
                <a:solidFill>
                  <a:srgbClr val="3D4D5A"/>
                </a:solidFill>
                <a:latin typeface="Microsoft JhengHei"/>
                <a:ea typeface="Microsoft JhengHei"/>
                <a:cs typeface="Microsoft JhengHei"/>
              </a:rPr>
              <a:t>22 個 PHP 檔 · 打卡 / 請假 / 排班 / 帳號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863840" y="3063240"/>
            <a:ext cx="3687775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7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863840" y="3063240"/>
            <a:ext cx="73152" cy="1097280"/>
          </a:xfrm>
          <a:prstGeom prst="rect">
            <a:avLst/>
          </a:prstGeom>
          <a:solidFill>
            <a:srgbClr val="3450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092440" y="3182112"/>
            <a:ext cx="3322015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500" b="1" i="0">
                <a:solidFill>
                  <a:srgbClr val="34506A"/>
                </a:solidFill>
                <a:latin typeface="Consolas"/>
                <a:ea typeface="Microsoft JhengHei"/>
                <a:cs typeface="Consolas"/>
              </a:rPr>
              <a:t>db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92440" y="3520440"/>
            <a:ext cx="33220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100" b="0" i="0">
                <a:solidFill>
                  <a:srgbClr val="7C8B97"/>
                </a:solidFill>
                <a:latin typeface="Consolas"/>
                <a:ea typeface="Microsoft JhengHei"/>
                <a:cs typeface="Consolas"/>
              </a:rPr>
              <a:t>mysql:8.0 · 內部網路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92440" y="3794760"/>
            <a:ext cx="3322015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150" b="0" i="0">
                <a:solidFill>
                  <a:srgbClr val="3D4D5A"/>
                </a:solidFill>
                <a:latin typeface="Microsoft JhengHei"/>
                <a:ea typeface="Microsoft JhengHei"/>
                <a:cs typeface="Microsoft JhengHei"/>
              </a:rPr>
              <a:t>4 張資料表 · db_data 卷持久化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863840" y="4297680"/>
            <a:ext cx="3687775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7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863840" y="4297680"/>
            <a:ext cx="73152" cy="1097280"/>
          </a:xfrm>
          <a:prstGeom prst="rect">
            <a:avLst/>
          </a:prstGeom>
          <a:solidFill>
            <a:srgbClr val="4E8C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092440" y="4416552"/>
            <a:ext cx="3322015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500" b="1" i="0">
                <a:solidFill>
                  <a:srgbClr val="4E8C8A"/>
                </a:solidFill>
                <a:latin typeface="Consolas"/>
                <a:ea typeface="Microsoft JhengHei"/>
                <a:cs typeface="Consolas"/>
              </a:rPr>
              <a:t>analysis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92440" y="4754880"/>
            <a:ext cx="33220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100" b="0" i="0">
                <a:solidFill>
                  <a:srgbClr val="7C8B97"/>
                </a:solidFill>
                <a:latin typeface="Consolas"/>
                <a:ea typeface="Microsoft JhengHei"/>
                <a:cs typeface="Consolas"/>
              </a:rPr>
              <a:t>python:3.11 · :7860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92440" y="5029200"/>
            <a:ext cx="3322015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150" b="0" i="0">
                <a:solidFill>
                  <a:srgbClr val="3D4D5A"/>
                </a:solidFill>
                <a:latin typeface="Microsoft JhengHei"/>
                <a:ea typeface="Microsoft JhengHei"/>
                <a:cs typeface="Microsoft JhengHei"/>
              </a:rPr>
              <a:t>Pandas / ML / Gradio · 25 圖表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5650992"/>
            <a:ext cx="10911535" cy="566928"/>
          </a:xfrm>
          <a:prstGeom prst="roundRect">
            <a:avLst>
              <a:gd name="adj" fmla="val 10000"/>
            </a:avLst>
          </a:prstGeom>
          <a:solidFill>
            <a:srgbClr val="FBF4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40080" y="5650992"/>
            <a:ext cx="82296" cy="566928"/>
          </a:xfrm>
          <a:prstGeom prst="rect">
            <a:avLst/>
          </a:prstGeom>
          <a:solidFill>
            <a:srgbClr val="C892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96112" y="5650992"/>
            <a:ext cx="137160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200" b="1" i="0">
                <a:solidFill>
                  <a:srgbClr val="C8922E"/>
                </a:solidFill>
                <a:latin typeface="Microsoft JhengHei"/>
                <a:ea typeface="Microsoft JhengHei"/>
                <a:cs typeface="Microsoft JhengHei"/>
              </a:rPr>
              <a:t>資料交換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331720" y="5650992"/>
            <a:ext cx="8991295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300" b="0" i="0">
                <a:solidFill>
                  <a:srgbClr val="1C3D5A"/>
                </a:solidFill>
                <a:latin typeface="Microsoft JhengHei"/>
                <a:ea typeface="Microsoft JhengHei"/>
                <a:cs typeface="Microsoft JhengHei"/>
              </a:rPr>
              <a:t>analysis_output named volume 讓圖表與班表跨容器共用；連線憑證以 .env 注入，不寫死於程式碼。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20624"/>
            <a:ext cx="109115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200" b="1" i="0">
                <a:solidFill>
                  <a:srgbClr val="C8922E"/>
                </a:solidFill>
                <a:latin typeface="Microsoft JhengHei"/>
                <a:ea typeface="Microsoft JhengHei"/>
                <a:cs typeface="Microsoft JhengHei"/>
              </a:rPr>
              <a:t>系統架構 · 技術選型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76656"/>
            <a:ext cx="10911535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2500" b="1" i="0">
                <a:solidFill>
                  <a:srgbClr val="1C3D5A"/>
                </a:solidFill>
                <a:latin typeface="Microsoft JhengHei"/>
                <a:ea typeface="Microsoft JhengHei"/>
                <a:cs typeface="Microsoft JhengHei"/>
              </a:rPr>
              <a:t>每一層的選擇都有明確理由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40080" y="1417320"/>
            <a:ext cx="566928" cy="0"/>
          </a:xfrm>
          <a:prstGeom prst="bentConnector3">
            <a:avLst/>
          </a:prstGeom>
          <a:ln w="30480">
            <a:solidFill>
              <a:srgbClr val="C892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640080" y="6455664"/>
            <a:ext cx="10911535" cy="0"/>
          </a:xfrm>
          <a:prstGeom prst="bentConnector3">
            <a:avLst/>
          </a:prstGeom>
          <a:ln w="9525">
            <a:solidFill>
              <a:srgbClr val="D7E0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40080" y="651052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950" b="0" i="0">
                <a:solidFill>
                  <a:srgbClr val="7C8B97"/>
                </a:solidFill>
                <a:latin typeface="Microsoft JhengHei"/>
                <a:ea typeface="Microsoft JhengHei"/>
                <a:cs typeface="Microsoft JhengHei"/>
              </a:rPr>
              <a:t>海勤人力資源與作業安全決策系統  ·  114-2 巨量資料與雲端運算  第 2 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54335" y="6510528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500"/>
              </a:spcAft>
            </a:pPr>
            <a:r>
              <a:rPr sz="950" b="0" i="0">
                <a:solidFill>
                  <a:srgbClr val="7C8B97"/>
                </a:solidFill>
                <a:latin typeface="Consolas"/>
                <a:ea typeface="Microsoft JhengHei"/>
                <a:cs typeface="Consolas"/>
              </a:rPr>
              <a:t>07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920240"/>
            <a:ext cx="1828800" cy="420624"/>
          </a:xfrm>
          <a:prstGeom prst="rect">
            <a:avLst/>
          </a:prstGeom>
          <a:solidFill>
            <a:srgbClr val="1C3D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9808" y="1920240"/>
            <a:ext cx="164592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25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層次</a:t>
            </a:r>
          </a:p>
        </p:txBody>
      </p:sp>
      <p:sp>
        <p:nvSpPr>
          <p:cNvPr id="10" name="Rectangle 9"/>
          <p:cNvSpPr/>
          <p:nvPr/>
        </p:nvSpPr>
        <p:spPr>
          <a:xfrm>
            <a:off x="2468880" y="1920240"/>
            <a:ext cx="3017520" cy="420624"/>
          </a:xfrm>
          <a:prstGeom prst="rect">
            <a:avLst/>
          </a:prstGeom>
          <a:solidFill>
            <a:srgbClr val="1C3D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578608" y="1920240"/>
            <a:ext cx="283464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25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技術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0" y="1920240"/>
            <a:ext cx="6065215" cy="420624"/>
          </a:xfrm>
          <a:prstGeom prst="rect">
            <a:avLst/>
          </a:prstGeom>
          <a:solidFill>
            <a:srgbClr val="1C3D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596128" y="1920240"/>
            <a:ext cx="5882335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25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選用理由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2340864"/>
            <a:ext cx="10911535" cy="42062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49808" y="2340864"/>
            <a:ext cx="164592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250" b="1" i="0">
                <a:solidFill>
                  <a:srgbClr val="1C3D5A"/>
                </a:solidFill>
                <a:latin typeface="Microsoft JhengHei"/>
                <a:ea typeface="Microsoft JhengHei"/>
                <a:cs typeface="Microsoft JhengHei"/>
              </a:rPr>
              <a:t>前端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578608" y="2340864"/>
            <a:ext cx="283464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250" b="0" i="0">
                <a:solidFill>
                  <a:srgbClr val="3D4D5A"/>
                </a:solidFill>
                <a:latin typeface="Microsoft JhengHei"/>
                <a:ea typeface="Microsoft JhengHei"/>
                <a:cs typeface="Microsoft JhengHei"/>
              </a:rPr>
              <a:t>PHP 8.2 + Apache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596128" y="2340864"/>
            <a:ext cx="5882335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250" b="0" i="0">
                <a:solidFill>
                  <a:srgbClr val="3D4D5A"/>
                </a:solidFill>
                <a:latin typeface="Microsoft JhengHei"/>
                <a:ea typeface="Microsoft JhengHei"/>
                <a:cs typeface="Microsoft JhengHei"/>
              </a:rPr>
              <a:t>延用上學期成果，降低重寫成本、聚焦本學期分析與決策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" y="2761488"/>
            <a:ext cx="10911535" cy="420624"/>
          </a:xfrm>
          <a:prstGeom prst="rect">
            <a:avLst/>
          </a:prstGeom>
          <a:solidFill>
            <a:srgbClr val="F3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49808" y="2761488"/>
            <a:ext cx="164592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250" b="1" i="0">
                <a:solidFill>
                  <a:srgbClr val="1C3D5A"/>
                </a:solidFill>
                <a:latin typeface="Microsoft JhengHei"/>
                <a:ea typeface="Microsoft JhengHei"/>
                <a:cs typeface="Microsoft JhengHei"/>
              </a:rPr>
              <a:t>資料庫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578608" y="2761488"/>
            <a:ext cx="283464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250" b="0" i="0">
                <a:solidFill>
                  <a:srgbClr val="3D4D5A"/>
                </a:solidFill>
                <a:latin typeface="Microsoft JhengHei"/>
                <a:ea typeface="Microsoft JhengHei"/>
                <a:cs typeface="Microsoft JhengHei"/>
              </a:rPr>
              <a:t>MySQL 8.0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596128" y="2761488"/>
            <a:ext cx="5882335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250" b="0" i="0">
                <a:solidFill>
                  <a:srgbClr val="3D4D5A"/>
                </a:solidFill>
                <a:latin typeface="Microsoft JhengHei"/>
                <a:ea typeface="Microsoft JhengHei"/>
                <a:cs typeface="Microsoft JhengHei"/>
              </a:rPr>
              <a:t>既有 schema 相容、生態完整、Docker 官方映像穩定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0080" y="3182112"/>
            <a:ext cx="10911535" cy="42062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49808" y="3182112"/>
            <a:ext cx="164592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250" b="1" i="0">
                <a:solidFill>
                  <a:srgbClr val="1C3D5A"/>
                </a:solidFill>
                <a:latin typeface="Microsoft JhengHei"/>
                <a:ea typeface="Microsoft JhengHei"/>
                <a:cs typeface="Microsoft JhengHei"/>
              </a:rPr>
              <a:t>分析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578608" y="3182112"/>
            <a:ext cx="283464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250" b="0" i="0">
                <a:solidFill>
                  <a:srgbClr val="3D4D5A"/>
                </a:solidFill>
                <a:latin typeface="Microsoft JhengHei"/>
                <a:ea typeface="Microsoft JhengHei"/>
                <a:cs typeface="Microsoft JhengHei"/>
              </a:rPr>
              <a:t>Python 3.11 + Pandas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596128" y="3182112"/>
            <a:ext cx="5882335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250" b="0" i="0">
                <a:solidFill>
                  <a:srgbClr val="3D4D5A"/>
                </a:solidFill>
                <a:latin typeface="Microsoft JhengHei"/>
                <a:ea typeface="Microsoft JhengHei"/>
                <a:cs typeface="Microsoft JhengHei"/>
              </a:rPr>
              <a:t>課程必要技術，向量化處理與資料聚合能力強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0080" y="3602736"/>
            <a:ext cx="10911535" cy="420624"/>
          </a:xfrm>
          <a:prstGeom prst="rect">
            <a:avLst/>
          </a:prstGeom>
          <a:solidFill>
            <a:srgbClr val="F3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49808" y="3602736"/>
            <a:ext cx="164592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250" b="1" i="0">
                <a:solidFill>
                  <a:srgbClr val="1C3D5A"/>
                </a:solidFill>
                <a:latin typeface="Microsoft JhengHei"/>
                <a:ea typeface="Microsoft JhengHei"/>
                <a:cs typeface="Microsoft JhengHei"/>
              </a:rPr>
              <a:t>視覺化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578608" y="3602736"/>
            <a:ext cx="283464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250" b="0" i="0">
                <a:solidFill>
                  <a:srgbClr val="3D4D5A"/>
                </a:solidFill>
                <a:latin typeface="Microsoft JhengHei"/>
                <a:ea typeface="Microsoft JhengHei"/>
                <a:cs typeface="Microsoft JhengHei"/>
              </a:rPr>
              <a:t>Matplotlib + Seaborn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596128" y="3602736"/>
            <a:ext cx="5882335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250" b="0" i="0">
                <a:solidFill>
                  <a:srgbClr val="3D4D5A"/>
                </a:solidFill>
                <a:latin typeface="Microsoft JhengHei"/>
                <a:ea typeface="Microsoft JhengHei"/>
                <a:cs typeface="Microsoft JhengHei"/>
              </a:rPr>
              <a:t>課程必要技術，靜態圖品質佳、可嵌入 PHP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40080" y="4023360"/>
            <a:ext cx="10911535" cy="42062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49808" y="4023360"/>
            <a:ext cx="164592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250" b="1" i="0">
                <a:solidFill>
                  <a:srgbClr val="1C3D5A"/>
                </a:solidFill>
                <a:latin typeface="Microsoft JhengHei"/>
                <a:ea typeface="Microsoft JhengHei"/>
                <a:cs typeface="Microsoft JhengHei"/>
              </a:rPr>
              <a:t>機器學習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578608" y="4023360"/>
            <a:ext cx="283464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250" b="0" i="0">
                <a:solidFill>
                  <a:srgbClr val="3D4D5A"/>
                </a:solidFill>
                <a:latin typeface="Microsoft JhengHei"/>
                <a:ea typeface="Microsoft JhengHei"/>
                <a:cs typeface="Microsoft JhengHei"/>
              </a:rPr>
              <a:t>scikit-learn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596128" y="4023360"/>
            <a:ext cx="5882335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250" b="0" i="0">
                <a:solidFill>
                  <a:srgbClr val="3D4D5A"/>
                </a:solidFill>
                <a:latin typeface="Microsoft JhengHei"/>
                <a:ea typeface="Microsoft JhengHei"/>
                <a:cs typeface="Microsoft JhengHei"/>
              </a:rPr>
              <a:t>RandomForest / IsolationForest / GridSearchCV 一站式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40080" y="4443984"/>
            <a:ext cx="10911535" cy="420624"/>
          </a:xfrm>
          <a:prstGeom prst="rect">
            <a:avLst/>
          </a:prstGeom>
          <a:solidFill>
            <a:srgbClr val="F3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49808" y="4443984"/>
            <a:ext cx="164592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250" b="1" i="0">
                <a:solidFill>
                  <a:srgbClr val="1C3D5A"/>
                </a:solidFill>
                <a:latin typeface="Microsoft JhengHei"/>
                <a:ea typeface="Microsoft JhengHei"/>
                <a:cs typeface="Microsoft JhengHei"/>
              </a:rPr>
              <a:t>最佳化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578608" y="4443984"/>
            <a:ext cx="283464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250" b="0" i="0">
                <a:solidFill>
                  <a:srgbClr val="3D4D5A"/>
                </a:solidFill>
                <a:latin typeface="Microsoft JhengHei"/>
                <a:ea typeface="Microsoft JhengHei"/>
                <a:cs typeface="Microsoft JhengHei"/>
              </a:rPr>
              <a:t>SciPy (HiGHS)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596128" y="4443984"/>
            <a:ext cx="5882335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250" b="0" i="0">
                <a:solidFill>
                  <a:srgbClr val="3D4D5A"/>
                </a:solidFill>
                <a:latin typeface="Microsoft JhengHei"/>
                <a:ea typeface="Microsoft JhengHei"/>
                <a:cs typeface="Microsoft JhengHei"/>
              </a:rPr>
              <a:t>milp 整數規劃求解器，排班全域最佳化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40080" y="4864608"/>
            <a:ext cx="10911535" cy="42062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49808" y="4864608"/>
            <a:ext cx="164592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250" b="1" i="0">
                <a:solidFill>
                  <a:srgbClr val="1C3D5A"/>
                </a:solidFill>
                <a:latin typeface="Microsoft JhengHei"/>
                <a:ea typeface="Microsoft JhengHei"/>
                <a:cs typeface="Microsoft JhengHei"/>
              </a:rPr>
              <a:t>互動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578608" y="4864608"/>
            <a:ext cx="283464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250" b="0" i="0">
                <a:solidFill>
                  <a:srgbClr val="3D4D5A"/>
                </a:solidFill>
                <a:latin typeface="Microsoft JhengHei"/>
                <a:ea typeface="Microsoft JhengHei"/>
                <a:cs typeface="Microsoft JhengHei"/>
              </a:rPr>
              <a:t>Gradio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596128" y="4864608"/>
            <a:ext cx="5882335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250" b="0" i="0">
                <a:solidFill>
                  <a:srgbClr val="3D4D5A"/>
                </a:solidFill>
                <a:latin typeface="Microsoft JhengHei"/>
                <a:ea typeface="Microsoft JhengHei"/>
                <a:cs typeface="Microsoft JhengHei"/>
              </a:rPr>
              <a:t>免前端即建分析儀表板，port 7860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40080" y="5285232"/>
            <a:ext cx="10911535" cy="420624"/>
          </a:xfrm>
          <a:prstGeom prst="rect">
            <a:avLst/>
          </a:prstGeom>
          <a:solidFill>
            <a:srgbClr val="F3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49808" y="5285232"/>
            <a:ext cx="164592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250" b="1" i="0">
                <a:solidFill>
                  <a:srgbClr val="1C3D5A"/>
                </a:solidFill>
                <a:latin typeface="Microsoft JhengHei"/>
                <a:ea typeface="Microsoft JhengHei"/>
                <a:cs typeface="Microsoft JhengHei"/>
              </a:rPr>
              <a:t>容器化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578608" y="5285232"/>
            <a:ext cx="283464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250" b="0" i="0">
                <a:solidFill>
                  <a:srgbClr val="3D4D5A"/>
                </a:solidFill>
                <a:latin typeface="Microsoft JhengHei"/>
                <a:ea typeface="Microsoft JhengHei"/>
                <a:cs typeface="Microsoft JhengHei"/>
              </a:rPr>
              <a:t>Docker Compose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596128" y="5285232"/>
            <a:ext cx="5882335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250" b="0" i="0">
                <a:solidFill>
                  <a:srgbClr val="3D4D5A"/>
                </a:solidFill>
                <a:latin typeface="Microsoft JhengHei"/>
                <a:ea typeface="Microsoft JhengHei"/>
                <a:cs typeface="Microsoft JhengHei"/>
              </a:rPr>
              <a:t>單指令啟動三服務、跨平台一致性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40080" y="5705856"/>
            <a:ext cx="10911535" cy="42062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49808" y="5705856"/>
            <a:ext cx="164592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250" b="1" i="0">
                <a:solidFill>
                  <a:srgbClr val="1C3D5A"/>
                </a:solidFill>
                <a:latin typeface="Microsoft JhengHei"/>
                <a:ea typeface="Microsoft JhengHei"/>
                <a:cs typeface="Microsoft JhengHei"/>
              </a:rPr>
              <a:t>版控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2578608" y="5705856"/>
            <a:ext cx="283464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250" b="0" i="0">
                <a:solidFill>
                  <a:srgbClr val="3D4D5A"/>
                </a:solidFill>
                <a:latin typeface="Microsoft JhengHei"/>
                <a:ea typeface="Microsoft JhengHei"/>
                <a:cs typeface="Microsoft JhengHei"/>
              </a:rPr>
              <a:t>Git / GitHub Actions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596128" y="5705856"/>
            <a:ext cx="5882335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250" b="0" i="0">
                <a:solidFill>
                  <a:srgbClr val="3D4D5A"/>
                </a:solidFill>
                <a:latin typeface="Microsoft JhengHei"/>
                <a:ea typeface="Microsoft JhengHei"/>
                <a:cs typeface="Microsoft JhengHei"/>
              </a:rPr>
              <a:t>commit 規範 + 45 項自動化測試 CI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40080" y="1920240"/>
            <a:ext cx="10911535" cy="4206240"/>
          </a:xfrm>
          <a:prstGeom prst="rect">
            <a:avLst/>
          </a:prstGeom>
          <a:noFill/>
          <a:ln w="9525">
            <a:solidFill>
              <a:srgbClr val="D7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20624"/>
            <a:ext cx="109115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200" b="1" i="0">
                <a:solidFill>
                  <a:srgbClr val="C8922E"/>
                </a:solidFill>
                <a:latin typeface="Microsoft JhengHei"/>
                <a:ea typeface="Microsoft JhengHei"/>
                <a:cs typeface="Microsoft JhengHei"/>
              </a:rPr>
              <a:t>系統架構 · 部署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76656"/>
            <a:ext cx="10911535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2500" b="1" i="0">
                <a:solidFill>
                  <a:srgbClr val="1C3D5A"/>
                </a:solidFill>
                <a:latin typeface="Microsoft JhengHei"/>
                <a:ea typeface="Microsoft JhengHei"/>
                <a:cs typeface="Microsoft JhengHei"/>
              </a:rPr>
              <a:t>一行指令完成部署，並自動修復常見失敗點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40080" y="1417320"/>
            <a:ext cx="566928" cy="0"/>
          </a:xfrm>
          <a:prstGeom prst="bentConnector3">
            <a:avLst/>
          </a:prstGeom>
          <a:ln w="30480">
            <a:solidFill>
              <a:srgbClr val="C892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640080" y="6455664"/>
            <a:ext cx="10911535" cy="0"/>
          </a:xfrm>
          <a:prstGeom prst="bentConnector3">
            <a:avLst/>
          </a:prstGeom>
          <a:ln w="9525">
            <a:solidFill>
              <a:srgbClr val="D7E0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40080" y="651052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950" b="0" i="0">
                <a:solidFill>
                  <a:srgbClr val="7C8B97"/>
                </a:solidFill>
                <a:latin typeface="Microsoft JhengHei"/>
                <a:ea typeface="Microsoft JhengHei"/>
                <a:cs typeface="Microsoft JhengHei"/>
              </a:rPr>
              <a:t>海勤人力資源與作業安全決策系統  ·  114-2 巨量資料與雲端運算  第 2 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54335" y="6510528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500"/>
              </a:spcAft>
            </a:pPr>
            <a:r>
              <a:rPr sz="950" b="0" i="0">
                <a:solidFill>
                  <a:srgbClr val="7C8B97"/>
                </a:solidFill>
                <a:latin typeface="Consolas"/>
                <a:ea typeface="Microsoft JhengHei"/>
                <a:cs typeface="Consolas"/>
              </a:rPr>
              <a:t>08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874519"/>
            <a:ext cx="6858000" cy="4160520"/>
          </a:xfrm>
          <a:prstGeom prst="roundRect">
            <a:avLst>
              <a:gd name="adj" fmla="val 3000"/>
            </a:avLst>
          </a:prstGeom>
          <a:solidFill>
            <a:srgbClr val="0F22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1874519"/>
            <a:ext cx="6858000" cy="365760"/>
          </a:xfrm>
          <a:prstGeom prst="rect">
            <a:avLst/>
          </a:prstGeom>
          <a:solidFill>
            <a:srgbClr val="1732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68680" y="1993391"/>
            <a:ext cx="128016" cy="128016"/>
          </a:xfrm>
          <a:prstGeom prst="ellipse">
            <a:avLst/>
          </a:prstGeom>
          <a:solidFill>
            <a:srgbClr val="E06C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124712" y="1993391"/>
            <a:ext cx="128016" cy="128016"/>
          </a:xfrm>
          <a:prstGeom prst="ellipse">
            <a:avLst/>
          </a:prstGeom>
          <a:solidFill>
            <a:srgbClr val="E6B4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380744" y="1993391"/>
            <a:ext cx="128016" cy="128016"/>
          </a:xfrm>
          <a:prstGeom prst="ellipse">
            <a:avLst/>
          </a:prstGeom>
          <a:solidFill>
            <a:srgbClr val="5BB9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828800" y="1938527"/>
            <a:ext cx="45720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100" b="0" i="0">
                <a:solidFill>
                  <a:srgbClr val="8AA0B2"/>
                </a:solidFill>
                <a:latin typeface="Consolas"/>
                <a:ea typeface="Microsoft JhengHei"/>
                <a:cs typeface="Consolas"/>
              </a:rPr>
              <a:t>bash · deploy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2441447"/>
            <a:ext cx="6400800" cy="27432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200" b="0" i="0">
                <a:solidFill>
                  <a:srgbClr val="7FD0B0"/>
                </a:solidFill>
                <a:latin typeface="Consolas"/>
                <a:ea typeface="Microsoft JhengHei"/>
                <a:cs typeface="Consolas"/>
              </a:rPr>
              <a:t>$ </a:t>
            </a:r>
          </a:p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200" b="0" i="0">
                <a:solidFill>
                  <a:srgbClr val="D5E0E8"/>
                </a:solidFill>
                <a:latin typeface="Consolas"/>
                <a:ea typeface="Microsoft JhengHei"/>
                <a:cs typeface="Consolas"/>
              </a:rPr>
              <a:t>git clone …/114-2_BigDataCC-2nd &amp;&amp; cd docker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2766059"/>
            <a:ext cx="6400800" cy="27432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200" b="0" i="0">
                <a:solidFill>
                  <a:srgbClr val="7FD0B0"/>
                </a:solidFill>
                <a:latin typeface="Consolas"/>
                <a:ea typeface="Microsoft JhengHei"/>
                <a:cs typeface="Consolas"/>
              </a:rPr>
              <a:t>$ </a:t>
            </a:r>
          </a:p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200" b="0" i="0">
                <a:solidFill>
                  <a:srgbClr val="D5E0E8"/>
                </a:solidFill>
                <a:latin typeface="Consolas"/>
                <a:ea typeface="Microsoft JhengHei"/>
                <a:cs typeface="Consolas"/>
              </a:rPr>
              <a:t>bash start_demo.sh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3255263"/>
            <a:ext cx="6400800" cy="27432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200" b="0" i="0">
                <a:solidFill>
                  <a:srgbClr val="E6B450"/>
                </a:solidFill>
                <a:latin typeface="Consolas"/>
                <a:ea typeface="Microsoft JhengHei"/>
                <a:cs typeface="Consolas"/>
              </a:rPr>
              <a:t>✓ </a:t>
            </a:r>
          </a:p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200" b="0" i="0">
                <a:solidFill>
                  <a:srgbClr val="D5E0E8"/>
                </a:solidFill>
                <a:latin typeface="Consolas"/>
                <a:ea typeface="Microsoft JhengHei"/>
                <a:cs typeface="Consolas"/>
              </a:rPr>
              <a:t>[1/5] 自動建立 .env（demo 預設密碼）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3579875"/>
            <a:ext cx="6400800" cy="27432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200" b="0" i="0">
                <a:solidFill>
                  <a:srgbClr val="9FB4C4"/>
                </a:solidFill>
                <a:latin typeface="Consolas"/>
                <a:ea typeface="Microsoft JhengHei"/>
                <a:cs typeface="Consolas"/>
              </a:rPr>
              <a:t>✓ </a:t>
            </a:r>
          </a:p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200" b="0" i="0">
                <a:solidFill>
                  <a:srgbClr val="D5E0E8"/>
                </a:solidFill>
                <a:latin typeface="Consolas"/>
                <a:ea typeface="Microsoft JhengHei"/>
                <a:cs typeface="Consolas"/>
              </a:rPr>
              <a:t>[2/5] docker compose up --build -d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3904487"/>
            <a:ext cx="6400800" cy="27432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200" b="0" i="0">
                <a:solidFill>
                  <a:srgbClr val="9FB4C4"/>
                </a:solidFill>
                <a:latin typeface="Consolas"/>
                <a:ea typeface="Microsoft JhengHei"/>
                <a:cs typeface="Consolas"/>
              </a:rPr>
              <a:t>✓ </a:t>
            </a:r>
          </a:p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200" b="0" i="0">
                <a:solidFill>
                  <a:srgbClr val="D5E0E8"/>
                </a:solidFill>
                <a:latin typeface="Consolas"/>
                <a:ea typeface="Microsoft JhengHei"/>
                <a:cs typeface="Consolas"/>
              </a:rPr>
              <a:t>[3/5] generate_mock_data.py  → 1,200 筆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4229099"/>
            <a:ext cx="6400800" cy="27432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200" b="0" i="0">
                <a:solidFill>
                  <a:srgbClr val="9FB4C4"/>
                </a:solidFill>
                <a:latin typeface="Consolas"/>
                <a:ea typeface="Microsoft JhengHei"/>
                <a:cs typeface="Consolas"/>
              </a:rPr>
              <a:t>✓ </a:t>
            </a:r>
          </a:p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200" b="0" i="0">
                <a:solidFill>
                  <a:srgbClr val="D5E0E8"/>
                </a:solidFill>
                <a:latin typeface="Consolas"/>
                <a:ea typeface="Microsoft JhengHei"/>
                <a:cs typeface="Consolas"/>
              </a:rPr>
              <a:t>[4/5] fetch_sea_data.py      → 736 筆海象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4553711"/>
            <a:ext cx="6400800" cy="27432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200" b="0" i="0">
                <a:solidFill>
                  <a:srgbClr val="9FB4C4"/>
                </a:solidFill>
                <a:latin typeface="Consolas"/>
                <a:ea typeface="Microsoft JhengHei"/>
                <a:cs typeface="Consolas"/>
              </a:rPr>
              <a:t>✓ </a:t>
            </a:r>
          </a:p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200" b="0" i="0">
                <a:solidFill>
                  <a:srgbClr val="D5E0E8"/>
                </a:solidFill>
                <a:latin typeface="Consolas"/>
                <a:ea typeface="Microsoft JhengHei"/>
                <a:cs typeface="Consolas"/>
              </a:rPr>
              <a:t>[5/5] analysis.py            → 25 張圖表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5042915"/>
            <a:ext cx="6400800" cy="27432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200" b="0" i="0">
                <a:solidFill>
                  <a:srgbClr val="7FD0B0"/>
                </a:solidFill>
                <a:latin typeface="Consolas"/>
                <a:ea typeface="Microsoft JhengHei"/>
                <a:cs typeface="Consolas"/>
              </a:rPr>
              <a:t>➜ </a:t>
            </a:r>
          </a:p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200" b="0" i="0">
                <a:solidFill>
                  <a:srgbClr val="D5E0E8"/>
                </a:solidFill>
                <a:latin typeface="Consolas"/>
                <a:ea typeface="Microsoft JhengHei"/>
                <a:cs typeface="Consolas"/>
              </a:rPr>
              <a:t>localhost:8080  PHP 系統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5367527"/>
            <a:ext cx="6400800" cy="27432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200" b="0" i="0">
                <a:solidFill>
                  <a:srgbClr val="7FD0B0"/>
                </a:solidFill>
                <a:latin typeface="Consolas"/>
                <a:ea typeface="Microsoft JhengHei"/>
                <a:cs typeface="Consolas"/>
              </a:rPr>
              <a:t>➜ </a:t>
            </a:r>
          </a:p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200" b="0" i="0">
                <a:solidFill>
                  <a:srgbClr val="D5E0E8"/>
                </a:solidFill>
                <a:latin typeface="Consolas"/>
                <a:ea typeface="Microsoft JhengHei"/>
                <a:cs typeface="Consolas"/>
              </a:rPr>
              <a:t>localhost:7860  Gradio 分析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863840" y="1874519"/>
            <a:ext cx="3687775" cy="914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7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65008" y="1993391"/>
            <a:ext cx="332201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800" b="1" i="0">
                <a:solidFill>
                  <a:srgbClr val="C8922E"/>
                </a:solidFill>
                <a:latin typeface="Consolas"/>
                <a:ea typeface="Microsoft JhengHei"/>
                <a:cs typeface="Consolas"/>
              </a:rPr>
              <a:t>&lt; 60 秒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65008" y="2423159"/>
            <a:ext cx="33220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150" b="0" i="0">
                <a:solidFill>
                  <a:srgbClr val="3D4D5A"/>
                </a:solidFill>
                <a:latin typeface="Microsoft JhengHei"/>
                <a:ea typeface="Microsoft JhengHei"/>
                <a:cs typeface="Microsoft JhengHei"/>
              </a:rPr>
              <a:t>完整啟動時間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863840" y="2935223"/>
            <a:ext cx="3687775" cy="914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7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65008" y="3054095"/>
            <a:ext cx="332201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800" b="1" i="0">
                <a:solidFill>
                  <a:srgbClr val="C8922E"/>
                </a:solidFill>
                <a:latin typeface="Consolas"/>
                <a:ea typeface="Microsoft JhengHei"/>
                <a:cs typeface="Consolas"/>
              </a:rPr>
              <a:t>.env 自動建立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065008" y="3483863"/>
            <a:ext cx="33220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150" b="0" i="0">
                <a:solidFill>
                  <a:srgbClr val="3D4D5A"/>
                </a:solidFill>
                <a:latin typeface="Microsoft JhengHei"/>
                <a:ea typeface="Microsoft JhengHei"/>
                <a:cs typeface="Microsoft JhengHei"/>
              </a:rPr>
              <a:t>修正學校轉移失敗主因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863840" y="3995927"/>
            <a:ext cx="3687775" cy="914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7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065008" y="4114799"/>
            <a:ext cx="332201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800" b="1" i="0">
                <a:solidFill>
                  <a:srgbClr val="C8922E"/>
                </a:solidFill>
                <a:latin typeface="Consolas"/>
                <a:ea typeface="Microsoft JhengHei"/>
                <a:cs typeface="Consolas"/>
              </a:rPr>
              <a:t>WSL2 後端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065008" y="4544567"/>
            <a:ext cx="33220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150" b="0" i="0">
                <a:solidFill>
                  <a:srgbClr val="3D4D5A"/>
                </a:solidFill>
                <a:latin typeface="Microsoft JhengHei"/>
                <a:ea typeface="Microsoft JhengHei"/>
                <a:cs typeface="Microsoft JhengHei"/>
              </a:rPr>
              <a:t>Docker Desktop 跨平台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863840" y="5056631"/>
            <a:ext cx="3687775" cy="914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7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065008" y="5175503"/>
            <a:ext cx="332201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800" b="1" i="0">
                <a:solidFill>
                  <a:srgbClr val="C8922E"/>
                </a:solidFill>
                <a:latin typeface="Consolas"/>
                <a:ea typeface="Microsoft JhengHei"/>
                <a:cs typeface="Consolas"/>
              </a:rPr>
              <a:t>環境變數注入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065008" y="5605271"/>
            <a:ext cx="33220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150" b="0" i="0">
                <a:solidFill>
                  <a:srgbClr val="3D4D5A"/>
                </a:solidFill>
                <a:latin typeface="Microsoft JhengHei"/>
                <a:ea typeface="Microsoft JhengHei"/>
                <a:cs typeface="Microsoft JhengHei"/>
              </a:rPr>
              <a:t>帳密不入 repo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20624"/>
            <a:ext cx="109115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200" b="1" i="0">
                <a:solidFill>
                  <a:srgbClr val="C8922E"/>
                </a:solidFill>
                <a:latin typeface="Microsoft JhengHei"/>
                <a:ea typeface="Microsoft JhengHei"/>
                <a:cs typeface="Microsoft JhengHei"/>
              </a:rPr>
              <a:t>系統架構 · 資料管線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76656"/>
            <a:ext cx="10911535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2500" b="1" i="0">
                <a:solidFill>
                  <a:srgbClr val="1C3D5A"/>
                </a:solidFill>
                <a:latin typeface="Microsoft JhengHei"/>
                <a:ea typeface="Microsoft JhengHei"/>
                <a:cs typeface="Microsoft JhengHei"/>
              </a:rPr>
              <a:t>從資料生成到決策呈現的單向流程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40080" y="1417320"/>
            <a:ext cx="566928" cy="0"/>
          </a:xfrm>
          <a:prstGeom prst="bentConnector3">
            <a:avLst/>
          </a:prstGeom>
          <a:ln w="30480">
            <a:solidFill>
              <a:srgbClr val="C892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640080" y="6455664"/>
            <a:ext cx="10911535" cy="0"/>
          </a:xfrm>
          <a:prstGeom prst="bentConnector3">
            <a:avLst/>
          </a:prstGeom>
          <a:ln w="9525">
            <a:solidFill>
              <a:srgbClr val="D7E0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40080" y="651052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950" b="0" i="0">
                <a:solidFill>
                  <a:srgbClr val="7C8B97"/>
                </a:solidFill>
                <a:latin typeface="Microsoft JhengHei"/>
                <a:ea typeface="Microsoft JhengHei"/>
                <a:cs typeface="Microsoft JhengHei"/>
              </a:rPr>
              <a:t>海勤人力資源與作業安全決策系統  ·  114-2 巨量資料與雲端運算  第 2 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54335" y="6510528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500"/>
              </a:spcAft>
            </a:pPr>
            <a:r>
              <a:rPr sz="950" b="0" i="0">
                <a:solidFill>
                  <a:srgbClr val="7C8B97"/>
                </a:solidFill>
                <a:latin typeface="Consolas"/>
                <a:ea typeface="Microsoft JhengHei"/>
                <a:cs typeface="Consolas"/>
              </a:rPr>
              <a:t>09</a:t>
            </a:r>
          </a:p>
        </p:txBody>
      </p:sp>
      <p:pic>
        <p:nvPicPr>
          <p:cNvPr id="8" name="Picture 7" descr="fig2_data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82341" y="2011680"/>
            <a:ext cx="8227012" cy="3108960"/>
          </a:xfrm>
          <a:prstGeom prst="rect">
            <a:avLst/>
          </a:prstGeom>
          <a:ln w="9525">
            <a:solidFill>
              <a:srgbClr val="C5D2DA"/>
            </a:solidFill>
          </a:ln>
        </p:spPr>
      </p:pic>
      <p:sp>
        <p:nvSpPr>
          <p:cNvPr id="9" name="Rounded Rectangle 8"/>
          <p:cNvSpPr/>
          <p:nvPr/>
        </p:nvSpPr>
        <p:spPr>
          <a:xfrm>
            <a:off x="640080" y="5650992"/>
            <a:ext cx="10911535" cy="566928"/>
          </a:xfrm>
          <a:prstGeom prst="roundRect">
            <a:avLst>
              <a:gd name="adj" fmla="val 10000"/>
            </a:avLst>
          </a:prstGeom>
          <a:solidFill>
            <a:srgbClr val="FBF4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" y="5650992"/>
            <a:ext cx="82296" cy="566928"/>
          </a:xfrm>
          <a:prstGeom prst="rect">
            <a:avLst/>
          </a:prstGeom>
          <a:solidFill>
            <a:srgbClr val="C892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6112" y="5650992"/>
            <a:ext cx="137160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200" b="1" i="0">
                <a:solidFill>
                  <a:srgbClr val="C8922E"/>
                </a:solidFill>
                <a:latin typeface="Microsoft JhengHei"/>
                <a:ea typeface="Microsoft JhengHei"/>
                <a:cs typeface="Microsoft JhengHei"/>
              </a:rPr>
              <a:t>管線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31720" y="5650992"/>
            <a:ext cx="8991295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300" b="0" i="0">
                <a:solidFill>
                  <a:srgbClr val="1C3D5A"/>
                </a:solidFill>
                <a:latin typeface="Microsoft JhengHei"/>
                <a:ea typeface="Microsoft JhengHei"/>
                <a:cs typeface="Microsoft JhengHei"/>
              </a:rPr>
              <a:t>generate_mock_data → fetch_sea_data → analysis（清洗/統計/ML/排班）→ JSON+PNG → PHP &amp; Gradio 雙呈現。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C3D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822960"/>
            <a:ext cx="4572000" cy="2926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20000" b="1" i="0">
                <a:solidFill>
                  <a:srgbClr val="E9F0F4"/>
                </a:solidFill>
                <a:latin typeface="Consolas"/>
                <a:ea typeface="Microsoft JhengHei"/>
                <a:cs typeface="Consolas"/>
              </a:rPr>
              <a:t>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2788920"/>
            <a:ext cx="64008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300" b="1" i="0">
                <a:solidFill>
                  <a:srgbClr val="C8922E"/>
                </a:solidFill>
                <a:latin typeface="Consolas"/>
                <a:ea typeface="Microsoft JhengHei"/>
                <a:cs typeface="Consolas"/>
              </a:rPr>
              <a:t>SECTION 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3108960"/>
            <a:ext cx="77724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3600" b="1" i="0">
                <a:solidFill>
                  <a:srgbClr val="1C3D5A"/>
                </a:solidFill>
                <a:latin typeface="Microsoft JhengHei"/>
                <a:ea typeface="Microsoft JhengHei"/>
                <a:cs typeface="Microsoft JhengHei"/>
              </a:rPr>
              <a:t>PHP 應用系統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4069080"/>
            <a:ext cx="7772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500" b="0" i="0">
                <a:solidFill>
                  <a:srgbClr val="7C8B97"/>
                </a:solidFill>
                <a:latin typeface="Consolas"/>
                <a:ea typeface="Microsoft JhengHei"/>
                <a:cs typeface="Consolas"/>
              </a:rPr>
              <a:t>Web Application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886968" y="3931920"/>
            <a:ext cx="2743200" cy="0"/>
          </a:xfrm>
          <a:prstGeom prst="bentConnector3">
            <a:avLst/>
          </a:prstGeom>
          <a:ln w="30480">
            <a:solidFill>
              <a:srgbClr val="C892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7955279" y="1371600"/>
            <a:ext cx="36576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200" b="1" i="0">
                <a:solidFill>
                  <a:srgbClr val="C8922E"/>
                </a:solidFill>
                <a:latin typeface="Microsoft JhengHei"/>
                <a:ea typeface="Microsoft JhengHei"/>
                <a:cs typeface="Microsoft JhengHei"/>
              </a:rPr>
              <a:t>本章內容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955279" y="1700784"/>
            <a:ext cx="3657600" cy="0"/>
          </a:xfrm>
          <a:prstGeom prst="bentConnector3">
            <a:avLst/>
          </a:prstGeom>
          <a:ln w="12700">
            <a:solidFill>
              <a:srgbClr val="D7E0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7955279" y="1865376"/>
            <a:ext cx="3657600" cy="4114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1100"/>
              </a:spcAft>
            </a:pPr>
            <a:r>
              <a:rPr sz="1300" b="1" i="0">
                <a:solidFill>
                  <a:srgbClr val="C8922E"/>
                </a:solidFill>
                <a:latin typeface="Microsoft JhengHei"/>
                <a:ea typeface="Microsoft JhengHei"/>
                <a:cs typeface="Microsoft JhengHei"/>
              </a:rPr>
              <a:t>▪  </a:t>
            </a:r>
            <a:r>
              <a:rPr sz="1300" b="0" i="0">
                <a:solidFill>
                  <a:srgbClr val="3D4D5A"/>
                </a:solidFill>
                <a:latin typeface="Microsoft JhengHei"/>
                <a:ea typeface="Microsoft JhengHei"/>
                <a:cs typeface="Microsoft JhengHei"/>
              </a:rPr>
              <a:t>12 項業務功能</a:t>
            </a:r>
          </a:p>
          <a:p>
            <a:pPr algn="l">
              <a:lnSpc>
                <a:spcPct val="120000"/>
              </a:lnSpc>
              <a:spcAft>
                <a:spcPts val="1100"/>
              </a:spcAft>
            </a:pPr>
            <a:r>
              <a:rPr sz="1300" b="1" i="0">
                <a:solidFill>
                  <a:srgbClr val="C8922E"/>
                </a:solidFill>
                <a:latin typeface="Microsoft JhengHei"/>
                <a:ea typeface="Microsoft JhengHei"/>
                <a:cs typeface="Microsoft JhengHei"/>
              </a:rPr>
              <a:t>▪  </a:t>
            </a:r>
            <a:r>
              <a:rPr sz="1300" b="0" i="0">
                <a:solidFill>
                  <a:srgbClr val="3D4D5A"/>
                </a:solidFill>
                <a:latin typeface="Microsoft JhengHei"/>
                <a:ea typeface="Microsoft JhengHei"/>
                <a:cs typeface="Microsoft JhengHei"/>
              </a:rPr>
              <a:t>三層級權限</a:t>
            </a:r>
          </a:p>
          <a:p>
            <a:pPr algn="l">
              <a:lnSpc>
                <a:spcPct val="120000"/>
              </a:lnSpc>
              <a:spcAft>
                <a:spcPts val="1100"/>
              </a:spcAft>
            </a:pPr>
            <a:r>
              <a:rPr sz="1300" b="1" i="0">
                <a:solidFill>
                  <a:srgbClr val="C8922E"/>
                </a:solidFill>
                <a:latin typeface="Microsoft JhengHei"/>
                <a:ea typeface="Microsoft JhengHei"/>
                <a:cs typeface="Microsoft JhengHei"/>
              </a:rPr>
              <a:t>▪  </a:t>
            </a:r>
            <a:r>
              <a:rPr sz="1300" b="0" i="0">
                <a:solidFill>
                  <a:srgbClr val="3D4D5A"/>
                </a:solidFill>
                <a:latin typeface="Microsoft JhengHei"/>
                <a:ea typeface="Microsoft JhengHei"/>
                <a:cs typeface="Microsoft JhengHei"/>
              </a:rPr>
              <a:t>登入 / 打卡 Demo</a:t>
            </a:r>
          </a:p>
          <a:p>
            <a:pPr algn="l">
              <a:lnSpc>
                <a:spcPct val="120000"/>
              </a:lnSpc>
              <a:spcAft>
                <a:spcPts val="1100"/>
              </a:spcAft>
            </a:pPr>
            <a:r>
              <a:rPr sz="1300" b="1" i="0">
                <a:solidFill>
                  <a:srgbClr val="C8922E"/>
                </a:solidFill>
                <a:latin typeface="Microsoft JhengHei"/>
                <a:ea typeface="Microsoft JhengHei"/>
                <a:cs typeface="Microsoft JhengHei"/>
              </a:rPr>
              <a:t>▪  </a:t>
            </a:r>
            <a:r>
              <a:rPr sz="1300" b="0" i="0">
                <a:solidFill>
                  <a:srgbClr val="3D4D5A"/>
                </a:solidFill>
                <a:latin typeface="Microsoft JhengHei"/>
                <a:ea typeface="Microsoft JhengHei"/>
                <a:cs typeface="Microsoft JhengHei"/>
              </a:rPr>
              <a:t>管理員儀表板 Demo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640080" y="6455664"/>
            <a:ext cx="10911535" cy="0"/>
          </a:xfrm>
          <a:prstGeom prst="bentConnector3">
            <a:avLst/>
          </a:prstGeom>
          <a:ln w="9525">
            <a:solidFill>
              <a:srgbClr val="D7E0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640080" y="651052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950" b="0" i="0">
                <a:solidFill>
                  <a:srgbClr val="7C8B97"/>
                </a:solidFill>
                <a:latin typeface="Microsoft JhengHei"/>
                <a:ea typeface="Microsoft JhengHei"/>
                <a:cs typeface="Microsoft JhengHei"/>
              </a:rPr>
              <a:t>海勤人力資源與作業安全決策系統  ·  114-2 巨量資料與雲端運算  第 2 組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20624"/>
            <a:ext cx="109115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200" b="1" i="0">
                <a:solidFill>
                  <a:srgbClr val="C8922E"/>
                </a:solidFill>
                <a:latin typeface="Microsoft JhengHei"/>
                <a:ea typeface="Microsoft JhengHei"/>
                <a:cs typeface="Microsoft JhengHei"/>
              </a:rPr>
              <a:t>PHP 系統 · 功能總覽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76656"/>
            <a:ext cx="10911535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2500" b="1" i="0">
                <a:solidFill>
                  <a:srgbClr val="1C3D5A"/>
                </a:solidFill>
                <a:latin typeface="Microsoft JhengHei"/>
                <a:ea typeface="Microsoft JhengHei"/>
                <a:cs typeface="Microsoft JhengHei"/>
              </a:rPr>
              <a:t>完整業務系統，非僅展示用前端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40080" y="1417320"/>
            <a:ext cx="566928" cy="0"/>
          </a:xfrm>
          <a:prstGeom prst="bentConnector3">
            <a:avLst/>
          </a:prstGeom>
          <a:ln w="30480">
            <a:solidFill>
              <a:srgbClr val="C892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640080" y="6455664"/>
            <a:ext cx="10911535" cy="0"/>
          </a:xfrm>
          <a:prstGeom prst="bentConnector3">
            <a:avLst/>
          </a:prstGeom>
          <a:ln w="9525">
            <a:solidFill>
              <a:srgbClr val="D7E0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40080" y="651052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950" b="0" i="0">
                <a:solidFill>
                  <a:srgbClr val="7C8B97"/>
                </a:solidFill>
                <a:latin typeface="Microsoft JhengHei"/>
                <a:ea typeface="Microsoft JhengHei"/>
                <a:cs typeface="Microsoft JhengHei"/>
              </a:rPr>
              <a:t>海勤人力資源與作業安全決策系統  ·  114-2 巨量資料與雲端運算  第 2 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54335" y="6510528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500"/>
              </a:spcAft>
            </a:pPr>
            <a:r>
              <a:rPr sz="950" b="0" i="0">
                <a:solidFill>
                  <a:srgbClr val="7C8B97"/>
                </a:solidFill>
                <a:latin typeface="Consolas"/>
                <a:ea typeface="Microsoft JhengHei"/>
                <a:cs typeface="Consolas"/>
              </a:rPr>
              <a:t>10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874519"/>
            <a:ext cx="3454298" cy="9601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7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1874519"/>
            <a:ext cx="64008" cy="960120"/>
          </a:xfrm>
          <a:prstGeom prst="rect">
            <a:avLst/>
          </a:prstGeom>
          <a:solidFill>
            <a:srgbClr val="1C3D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8" y="1984247"/>
            <a:ext cx="308853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250" b="1" i="0">
                <a:solidFill>
                  <a:srgbClr val="1C3D5A"/>
                </a:solidFill>
                <a:latin typeface="Consolas"/>
                <a:ea typeface="Microsoft JhengHei"/>
                <a:cs typeface="Consolas"/>
              </a:rPr>
              <a:t>login.php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8" y="2313431"/>
            <a:ext cx="308853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150" b="0" i="0">
                <a:solidFill>
                  <a:srgbClr val="3D4D5A"/>
                </a:solidFill>
                <a:latin typeface="Microsoft JhengHei"/>
                <a:ea typeface="Microsoft JhengHei"/>
                <a:cs typeface="Microsoft JhengHei"/>
              </a:rPr>
              <a:t>登入 · Session 管理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8" y="2560319"/>
            <a:ext cx="3088538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000" b="0" i="0">
                <a:solidFill>
                  <a:srgbClr val="7C8B97"/>
                </a:solidFill>
                <a:latin typeface="Microsoft JhengHei"/>
                <a:ea typeface="Microsoft JhengHei"/>
                <a:cs typeface="Microsoft JhengHei"/>
              </a:rPr>
              <a:t>全部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68698" y="1874519"/>
            <a:ext cx="3454298" cy="9601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7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68698" y="1874519"/>
            <a:ext cx="64008" cy="960120"/>
          </a:xfrm>
          <a:prstGeom prst="rect">
            <a:avLst/>
          </a:prstGeom>
          <a:solidFill>
            <a:srgbClr val="1C3D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69866" y="1984247"/>
            <a:ext cx="308853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250" b="1" i="0">
                <a:solidFill>
                  <a:srgbClr val="1C3D5A"/>
                </a:solidFill>
                <a:latin typeface="Consolas"/>
                <a:ea typeface="Microsoft JhengHei"/>
                <a:cs typeface="Consolas"/>
              </a:rPr>
              <a:t>punch.php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69866" y="2313431"/>
            <a:ext cx="308853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150" b="0" i="0">
                <a:solidFill>
                  <a:srgbClr val="3D4D5A"/>
                </a:solidFill>
                <a:latin typeface="Microsoft JhengHei"/>
                <a:ea typeface="Microsoft JhengHei"/>
                <a:cs typeface="Microsoft JhengHei"/>
              </a:rPr>
              <a:t>打卡 · 即時海象橫幅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69866" y="2560319"/>
            <a:ext cx="3088538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000" b="0" i="0">
                <a:solidFill>
                  <a:srgbClr val="7C8B97"/>
                </a:solidFill>
                <a:latin typeface="Microsoft JhengHei"/>
                <a:ea typeface="Microsoft JhengHei"/>
                <a:cs typeface="Microsoft JhengHei"/>
              </a:rPr>
              <a:t>全部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97316" y="1874519"/>
            <a:ext cx="3454298" cy="9601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7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97316" y="1874519"/>
            <a:ext cx="64008" cy="960120"/>
          </a:xfrm>
          <a:prstGeom prst="rect">
            <a:avLst/>
          </a:prstGeom>
          <a:solidFill>
            <a:srgbClr val="1C3D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98484" y="1984247"/>
            <a:ext cx="308853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250" b="1" i="0">
                <a:solidFill>
                  <a:srgbClr val="1C3D5A"/>
                </a:solidFill>
                <a:latin typeface="Consolas"/>
                <a:ea typeface="Microsoft JhengHei"/>
                <a:cs typeface="Consolas"/>
              </a:rPr>
              <a:t>records.php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98484" y="2313431"/>
            <a:ext cx="308853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150" b="0" i="0">
                <a:solidFill>
                  <a:srgbClr val="3D4D5A"/>
                </a:solidFill>
                <a:latin typeface="Microsoft JhengHei"/>
                <a:ea typeface="Microsoft JhengHei"/>
                <a:cs typeface="Microsoft JhengHei"/>
              </a:rPr>
              <a:t>個人值勤歷史查詢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98484" y="2560319"/>
            <a:ext cx="3088538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000" b="0" i="0">
                <a:solidFill>
                  <a:srgbClr val="7C8B97"/>
                </a:solidFill>
                <a:latin typeface="Microsoft JhengHei"/>
                <a:ea typeface="Microsoft JhengHei"/>
                <a:cs typeface="Microsoft JhengHei"/>
              </a:rPr>
              <a:t>全部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0080" y="2999231"/>
            <a:ext cx="3454298" cy="9601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7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40080" y="2999231"/>
            <a:ext cx="64008" cy="960120"/>
          </a:xfrm>
          <a:prstGeom prst="rect">
            <a:avLst/>
          </a:prstGeom>
          <a:solidFill>
            <a:srgbClr val="1C3D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41248" y="3108959"/>
            <a:ext cx="308853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250" b="1" i="0">
                <a:solidFill>
                  <a:srgbClr val="1C3D5A"/>
                </a:solidFill>
                <a:latin typeface="Consolas"/>
                <a:ea typeface="Microsoft JhengHei"/>
                <a:cs typeface="Consolas"/>
              </a:rPr>
              <a:t>leave.php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1248" y="3438143"/>
            <a:ext cx="308853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150" b="0" i="0">
                <a:solidFill>
                  <a:srgbClr val="3D4D5A"/>
                </a:solidFill>
                <a:latin typeface="Microsoft JhengHei"/>
                <a:ea typeface="Microsoft JhengHei"/>
                <a:cs typeface="Microsoft JhengHei"/>
              </a:rPr>
              <a:t>請假申請（假別/起訖）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1248" y="3685031"/>
            <a:ext cx="3088538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000" b="0" i="0">
                <a:solidFill>
                  <a:srgbClr val="7C8B97"/>
                </a:solidFill>
                <a:latin typeface="Microsoft JhengHei"/>
                <a:ea typeface="Microsoft JhengHei"/>
                <a:cs typeface="Microsoft JhengHei"/>
              </a:rPr>
              <a:t>全部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368698" y="2999231"/>
            <a:ext cx="3454298" cy="9601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7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368698" y="2999231"/>
            <a:ext cx="64008" cy="960120"/>
          </a:xfrm>
          <a:prstGeom prst="rect">
            <a:avLst/>
          </a:prstGeom>
          <a:solidFill>
            <a:srgbClr val="3450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569866" y="3108959"/>
            <a:ext cx="308853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250" b="1" i="0">
                <a:solidFill>
                  <a:srgbClr val="1C3D5A"/>
                </a:solidFill>
                <a:latin typeface="Consolas"/>
                <a:ea typeface="Microsoft JhengHei"/>
                <a:cs typeface="Consolas"/>
              </a:rPr>
              <a:t>admin_status.php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69866" y="3438143"/>
            <a:ext cx="308853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150" b="0" i="0">
                <a:solidFill>
                  <a:srgbClr val="3D4D5A"/>
                </a:solidFill>
                <a:latin typeface="Microsoft JhengHei"/>
                <a:ea typeface="Microsoft JhengHei"/>
                <a:cs typeface="Microsoft JhengHei"/>
              </a:rPr>
              <a:t>全員值勤總覽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69866" y="3685031"/>
            <a:ext cx="3088538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000" b="0" i="0">
                <a:solidFill>
                  <a:srgbClr val="7C8B97"/>
                </a:solidFill>
                <a:latin typeface="Microsoft JhengHei"/>
                <a:ea typeface="Microsoft JhengHei"/>
                <a:cs typeface="Microsoft JhengHei"/>
              </a:rPr>
              <a:t>管理員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097316" y="2999231"/>
            <a:ext cx="3454298" cy="9601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7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8097316" y="2999231"/>
            <a:ext cx="64008" cy="960120"/>
          </a:xfrm>
          <a:prstGeom prst="rect">
            <a:avLst/>
          </a:prstGeom>
          <a:solidFill>
            <a:srgbClr val="3450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298484" y="3108959"/>
            <a:ext cx="308853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250" b="1" i="0">
                <a:solidFill>
                  <a:srgbClr val="1C3D5A"/>
                </a:solidFill>
                <a:latin typeface="Consolas"/>
                <a:ea typeface="Microsoft JhengHei"/>
                <a:cs typeface="Consolas"/>
              </a:rPr>
              <a:t>admin_leave.php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298484" y="3438143"/>
            <a:ext cx="308853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150" b="0" i="0">
                <a:solidFill>
                  <a:srgbClr val="3D4D5A"/>
                </a:solidFill>
                <a:latin typeface="Microsoft JhengHei"/>
                <a:ea typeface="Microsoft JhengHei"/>
                <a:cs typeface="Microsoft JhengHei"/>
              </a:rPr>
              <a:t>請假審核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298484" y="3685031"/>
            <a:ext cx="3088538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000" b="0" i="0">
                <a:solidFill>
                  <a:srgbClr val="7C8B97"/>
                </a:solidFill>
                <a:latin typeface="Microsoft JhengHei"/>
                <a:ea typeface="Microsoft JhengHei"/>
                <a:cs typeface="Microsoft JhengHei"/>
              </a:rPr>
              <a:t>管理員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40080" y="4123943"/>
            <a:ext cx="3454298" cy="9601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7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640080" y="4123943"/>
            <a:ext cx="64008" cy="960120"/>
          </a:xfrm>
          <a:prstGeom prst="rect">
            <a:avLst/>
          </a:prstGeom>
          <a:solidFill>
            <a:srgbClr val="3450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41248" y="4233671"/>
            <a:ext cx="308853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250" b="1" i="0">
                <a:solidFill>
                  <a:srgbClr val="1C3D5A"/>
                </a:solidFill>
                <a:latin typeface="Consolas"/>
                <a:ea typeface="Microsoft JhengHei"/>
                <a:cs typeface="Consolas"/>
              </a:rPr>
              <a:t>admin_users.php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41248" y="4562855"/>
            <a:ext cx="308853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150" b="0" i="0">
                <a:solidFill>
                  <a:srgbClr val="3D4D5A"/>
                </a:solidFill>
                <a:latin typeface="Microsoft JhengHei"/>
                <a:ea typeface="Microsoft JhengHei"/>
                <a:cs typeface="Microsoft JhengHei"/>
              </a:rPr>
              <a:t>帳號管理 / 停用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41248" y="4809743"/>
            <a:ext cx="3088538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000" b="0" i="0">
                <a:solidFill>
                  <a:srgbClr val="7C8B97"/>
                </a:solidFill>
                <a:latin typeface="Microsoft JhengHei"/>
                <a:ea typeface="Microsoft JhengHei"/>
                <a:cs typeface="Microsoft JhengHei"/>
              </a:rPr>
              <a:t>管理員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4368698" y="4123943"/>
            <a:ext cx="3454298" cy="9601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7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4368698" y="4123943"/>
            <a:ext cx="64008" cy="960120"/>
          </a:xfrm>
          <a:prstGeom prst="rect">
            <a:avLst/>
          </a:prstGeom>
          <a:solidFill>
            <a:srgbClr val="3450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569866" y="4233671"/>
            <a:ext cx="308853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250" b="1" i="0">
                <a:solidFill>
                  <a:srgbClr val="1C3D5A"/>
                </a:solidFill>
                <a:latin typeface="Consolas"/>
                <a:ea typeface="Microsoft JhengHei"/>
                <a:cs typeface="Consolas"/>
              </a:rPr>
              <a:t>admin_export.php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569866" y="4562855"/>
            <a:ext cx="308853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150" b="0" i="0">
                <a:solidFill>
                  <a:srgbClr val="3D4D5A"/>
                </a:solidFill>
                <a:latin typeface="Microsoft JhengHei"/>
                <a:ea typeface="Microsoft JhengHei"/>
                <a:cs typeface="Microsoft JhengHei"/>
              </a:rPr>
              <a:t>值勤 CSV 匯出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569866" y="4809743"/>
            <a:ext cx="3088538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000" b="0" i="0">
                <a:solidFill>
                  <a:srgbClr val="7C8B97"/>
                </a:solidFill>
                <a:latin typeface="Microsoft JhengHei"/>
                <a:ea typeface="Microsoft JhengHei"/>
                <a:cs typeface="Microsoft JhengHei"/>
              </a:rPr>
              <a:t>管理員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8097316" y="4123943"/>
            <a:ext cx="3454298" cy="960120"/>
          </a:xfrm>
          <a:prstGeom prst="roundRect">
            <a:avLst>
              <a:gd name="adj" fmla="val 5000"/>
            </a:avLst>
          </a:prstGeom>
          <a:solidFill>
            <a:srgbClr val="FBF4E6"/>
          </a:solidFill>
          <a:ln w="9525">
            <a:solidFill>
              <a:srgbClr val="C892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8097316" y="4123943"/>
            <a:ext cx="64008" cy="960120"/>
          </a:xfrm>
          <a:prstGeom prst="rect">
            <a:avLst/>
          </a:prstGeom>
          <a:solidFill>
            <a:srgbClr val="C892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298484" y="4233671"/>
            <a:ext cx="308853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250" b="1" i="0">
                <a:solidFill>
                  <a:srgbClr val="C8922E"/>
                </a:solidFill>
                <a:latin typeface="Consolas"/>
                <a:ea typeface="Microsoft JhengHei"/>
                <a:cs typeface="Consolas"/>
              </a:rPr>
              <a:t>scheduler.php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298484" y="4562855"/>
            <a:ext cx="308853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150" b="0" i="0">
                <a:solidFill>
                  <a:srgbClr val="3D4D5A"/>
                </a:solidFill>
                <a:latin typeface="Microsoft JhengHei"/>
                <a:ea typeface="Microsoft JhengHei"/>
                <a:cs typeface="Microsoft JhengHei"/>
              </a:rPr>
              <a:t>明日排班決策頁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298484" y="4809743"/>
            <a:ext cx="3088538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000" b="0" i="0">
                <a:solidFill>
                  <a:srgbClr val="7C8B97"/>
                </a:solidFill>
                <a:latin typeface="Microsoft JhengHei"/>
                <a:ea typeface="Microsoft JhengHei"/>
                <a:cs typeface="Microsoft JhengHei"/>
              </a:rPr>
              <a:t>管理員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640080" y="5248655"/>
            <a:ext cx="3454298" cy="9601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7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640080" y="5248655"/>
            <a:ext cx="64008" cy="960120"/>
          </a:xfrm>
          <a:prstGeom prst="rect">
            <a:avLst/>
          </a:prstGeom>
          <a:solidFill>
            <a:srgbClr val="3450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841248" y="5358383"/>
            <a:ext cx="308853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250" b="1" i="0">
                <a:solidFill>
                  <a:srgbClr val="1C3D5A"/>
                </a:solidFill>
                <a:latin typeface="Consolas"/>
                <a:ea typeface="Microsoft JhengHei"/>
                <a:cs typeface="Consolas"/>
              </a:rPr>
              <a:t>admin_dashboard.php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41248" y="5687567"/>
            <a:ext cx="308853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150" b="0" i="0">
                <a:solidFill>
                  <a:srgbClr val="3D4D5A"/>
                </a:solidFill>
                <a:latin typeface="Microsoft JhengHei"/>
                <a:ea typeface="Microsoft JhengHei"/>
                <a:cs typeface="Microsoft JhengHei"/>
              </a:rPr>
              <a:t>分析儀表板 + 25 圖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41248" y="5934455"/>
            <a:ext cx="3088538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000" b="0" i="0">
                <a:solidFill>
                  <a:srgbClr val="7C8B97"/>
                </a:solidFill>
                <a:latin typeface="Microsoft JhengHei"/>
                <a:ea typeface="Microsoft JhengHei"/>
                <a:cs typeface="Microsoft JhengHei"/>
              </a:rPr>
              <a:t>管理員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4368698" y="5248655"/>
            <a:ext cx="3454298" cy="9601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7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4368698" y="5248655"/>
            <a:ext cx="64008" cy="960120"/>
          </a:xfrm>
          <a:prstGeom prst="rect">
            <a:avLst/>
          </a:prstGeom>
          <a:solidFill>
            <a:srgbClr val="1C3D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4569866" y="5358383"/>
            <a:ext cx="308853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250" b="1" i="0">
                <a:solidFill>
                  <a:srgbClr val="1C3D5A"/>
                </a:solidFill>
                <a:latin typeface="Consolas"/>
                <a:ea typeface="Microsoft JhengHei"/>
                <a:cs typeface="Consolas"/>
              </a:rPr>
              <a:t>api_status.php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4569866" y="5687567"/>
            <a:ext cx="308853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150" b="0" i="0">
                <a:solidFill>
                  <a:srgbClr val="3D4D5A"/>
                </a:solidFill>
                <a:latin typeface="Microsoft JhengHei"/>
                <a:ea typeface="Microsoft JhengHei"/>
                <a:cs typeface="Microsoft JhengHei"/>
              </a:rPr>
              <a:t>即時海況（60s 刷新）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4569866" y="5934455"/>
            <a:ext cx="3088538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000" b="0" i="0">
                <a:solidFill>
                  <a:srgbClr val="7C8B97"/>
                </a:solidFill>
                <a:latin typeface="Microsoft JhengHei"/>
                <a:ea typeface="Microsoft JhengHei"/>
                <a:cs typeface="Microsoft JhengHei"/>
              </a:rPr>
              <a:t>全部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8097316" y="5248655"/>
            <a:ext cx="3454298" cy="9601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7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8097316" y="5248655"/>
            <a:ext cx="64008" cy="960120"/>
          </a:xfrm>
          <a:prstGeom prst="rect">
            <a:avLst/>
          </a:prstGeom>
          <a:solidFill>
            <a:srgbClr val="3450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8298484" y="5358383"/>
            <a:ext cx="308853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250" b="1" i="0">
                <a:solidFill>
                  <a:srgbClr val="1C3D5A"/>
                </a:solidFill>
                <a:latin typeface="Consolas"/>
                <a:ea typeface="Microsoft JhengHei"/>
                <a:cs typeface="Consolas"/>
              </a:rPr>
              <a:t>reset_demo_pw.php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8298484" y="5687567"/>
            <a:ext cx="308853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150" b="0" i="0">
                <a:solidFill>
                  <a:srgbClr val="3D4D5A"/>
                </a:solidFill>
                <a:latin typeface="Microsoft JhengHei"/>
                <a:ea typeface="Microsoft JhengHei"/>
                <a:cs typeface="Microsoft JhengHei"/>
              </a:rPr>
              <a:t>Demo 密碼重設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8298484" y="5934455"/>
            <a:ext cx="3088538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000" b="0" i="0">
                <a:solidFill>
                  <a:srgbClr val="7C8B97"/>
                </a:solidFill>
                <a:latin typeface="Microsoft JhengHei"/>
                <a:ea typeface="Microsoft JhengHei"/>
                <a:cs typeface="Microsoft JhengHei"/>
              </a:rPr>
              <a:t>老闆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20624"/>
            <a:ext cx="109115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200" b="1" i="0">
                <a:solidFill>
                  <a:srgbClr val="C8922E"/>
                </a:solidFill>
                <a:latin typeface="Microsoft JhengHei"/>
                <a:ea typeface="Microsoft JhengHei"/>
                <a:cs typeface="Microsoft JhengHei"/>
              </a:rPr>
              <a:t>PHP 系統 · DEMO（一）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76656"/>
            <a:ext cx="10911535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2500" b="1" i="0">
                <a:solidFill>
                  <a:srgbClr val="1C3D5A"/>
                </a:solidFill>
                <a:latin typeface="Microsoft JhengHei"/>
                <a:ea typeface="Microsoft JhengHei"/>
                <a:cs typeface="Microsoft JhengHei"/>
              </a:rPr>
              <a:t>員工端：登入動畫與即時海象打卡頁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40080" y="1417320"/>
            <a:ext cx="566928" cy="0"/>
          </a:xfrm>
          <a:prstGeom prst="bentConnector3">
            <a:avLst/>
          </a:prstGeom>
          <a:ln w="30480">
            <a:solidFill>
              <a:srgbClr val="C892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640080" y="6455664"/>
            <a:ext cx="10911535" cy="0"/>
          </a:xfrm>
          <a:prstGeom prst="bentConnector3">
            <a:avLst/>
          </a:prstGeom>
          <a:ln w="9525">
            <a:solidFill>
              <a:srgbClr val="D7E0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40080" y="651052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950" b="0" i="0">
                <a:solidFill>
                  <a:srgbClr val="7C8B97"/>
                </a:solidFill>
                <a:latin typeface="Microsoft JhengHei"/>
                <a:ea typeface="Microsoft JhengHei"/>
                <a:cs typeface="Microsoft JhengHei"/>
              </a:rPr>
              <a:t>海勤人力資源與作業安全決策系統  ·  114-2 巨量資料與雲端運算  第 2 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54335" y="6510528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500"/>
              </a:spcAft>
            </a:pPr>
            <a:r>
              <a:rPr sz="950" b="0" i="0">
                <a:solidFill>
                  <a:srgbClr val="7C8B97"/>
                </a:solidFill>
                <a:latin typeface="Consolas"/>
                <a:ea typeface="Microsoft JhengHei"/>
                <a:cs typeface="Consolas"/>
              </a:rPr>
              <a:t>11</a:t>
            </a:r>
          </a:p>
        </p:txBody>
      </p:sp>
      <p:pic>
        <p:nvPicPr>
          <p:cNvPr id="8" name="Picture 7" descr="01_log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8660" y="1920240"/>
            <a:ext cx="5349240" cy="3566160"/>
          </a:xfrm>
          <a:prstGeom prst="rect">
            <a:avLst/>
          </a:prstGeom>
          <a:ln w="9525">
            <a:solidFill>
              <a:srgbClr val="C5D2DA"/>
            </a:solidFill>
          </a:ln>
        </p:spPr>
      </p:pic>
      <p:pic>
        <p:nvPicPr>
          <p:cNvPr id="9" name="Picture 8" descr="02_dashboar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1920240"/>
            <a:ext cx="5486400" cy="3526971"/>
          </a:xfrm>
          <a:prstGeom prst="rect">
            <a:avLst/>
          </a:prstGeom>
          <a:ln w="9525">
            <a:solidFill>
              <a:srgbClr val="C5D2DA"/>
            </a:solidFill>
          </a:ln>
        </p:spPr>
      </p:pic>
      <p:sp>
        <p:nvSpPr>
          <p:cNvPr id="10" name="TextBox 9"/>
          <p:cNvSpPr txBox="1"/>
          <p:nvPr/>
        </p:nvSpPr>
        <p:spPr>
          <a:xfrm>
            <a:off x="640080" y="55321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  <a:spcAft>
                <a:spcPts val="500"/>
              </a:spcAft>
            </a:pPr>
            <a:r>
              <a:rPr sz="1150" b="0" i="0">
                <a:solidFill>
                  <a:srgbClr val="7C8B97"/>
                </a:solidFill>
                <a:latin typeface="Microsoft JhengHei"/>
                <a:ea typeface="Microsoft JhengHei"/>
                <a:cs typeface="Microsoft JhengHei"/>
              </a:rPr>
              <a:t>登入頁 · 粒子波動動畫背景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55321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  <a:spcAft>
                <a:spcPts val="500"/>
              </a:spcAft>
            </a:pPr>
            <a:r>
              <a:rPr sz="1150" b="0" i="0">
                <a:solidFill>
                  <a:srgbClr val="7C8B97"/>
                </a:solidFill>
                <a:latin typeface="Microsoft JhengHei"/>
                <a:ea typeface="Microsoft JhengHei"/>
                <a:cs typeface="Microsoft JhengHei"/>
              </a:rPr>
              <a:t>打卡頁 · 即時海象橫幅 + 個人疲勞卡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5650992"/>
            <a:ext cx="10911535" cy="566928"/>
          </a:xfrm>
          <a:prstGeom prst="roundRect">
            <a:avLst>
              <a:gd name="adj" fmla="val 10000"/>
            </a:avLst>
          </a:prstGeom>
          <a:solidFill>
            <a:srgbClr val="FBF4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40080" y="5650992"/>
            <a:ext cx="82296" cy="566928"/>
          </a:xfrm>
          <a:prstGeom prst="rect">
            <a:avLst/>
          </a:prstGeom>
          <a:solidFill>
            <a:srgbClr val="C892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96112" y="5650992"/>
            <a:ext cx="137160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200" b="1" i="0">
                <a:solidFill>
                  <a:srgbClr val="C8922E"/>
                </a:solidFill>
                <a:latin typeface="Microsoft JhengHei"/>
                <a:ea typeface="Microsoft JhengHei"/>
                <a:cs typeface="Microsoft JhengHei"/>
              </a:rPr>
              <a:t>測試帳號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331720" y="5650992"/>
            <a:ext cx="8991295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300" b="0" i="0">
                <a:solidFill>
                  <a:srgbClr val="1C3D5A"/>
                </a:solidFill>
                <a:latin typeface="Microsoft JhengHei"/>
                <a:ea typeface="Microsoft JhengHei"/>
                <a:cs typeface="Microsoft JhengHei"/>
              </a:rPr>
              <a:t>boss1 / admin1 / em1　·　Demo 密碼 demo1234（種子密碼於首次啟動以 bcrypt 重設）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20624"/>
            <a:ext cx="109115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200" b="1" i="0">
                <a:solidFill>
                  <a:srgbClr val="C8922E"/>
                </a:solidFill>
                <a:latin typeface="Microsoft JhengHei"/>
                <a:ea typeface="Microsoft JhengHei"/>
                <a:cs typeface="Microsoft JhengHei"/>
              </a:rPr>
              <a:t>PHP 系統 · DEMO（二）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76656"/>
            <a:ext cx="10911535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2500" b="1" i="0">
                <a:solidFill>
                  <a:srgbClr val="1C3D5A"/>
                </a:solidFill>
                <a:latin typeface="Microsoft JhengHei"/>
                <a:ea typeface="Microsoft JhengHei"/>
                <a:cs typeface="Microsoft JhengHei"/>
              </a:rPr>
              <a:t>管理員端：25 張圖表 + 互動地圖整合儀表板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40080" y="1417320"/>
            <a:ext cx="566928" cy="0"/>
          </a:xfrm>
          <a:prstGeom prst="bentConnector3">
            <a:avLst/>
          </a:prstGeom>
          <a:ln w="30480">
            <a:solidFill>
              <a:srgbClr val="C892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640080" y="6455664"/>
            <a:ext cx="10911535" cy="0"/>
          </a:xfrm>
          <a:prstGeom prst="bentConnector3">
            <a:avLst/>
          </a:prstGeom>
          <a:ln w="9525">
            <a:solidFill>
              <a:srgbClr val="D7E0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40080" y="651052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950" b="0" i="0">
                <a:solidFill>
                  <a:srgbClr val="7C8B97"/>
                </a:solidFill>
                <a:latin typeface="Microsoft JhengHei"/>
                <a:ea typeface="Microsoft JhengHei"/>
                <a:cs typeface="Microsoft JhengHei"/>
              </a:rPr>
              <a:t>海勤人力資源與作業安全決策系統  ·  114-2 巨量資料與雲端運算  第 2 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54335" y="6510528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500"/>
              </a:spcAft>
            </a:pPr>
            <a:r>
              <a:rPr sz="950" b="0" i="0">
                <a:solidFill>
                  <a:srgbClr val="7C8B97"/>
                </a:solidFill>
                <a:latin typeface="Consolas"/>
                <a:ea typeface="Microsoft JhengHei"/>
                <a:cs typeface="Consolas"/>
              </a:rPr>
              <a:t>12</a:t>
            </a:r>
          </a:p>
        </p:txBody>
      </p:sp>
      <p:pic>
        <p:nvPicPr>
          <p:cNvPr id="8" name="Picture 7" descr="03_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45163" y="1874519"/>
            <a:ext cx="3505032" cy="4434840"/>
          </a:xfrm>
          <a:prstGeom prst="rect">
            <a:avLst/>
          </a:prstGeom>
          <a:ln w="9525">
            <a:solidFill>
              <a:srgbClr val="C5D2DA"/>
            </a:solidFill>
          </a:ln>
        </p:spPr>
      </p:pic>
      <p:sp>
        <p:nvSpPr>
          <p:cNvPr id="9" name="TextBox 8"/>
          <p:cNvSpPr txBox="1"/>
          <p:nvPr/>
        </p:nvSpPr>
        <p:spPr>
          <a:xfrm>
            <a:off x="8229600" y="1874519"/>
            <a:ext cx="3322015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350" b="1" i="0">
                <a:solidFill>
                  <a:srgbClr val="1C3D5A"/>
                </a:solidFill>
                <a:latin typeface="Microsoft JhengHei"/>
                <a:ea typeface="Microsoft JhengHei"/>
                <a:cs typeface="Microsoft JhengHei"/>
              </a:rPr>
              <a:t>儀表板內容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8229600" y="2203703"/>
            <a:ext cx="3322015" cy="0"/>
          </a:xfrm>
          <a:prstGeom prst="bentConnector3">
            <a:avLst/>
          </a:prstGeom>
          <a:ln w="12700">
            <a:solidFill>
              <a:srgbClr val="D7E0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8229600" y="2331719"/>
            <a:ext cx="3322015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250" b="1" i="0">
                <a:solidFill>
                  <a:srgbClr val="C8922E"/>
                </a:solidFill>
                <a:latin typeface="Microsoft JhengHei"/>
                <a:ea typeface="Microsoft JhengHei"/>
                <a:cs typeface="Microsoft JhengHei"/>
              </a:rPr>
              <a:t>▪  </a:t>
            </a:r>
            <a:r>
              <a:rPr sz="1250" b="0" i="0">
                <a:solidFill>
                  <a:srgbClr val="3D4D5A"/>
                </a:solidFill>
                <a:latin typeface="Microsoft JhengHei"/>
                <a:ea typeface="Microsoft JhengHei"/>
                <a:cs typeface="Microsoft JhengHei"/>
              </a:rPr>
              <a:t>排班決策摘要（明日班表概覽）</a:t>
            </a:r>
          </a:p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250" b="1" i="0">
                <a:solidFill>
                  <a:srgbClr val="C8922E"/>
                </a:solidFill>
                <a:latin typeface="Microsoft JhengHei"/>
                <a:ea typeface="Microsoft JhengHei"/>
                <a:cs typeface="Microsoft JhengHei"/>
              </a:rPr>
              <a:t>▪  </a:t>
            </a:r>
            <a:r>
              <a:rPr sz="1250" b="0" i="0">
                <a:solidFill>
                  <a:srgbClr val="3D4D5A"/>
                </a:solidFill>
                <a:latin typeface="Microsoft JhengHei"/>
                <a:ea typeface="Microsoft JhengHei"/>
                <a:cs typeface="Microsoft JhengHei"/>
              </a:rPr>
              <a:t>Folium 互動海域地圖（可縮放點擊）</a:t>
            </a:r>
          </a:p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250" b="1" i="0">
                <a:solidFill>
                  <a:srgbClr val="C8922E"/>
                </a:solidFill>
                <a:latin typeface="Microsoft JhengHei"/>
                <a:ea typeface="Microsoft JhengHei"/>
                <a:cs typeface="Microsoft JhengHei"/>
              </a:rPr>
              <a:t>▪  </a:t>
            </a:r>
            <a:r>
              <a:rPr sz="1250" b="0" i="0">
                <a:solidFill>
                  <a:srgbClr val="3D4D5A"/>
                </a:solidFill>
                <a:latin typeface="Microsoft JhengHei"/>
                <a:ea typeface="Microsoft JhengHei"/>
                <a:cs typeface="Microsoft JhengHei"/>
              </a:rPr>
              <a:t>25 張統計圖表嵌入呈現</a:t>
            </a:r>
          </a:p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250" b="1" i="0">
                <a:solidFill>
                  <a:srgbClr val="C8922E"/>
                </a:solidFill>
                <a:latin typeface="Microsoft JhengHei"/>
                <a:ea typeface="Microsoft JhengHei"/>
                <a:cs typeface="Microsoft JhengHei"/>
              </a:rPr>
              <a:t>▪  </a:t>
            </a:r>
            <a:r>
              <a:rPr sz="1250" b="0" i="0">
                <a:solidFill>
                  <a:srgbClr val="3D4D5A"/>
                </a:solidFill>
                <a:latin typeface="Microsoft JhengHei"/>
                <a:ea typeface="Microsoft JhengHei"/>
                <a:cs typeface="Microsoft JhengHei"/>
              </a:rPr>
              <a:t>點選任一圖可展開原圖</a:t>
            </a:r>
          </a:p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250" b="1" i="0">
                <a:solidFill>
                  <a:srgbClr val="C8922E"/>
                </a:solidFill>
                <a:latin typeface="Microsoft JhengHei"/>
                <a:ea typeface="Microsoft JhengHei"/>
                <a:cs typeface="Microsoft JhengHei"/>
              </a:rPr>
              <a:t>▪  </a:t>
            </a:r>
            <a:r>
              <a:rPr sz="1250" b="0" i="0">
                <a:solidFill>
                  <a:srgbClr val="3D4D5A"/>
                </a:solidFill>
                <a:latin typeface="Microsoft JhengHei"/>
                <a:ea typeface="Microsoft JhengHei"/>
                <a:cs typeface="Microsoft JhengHei"/>
              </a:rPr>
              <a:t>每 60 秒自動刷新即時海象橫幅</a:t>
            </a:r>
          </a:p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250" b="1" i="0">
                <a:solidFill>
                  <a:srgbClr val="C8922E"/>
                </a:solidFill>
                <a:latin typeface="Microsoft JhengHei"/>
                <a:ea typeface="Microsoft JhengHei"/>
                <a:cs typeface="Microsoft JhengHei"/>
              </a:rPr>
              <a:t>▪  </a:t>
            </a:r>
            <a:r>
              <a:rPr sz="1250" b="0" i="0">
                <a:solidFill>
                  <a:srgbClr val="3D4D5A"/>
                </a:solidFill>
                <a:latin typeface="Microsoft JhengHei"/>
                <a:ea typeface="Microsoft JhengHei"/>
                <a:cs typeface="Microsoft JhengHei"/>
              </a:rPr>
              <a:t>響應式版面，行動裝置亦可瀏覽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C3D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822960"/>
            <a:ext cx="4572000" cy="2926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20000" b="1" i="0">
                <a:solidFill>
                  <a:srgbClr val="E9F0F4"/>
                </a:solidFill>
                <a:latin typeface="Consolas"/>
                <a:ea typeface="Microsoft JhengHei"/>
                <a:cs typeface="Consolas"/>
              </a:rPr>
              <a:t>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2788920"/>
            <a:ext cx="64008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300" b="1" i="0">
                <a:solidFill>
                  <a:srgbClr val="C8922E"/>
                </a:solidFill>
                <a:latin typeface="Consolas"/>
                <a:ea typeface="Microsoft JhengHei"/>
                <a:cs typeface="Consolas"/>
              </a:rPr>
              <a:t>SECTION 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3108960"/>
            <a:ext cx="77724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3600" b="1" i="0">
                <a:solidFill>
                  <a:srgbClr val="1C3D5A"/>
                </a:solidFill>
                <a:latin typeface="Microsoft JhengHei"/>
                <a:ea typeface="Microsoft JhengHei"/>
                <a:cs typeface="Microsoft JhengHei"/>
              </a:rPr>
              <a:t>核心：自動排班引擎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4069080"/>
            <a:ext cx="7772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500" b="0" i="0">
                <a:solidFill>
                  <a:srgbClr val="7C8B97"/>
                </a:solidFill>
                <a:latin typeface="Consolas"/>
                <a:ea typeface="Microsoft JhengHei"/>
                <a:cs typeface="Consolas"/>
              </a:rPr>
              <a:t>Automated Scheduling Engine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886968" y="3931920"/>
            <a:ext cx="2743200" cy="0"/>
          </a:xfrm>
          <a:prstGeom prst="bentConnector3">
            <a:avLst/>
          </a:prstGeom>
          <a:ln w="30480">
            <a:solidFill>
              <a:srgbClr val="C892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7955279" y="1371600"/>
            <a:ext cx="36576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200" b="1" i="0">
                <a:solidFill>
                  <a:srgbClr val="C8922E"/>
                </a:solidFill>
                <a:latin typeface="Microsoft JhengHei"/>
                <a:ea typeface="Microsoft JhengHei"/>
                <a:cs typeface="Microsoft JhengHei"/>
              </a:rPr>
              <a:t>本章內容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955279" y="1700784"/>
            <a:ext cx="3657600" cy="0"/>
          </a:xfrm>
          <a:prstGeom prst="bentConnector3">
            <a:avLst/>
          </a:prstGeom>
          <a:ln w="12700">
            <a:solidFill>
              <a:srgbClr val="D7E0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7955279" y="1865376"/>
            <a:ext cx="3657600" cy="4114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1100"/>
              </a:spcAft>
            </a:pPr>
            <a:r>
              <a:rPr sz="1300" b="1" i="0">
                <a:solidFill>
                  <a:srgbClr val="C8922E"/>
                </a:solidFill>
                <a:latin typeface="Microsoft JhengHei"/>
                <a:ea typeface="Microsoft JhengHei"/>
                <a:cs typeface="Microsoft JhengHei"/>
              </a:rPr>
              <a:t>▪  </a:t>
            </a:r>
            <a:r>
              <a:rPr sz="1300" b="0" i="0">
                <a:solidFill>
                  <a:srgbClr val="3D4D5A"/>
                </a:solidFill>
                <a:latin typeface="Microsoft JhengHei"/>
                <a:ea typeface="Microsoft JhengHei"/>
                <a:cs typeface="Microsoft JhengHei"/>
              </a:rPr>
              <a:t>為何排班是核心差異</a:t>
            </a:r>
          </a:p>
          <a:p>
            <a:pPr algn="l">
              <a:lnSpc>
                <a:spcPct val="120000"/>
              </a:lnSpc>
              <a:spcAft>
                <a:spcPts val="1100"/>
              </a:spcAft>
            </a:pPr>
            <a:r>
              <a:rPr sz="1300" b="1" i="0">
                <a:solidFill>
                  <a:srgbClr val="C8922E"/>
                </a:solidFill>
                <a:latin typeface="Microsoft JhengHei"/>
                <a:ea typeface="Microsoft JhengHei"/>
                <a:cs typeface="Microsoft JhengHei"/>
              </a:rPr>
              <a:t>▪  </a:t>
            </a:r>
            <a:r>
              <a:rPr sz="1300" b="0" i="0">
                <a:solidFill>
                  <a:srgbClr val="3D4D5A"/>
                </a:solidFill>
                <a:latin typeface="Microsoft JhengHei"/>
                <a:ea typeface="Microsoft JhengHei"/>
                <a:cs typeface="Microsoft JhengHei"/>
              </a:rPr>
              <a:t>scheduler.php Demo</a:t>
            </a:r>
          </a:p>
          <a:p>
            <a:pPr algn="l">
              <a:lnSpc>
                <a:spcPct val="120000"/>
              </a:lnSpc>
              <a:spcAft>
                <a:spcPts val="1100"/>
              </a:spcAft>
            </a:pPr>
            <a:r>
              <a:rPr sz="1300" b="1" i="0">
                <a:solidFill>
                  <a:srgbClr val="C8922E"/>
                </a:solidFill>
                <a:latin typeface="Microsoft JhengHei"/>
                <a:ea typeface="Microsoft JhengHei"/>
                <a:cs typeface="Microsoft JhengHei"/>
              </a:rPr>
              <a:t>▪  </a:t>
            </a:r>
            <a:r>
              <a:rPr sz="1300" b="0" i="0">
                <a:solidFill>
                  <a:srgbClr val="3D4D5A"/>
                </a:solidFill>
                <a:latin typeface="Microsoft JhengHei"/>
                <a:ea typeface="Microsoft JhengHei"/>
                <a:cs typeface="Microsoft JhengHei"/>
              </a:rPr>
              <a:t>輸入 → 引擎 → 輸出</a:t>
            </a:r>
          </a:p>
          <a:p>
            <a:pPr algn="l">
              <a:lnSpc>
                <a:spcPct val="120000"/>
              </a:lnSpc>
              <a:spcAft>
                <a:spcPts val="1100"/>
              </a:spcAft>
            </a:pPr>
            <a:r>
              <a:rPr sz="1300" b="1" i="0">
                <a:solidFill>
                  <a:srgbClr val="C8922E"/>
                </a:solidFill>
                <a:latin typeface="Microsoft JhengHei"/>
                <a:ea typeface="Microsoft JhengHei"/>
                <a:cs typeface="Microsoft JhengHei"/>
              </a:rPr>
              <a:t>▪  </a:t>
            </a:r>
            <a:r>
              <a:rPr sz="1300" b="0" i="0">
                <a:solidFill>
                  <a:srgbClr val="3D4D5A"/>
                </a:solidFill>
                <a:latin typeface="Microsoft JhengHei"/>
                <a:ea typeface="Microsoft JhengHei"/>
                <a:cs typeface="Microsoft JhengHei"/>
              </a:rPr>
              <a:t>五條決策規則</a:t>
            </a:r>
          </a:p>
          <a:p>
            <a:pPr algn="l">
              <a:lnSpc>
                <a:spcPct val="120000"/>
              </a:lnSpc>
              <a:spcAft>
                <a:spcPts val="1100"/>
              </a:spcAft>
            </a:pPr>
            <a:r>
              <a:rPr sz="1300" b="1" i="0">
                <a:solidFill>
                  <a:srgbClr val="C8922E"/>
                </a:solidFill>
                <a:latin typeface="Microsoft JhengHei"/>
                <a:ea typeface="Microsoft JhengHei"/>
                <a:cs typeface="Microsoft JhengHei"/>
              </a:rPr>
              <a:t>▪  </a:t>
            </a:r>
            <a:r>
              <a:rPr sz="1300" b="0" i="0">
                <a:solidFill>
                  <a:srgbClr val="3D4D5A"/>
                </a:solidFill>
                <a:latin typeface="Microsoft JhengHei"/>
                <a:ea typeface="Microsoft JhengHei"/>
                <a:cs typeface="Microsoft JhengHei"/>
              </a:rPr>
              <a:t>MILP 數學模型</a:t>
            </a:r>
          </a:p>
          <a:p>
            <a:pPr algn="l">
              <a:lnSpc>
                <a:spcPct val="120000"/>
              </a:lnSpc>
              <a:spcAft>
                <a:spcPts val="1100"/>
              </a:spcAft>
            </a:pPr>
            <a:r>
              <a:rPr sz="1300" b="1" i="0">
                <a:solidFill>
                  <a:srgbClr val="C8922E"/>
                </a:solidFill>
                <a:latin typeface="Microsoft JhengHei"/>
                <a:ea typeface="Microsoft JhengHei"/>
                <a:cs typeface="Microsoft JhengHei"/>
              </a:rPr>
              <a:t>▪  </a:t>
            </a:r>
            <a:r>
              <a:rPr sz="1300" b="0" i="0">
                <a:solidFill>
                  <a:srgbClr val="3D4D5A"/>
                </a:solidFill>
                <a:latin typeface="Microsoft JhengHei"/>
                <a:ea typeface="Microsoft JhengHei"/>
                <a:cs typeface="Microsoft JhengHei"/>
              </a:rPr>
              <a:t>最優性驗證</a:t>
            </a:r>
          </a:p>
          <a:p>
            <a:pPr algn="l">
              <a:lnSpc>
                <a:spcPct val="120000"/>
              </a:lnSpc>
              <a:spcAft>
                <a:spcPts val="1100"/>
              </a:spcAft>
            </a:pPr>
            <a:r>
              <a:rPr sz="1300" b="1" i="0">
                <a:solidFill>
                  <a:srgbClr val="C8922E"/>
                </a:solidFill>
                <a:latin typeface="Microsoft JhengHei"/>
                <a:ea typeface="Microsoft JhengHei"/>
                <a:cs typeface="Microsoft JhengHei"/>
              </a:rPr>
              <a:t>▪  </a:t>
            </a:r>
            <a:r>
              <a:rPr sz="1300" b="0" i="0">
                <a:solidFill>
                  <a:srgbClr val="3D4D5A"/>
                </a:solidFill>
                <a:latin typeface="Microsoft JhengHei"/>
                <a:ea typeface="Microsoft JhengHei"/>
                <a:cs typeface="Microsoft JhengHei"/>
              </a:rPr>
              <a:t>實機班表輸出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640080" y="6455664"/>
            <a:ext cx="10911535" cy="0"/>
          </a:xfrm>
          <a:prstGeom prst="bentConnector3">
            <a:avLst/>
          </a:prstGeom>
          <a:ln w="9525">
            <a:solidFill>
              <a:srgbClr val="D7E0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640080" y="651052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950" b="0" i="0">
                <a:solidFill>
                  <a:srgbClr val="7C8B97"/>
                </a:solidFill>
                <a:latin typeface="Microsoft JhengHei"/>
                <a:ea typeface="Microsoft JhengHei"/>
                <a:cs typeface="Microsoft JhengHei"/>
              </a:rPr>
              <a:t>海勤人力資源與作業安全決策系統  ·  114-2 巨量資料與雲端運算  第 2 組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20624"/>
            <a:ext cx="109115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200" b="1" i="0">
                <a:solidFill>
                  <a:srgbClr val="C8922E"/>
                </a:solidFill>
                <a:latin typeface="Microsoft JhengHei"/>
                <a:ea typeface="Microsoft JhengHei"/>
                <a:cs typeface="Microsoft JhengHei"/>
              </a:rPr>
              <a:t>排班引擎 · 核心功能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76656"/>
            <a:ext cx="10911535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2500" b="1" i="0">
                <a:solidFill>
                  <a:srgbClr val="1C3D5A"/>
                </a:solidFill>
                <a:latin typeface="Microsoft JhengHei"/>
                <a:ea typeface="Microsoft JhengHei"/>
                <a:cs typeface="Microsoft JhengHei"/>
              </a:rPr>
              <a:t>四項純海象資料系統無法產出的決策輸出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40080" y="1417320"/>
            <a:ext cx="566928" cy="0"/>
          </a:xfrm>
          <a:prstGeom prst="bentConnector3">
            <a:avLst/>
          </a:prstGeom>
          <a:ln w="30480">
            <a:solidFill>
              <a:srgbClr val="C892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640080" y="6455664"/>
            <a:ext cx="10911535" cy="0"/>
          </a:xfrm>
          <a:prstGeom prst="bentConnector3">
            <a:avLst/>
          </a:prstGeom>
          <a:ln w="9525">
            <a:solidFill>
              <a:srgbClr val="D7E0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40080" y="651052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950" b="0" i="0">
                <a:solidFill>
                  <a:srgbClr val="7C8B97"/>
                </a:solidFill>
                <a:latin typeface="Microsoft JhengHei"/>
                <a:ea typeface="Microsoft JhengHei"/>
                <a:cs typeface="Microsoft JhengHei"/>
              </a:rPr>
              <a:t>海勤人力資源與作業安全決策系統  ·  114-2 巨量資料與雲端運算  第 2 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54335" y="6510528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500"/>
              </a:spcAft>
            </a:pPr>
            <a:r>
              <a:rPr sz="950" b="0" i="0">
                <a:solidFill>
                  <a:srgbClr val="7C8B97"/>
                </a:solidFill>
                <a:latin typeface="Consolas"/>
                <a:ea typeface="Microsoft JhengHei"/>
                <a:cs typeface="Consolas"/>
              </a:rPr>
              <a:t>13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920240"/>
            <a:ext cx="5669280" cy="13716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7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1920240"/>
            <a:ext cx="73152" cy="1371600"/>
          </a:xfrm>
          <a:prstGeom prst="rect">
            <a:avLst/>
          </a:prstGeom>
          <a:solidFill>
            <a:srgbClr val="C892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96112" y="2084832"/>
            <a:ext cx="521208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500" b="1" i="0">
                <a:solidFill>
                  <a:srgbClr val="1C3D5A"/>
                </a:solidFill>
                <a:latin typeface="Microsoft JhengHei"/>
                <a:ea typeface="Microsoft JhengHei"/>
                <a:cs typeface="Microsoft JhengHei"/>
              </a:rPr>
              <a:t>自動排班班表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6112" y="2487168"/>
            <a:ext cx="52120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200" b="0" i="0">
                <a:solidFill>
                  <a:srgbClr val="3D4D5A"/>
                </a:solidFill>
                <a:latin typeface="Microsoft JhengHei"/>
                <a:ea typeface="Microsoft JhengHei"/>
                <a:cs typeface="Microsoft JhengHei"/>
              </a:rPr>
              <a:t>綜合海況風險、人員疲勞、外海暴露、船艦可用性四項因子，自動產出明日具名值勤班表。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0" y="1920240"/>
            <a:ext cx="5669280" cy="13716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7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583680" y="1920240"/>
            <a:ext cx="73152" cy="1371600"/>
          </a:xfrm>
          <a:prstGeom prst="rect">
            <a:avLst/>
          </a:prstGeom>
          <a:solidFill>
            <a:srgbClr val="1C3D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39712" y="2084832"/>
            <a:ext cx="521208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500" b="1" i="0">
                <a:solidFill>
                  <a:srgbClr val="1C3D5A"/>
                </a:solidFill>
                <a:latin typeface="Microsoft JhengHei"/>
                <a:ea typeface="Microsoft JhengHei"/>
                <a:cs typeface="Microsoft JhengHei"/>
              </a:rPr>
              <a:t>人員疲勞指數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39712" y="2487168"/>
            <a:ext cx="52120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200" b="0" i="0">
                <a:solidFill>
                  <a:srgbClr val="3D4D5A"/>
                </a:solidFill>
                <a:latin typeface="Microsoft JhengHei"/>
                <a:ea typeface="Microsoft JhengHei"/>
                <a:cs typeface="Microsoft JhengHei"/>
              </a:rPr>
              <a:t>連續值勤天數（60%）× 近 7 日累計工時（40%）合成 0–100 疲勞分，高疲勞者自動降低外海負荷。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3474720"/>
            <a:ext cx="5669280" cy="13716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7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40080" y="3474720"/>
            <a:ext cx="73152" cy="1371600"/>
          </a:xfrm>
          <a:prstGeom prst="rect">
            <a:avLst/>
          </a:prstGeom>
          <a:solidFill>
            <a:srgbClr val="4E8C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96112" y="3639312"/>
            <a:ext cx="521208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500" b="1" i="0">
                <a:solidFill>
                  <a:srgbClr val="1C3D5A"/>
                </a:solidFill>
                <a:latin typeface="Microsoft JhengHei"/>
                <a:ea typeface="Microsoft JhengHei"/>
                <a:cs typeface="Microsoft JhengHei"/>
              </a:rPr>
              <a:t>工時公平性 Gini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96112" y="4041648"/>
            <a:ext cx="52120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200" b="0" i="0">
                <a:solidFill>
                  <a:srgbClr val="3D4D5A"/>
                </a:solidFill>
                <a:latin typeface="Microsoft JhengHei"/>
                <a:ea typeface="Microsoft JhengHei"/>
                <a:cs typeface="Microsoft JhengHei"/>
              </a:rPr>
              <a:t>Lorenz 曲線量化人員工時分配均等度，Gini = 0.042，確保排班公平可追溯。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83680" y="3474720"/>
            <a:ext cx="5669280" cy="13716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7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583680" y="3474720"/>
            <a:ext cx="73152" cy="1371600"/>
          </a:xfrm>
          <a:prstGeom prst="rect">
            <a:avLst/>
          </a:prstGeom>
          <a:solidFill>
            <a:srgbClr val="3450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839712" y="3639312"/>
            <a:ext cx="521208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500" b="1" i="0">
                <a:solidFill>
                  <a:srgbClr val="1C3D5A"/>
                </a:solidFill>
                <a:latin typeface="Microsoft JhengHei"/>
                <a:ea typeface="Microsoft JhengHei"/>
                <a:cs typeface="Microsoft JhengHei"/>
              </a:rPr>
              <a:t>船艦可用性管理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39712" y="4041648"/>
            <a:ext cx="52120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200" b="0" i="0">
                <a:solidFill>
                  <a:srgbClr val="3D4D5A"/>
                </a:solidFill>
                <a:latin typeface="Microsoft JhengHei"/>
                <a:ea typeface="Microsoft JhengHei"/>
                <a:cs typeface="Microsoft JhengHei"/>
              </a:rPr>
              <a:t>依累計趟次推估維護需求，可用度 &lt; 30% 自動排除於排班候選池。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5650992"/>
            <a:ext cx="10911535" cy="566928"/>
          </a:xfrm>
          <a:prstGeom prst="roundRect">
            <a:avLst>
              <a:gd name="adj" fmla="val 10000"/>
            </a:avLst>
          </a:prstGeom>
          <a:solidFill>
            <a:srgbClr val="FBF4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40080" y="5650992"/>
            <a:ext cx="82296" cy="566928"/>
          </a:xfrm>
          <a:prstGeom prst="rect">
            <a:avLst/>
          </a:prstGeom>
          <a:solidFill>
            <a:srgbClr val="C892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96112" y="5650992"/>
            <a:ext cx="137160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200" b="1" i="0">
                <a:solidFill>
                  <a:srgbClr val="C8922E"/>
                </a:solidFill>
                <a:latin typeface="Microsoft JhengHei"/>
                <a:ea typeface="Microsoft JhengHei"/>
                <a:cs typeface="Microsoft JhengHei"/>
              </a:rPr>
              <a:t>整合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331720" y="5650992"/>
            <a:ext cx="8991295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300" b="0" i="0">
                <a:solidFill>
                  <a:srgbClr val="1C3D5A"/>
                </a:solidFill>
                <a:latin typeface="Microsoft JhengHei"/>
                <a:ea typeface="Microsoft JhengHei"/>
                <a:cs typeface="Microsoft JhengHei"/>
              </a:rPr>
              <a:t>四項功能共用同一個排班引擎，以 MILP 全域最佳化一次求解 — 不是分別看四張圖再人工判斷。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20624"/>
            <a:ext cx="109115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200" b="1" i="0">
                <a:solidFill>
                  <a:srgbClr val="C8922E"/>
                </a:solidFill>
                <a:latin typeface="Microsoft JhengHei"/>
                <a:ea typeface="Microsoft JhengHei"/>
                <a:cs typeface="Microsoft JhengHei"/>
              </a:rPr>
              <a:t>排班引擎 · DEMO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76656"/>
            <a:ext cx="10911535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2500" b="1" i="0">
                <a:solidFill>
                  <a:srgbClr val="1C3D5A"/>
                </a:solidFill>
                <a:latin typeface="Microsoft JhengHei"/>
                <a:ea typeface="Microsoft JhengHei"/>
                <a:cs typeface="Microsoft JhengHei"/>
              </a:rPr>
              <a:t>scheduler.php：海況機率自動產出明日班表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40080" y="1417320"/>
            <a:ext cx="566928" cy="0"/>
          </a:xfrm>
          <a:prstGeom prst="bentConnector3">
            <a:avLst/>
          </a:prstGeom>
          <a:ln w="30480">
            <a:solidFill>
              <a:srgbClr val="C892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640080" y="6455664"/>
            <a:ext cx="10911535" cy="0"/>
          </a:xfrm>
          <a:prstGeom prst="bentConnector3">
            <a:avLst/>
          </a:prstGeom>
          <a:ln w="9525">
            <a:solidFill>
              <a:srgbClr val="D7E0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40080" y="651052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950" b="0" i="0">
                <a:solidFill>
                  <a:srgbClr val="7C8B97"/>
                </a:solidFill>
                <a:latin typeface="Microsoft JhengHei"/>
                <a:ea typeface="Microsoft JhengHei"/>
                <a:cs typeface="Microsoft JhengHei"/>
              </a:rPr>
              <a:t>海勤人力資源與作業安全決策系統  ·  114-2 巨量資料與雲端運算  第 2 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54335" y="6510528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500"/>
              </a:spcAft>
            </a:pPr>
            <a:r>
              <a:rPr sz="950" b="0" i="0">
                <a:solidFill>
                  <a:srgbClr val="7C8B97"/>
                </a:solidFill>
                <a:latin typeface="Consolas"/>
                <a:ea typeface="Microsoft JhengHei"/>
                <a:cs typeface="Consolas"/>
              </a:rPr>
              <a:t>14</a:t>
            </a:r>
          </a:p>
        </p:txBody>
      </p:sp>
      <p:pic>
        <p:nvPicPr>
          <p:cNvPr id="8" name="Picture 7" descr="02_schedul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51936" y="1874519"/>
            <a:ext cx="3314047" cy="4434840"/>
          </a:xfrm>
          <a:prstGeom prst="rect">
            <a:avLst/>
          </a:prstGeom>
          <a:ln w="9525">
            <a:solidFill>
              <a:srgbClr val="C5D2DA"/>
            </a:solidFill>
          </a:ln>
        </p:spPr>
      </p:pic>
      <p:sp>
        <p:nvSpPr>
          <p:cNvPr id="9" name="TextBox 8"/>
          <p:cNvSpPr txBox="1"/>
          <p:nvPr/>
        </p:nvSpPr>
        <p:spPr>
          <a:xfrm>
            <a:off x="5852160" y="1874519"/>
            <a:ext cx="5699455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350" b="1" i="0">
                <a:solidFill>
                  <a:srgbClr val="1C3D5A"/>
                </a:solidFill>
                <a:latin typeface="Microsoft JhengHei"/>
                <a:ea typeface="Microsoft JhengHei"/>
                <a:cs typeface="Microsoft JhengHei"/>
              </a:rPr>
              <a:t>頁面資訊架構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5852160" y="2203703"/>
            <a:ext cx="5699455" cy="0"/>
          </a:xfrm>
          <a:prstGeom prst="bentConnector3">
            <a:avLst/>
          </a:prstGeom>
          <a:ln w="12700">
            <a:solidFill>
              <a:srgbClr val="D7E0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5852160" y="2331719"/>
            <a:ext cx="5699455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300" b="1" i="0">
                <a:solidFill>
                  <a:srgbClr val="C8922E"/>
                </a:solidFill>
                <a:latin typeface="Microsoft JhengHei"/>
                <a:ea typeface="Microsoft JhengHei"/>
                <a:cs typeface="Microsoft JhengHei"/>
              </a:rPr>
              <a:t>▪  </a:t>
            </a:r>
            <a:r>
              <a:rPr sz="1300" b="1" i="0">
                <a:solidFill>
                  <a:srgbClr val="1C3D5A"/>
                </a:solidFill>
                <a:latin typeface="Microsoft JhengHei"/>
                <a:ea typeface="Microsoft JhengHei"/>
                <a:cs typeface="Microsoft JhengHei"/>
              </a:rPr>
              <a:t>頁頂 KPI：四項決策輸入</a:t>
            </a:r>
          </a:p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100" b="1" i="0">
                <a:solidFill>
                  <a:srgbClr val="C5D2DA"/>
                </a:solidFill>
                <a:latin typeface="Microsoft JhengHei"/>
                <a:ea typeface="Microsoft JhengHei"/>
                <a:cs typeface="Microsoft JhengHei"/>
              </a:rPr>
              <a:t>–  </a:t>
            </a:r>
            <a:r>
              <a:rPr sz="1100" b="0" i="0">
                <a:solidFill>
                  <a:srgbClr val="7C8B97"/>
                </a:solidFill>
                <a:latin typeface="Microsoft JhengHei"/>
                <a:ea typeface="Microsoft JhengHei"/>
                <a:cs typeface="Microsoft JhengHei"/>
              </a:rPr>
              <a:t>明日惡劣海況機率（ML %）</a:t>
            </a:r>
          </a:p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100" b="1" i="0">
                <a:solidFill>
                  <a:srgbClr val="C5D2DA"/>
                </a:solidFill>
                <a:latin typeface="Microsoft JhengHei"/>
                <a:ea typeface="Microsoft JhengHei"/>
                <a:cs typeface="Microsoft JhengHei"/>
              </a:rPr>
              <a:t>–  </a:t>
            </a:r>
            <a:r>
              <a:rPr sz="1100" b="0" i="0">
                <a:solidFill>
                  <a:srgbClr val="7C8B97"/>
                </a:solidFill>
                <a:latin typeface="Microsoft JhengHei"/>
                <a:ea typeface="Microsoft JhengHei"/>
                <a:cs typeface="Microsoft JhengHei"/>
              </a:rPr>
              <a:t>高疲勞人數</a:t>
            </a:r>
          </a:p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100" b="1" i="0">
                <a:solidFill>
                  <a:srgbClr val="C5D2DA"/>
                </a:solidFill>
                <a:latin typeface="Microsoft JhengHei"/>
                <a:ea typeface="Microsoft JhengHei"/>
                <a:cs typeface="Microsoft JhengHei"/>
              </a:rPr>
              <a:t>–  </a:t>
            </a:r>
            <a:r>
              <a:rPr sz="1100" b="0" i="0">
                <a:solidFill>
                  <a:srgbClr val="7C8B97"/>
                </a:solidFill>
                <a:latin typeface="Microsoft JhengHei"/>
                <a:ea typeface="Microsoft JhengHei"/>
                <a:cs typeface="Microsoft JhengHei"/>
              </a:rPr>
              <a:t>可用 / 維護中船艦數</a:t>
            </a:r>
          </a:p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300" b="1" i="0">
                <a:solidFill>
                  <a:srgbClr val="C8922E"/>
                </a:solidFill>
                <a:latin typeface="Microsoft JhengHei"/>
                <a:ea typeface="Microsoft JhengHei"/>
                <a:cs typeface="Microsoft JhengHei"/>
              </a:rPr>
              <a:t>▪  </a:t>
            </a:r>
            <a:r>
              <a:rPr sz="1300" b="1" i="0">
                <a:solidFill>
                  <a:srgbClr val="1C3D5A"/>
                </a:solidFill>
                <a:latin typeface="Microsoft JhengHei"/>
                <a:ea typeface="Microsoft JhengHei"/>
                <a:cs typeface="Microsoft JhengHei"/>
              </a:rPr>
              <a:t>三欄班表：港口 · 近海 · 外海</a:t>
            </a:r>
          </a:p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100" b="1" i="0">
                <a:solidFill>
                  <a:srgbClr val="C5D2DA"/>
                </a:solidFill>
                <a:latin typeface="Microsoft JhengHei"/>
                <a:ea typeface="Microsoft JhengHei"/>
                <a:cs typeface="Microsoft JhengHei"/>
              </a:rPr>
              <a:t>–  </a:t>
            </a:r>
            <a:r>
              <a:rPr sz="1100" b="0" i="0">
                <a:solidFill>
                  <a:srgbClr val="7C8B97"/>
                </a:solidFill>
                <a:latin typeface="Microsoft JhengHei"/>
                <a:ea typeface="Microsoft JhengHei"/>
                <a:cs typeface="Microsoft JhengHei"/>
              </a:rPr>
              <a:t>每張人員卡：姓名 / 船艦 / 疲勞分 / 暴露%</a:t>
            </a:r>
          </a:p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100" b="1" i="0">
                <a:solidFill>
                  <a:srgbClr val="C5D2DA"/>
                </a:solidFill>
                <a:latin typeface="Microsoft JhengHei"/>
                <a:ea typeface="Microsoft JhengHei"/>
                <a:cs typeface="Microsoft JhengHei"/>
              </a:rPr>
              <a:t>–  </a:t>
            </a:r>
            <a:r>
              <a:rPr sz="1100" b="0" i="0">
                <a:solidFill>
                  <a:srgbClr val="7C8B97"/>
                </a:solidFill>
                <a:latin typeface="Microsoft JhengHei"/>
                <a:ea typeface="Microsoft JhengHei"/>
                <a:cs typeface="Microsoft JhengHei"/>
              </a:rPr>
              <a:t>附具體配置理由（可追溯）</a:t>
            </a:r>
          </a:p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300" b="1" i="0">
                <a:solidFill>
                  <a:srgbClr val="C8922E"/>
                </a:solidFill>
                <a:latin typeface="Microsoft JhengHei"/>
                <a:ea typeface="Microsoft JhengHei"/>
                <a:cs typeface="Microsoft JhengHei"/>
              </a:rPr>
              <a:t>▪  </a:t>
            </a:r>
            <a:r>
              <a:rPr sz="1300" b="1" i="0">
                <a:solidFill>
                  <a:srgbClr val="1C3D5A"/>
                </a:solidFill>
                <a:latin typeface="Microsoft JhengHei"/>
                <a:ea typeface="Microsoft JhengHei"/>
                <a:cs typeface="Microsoft JhengHei"/>
              </a:rPr>
              <a:t>下方：輪休建議 + 船艦可用性</a:t>
            </a:r>
          </a:p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100" b="1" i="0">
                <a:solidFill>
                  <a:srgbClr val="C5D2DA"/>
                </a:solidFill>
                <a:latin typeface="Microsoft JhengHei"/>
                <a:ea typeface="Microsoft JhengHei"/>
                <a:cs typeface="Microsoft JhengHei"/>
              </a:rPr>
              <a:t>–  </a:t>
            </a:r>
            <a:r>
              <a:rPr sz="1100" b="0" i="0">
                <a:solidFill>
                  <a:srgbClr val="7C8B97"/>
                </a:solidFill>
                <a:latin typeface="Microsoft JhengHei"/>
                <a:ea typeface="Microsoft JhengHei"/>
                <a:cs typeface="Microsoft JhengHei"/>
              </a:rPr>
              <a:t>顯示 MILP 引擎與最優性差距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20624"/>
            <a:ext cx="109115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200" b="1" i="0">
                <a:solidFill>
                  <a:srgbClr val="C8922E"/>
                </a:solidFill>
                <a:latin typeface="Microsoft JhengHei"/>
                <a:ea typeface="Microsoft JhengHei"/>
                <a:cs typeface="Microsoft JhengHei"/>
              </a:rPr>
              <a:t>排班引擎 · 運作流程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76656"/>
            <a:ext cx="10911535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2500" b="1" i="0">
                <a:solidFill>
                  <a:srgbClr val="1C3D5A"/>
                </a:solidFill>
                <a:latin typeface="Microsoft JhengHei"/>
                <a:ea typeface="Microsoft JhengHei"/>
                <a:cs typeface="Microsoft JhengHei"/>
              </a:rPr>
              <a:t>四項輸入經引擎整合，輸出可執行班表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40080" y="1417320"/>
            <a:ext cx="566928" cy="0"/>
          </a:xfrm>
          <a:prstGeom prst="bentConnector3">
            <a:avLst/>
          </a:prstGeom>
          <a:ln w="30480">
            <a:solidFill>
              <a:srgbClr val="C892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640080" y="6455664"/>
            <a:ext cx="10911535" cy="0"/>
          </a:xfrm>
          <a:prstGeom prst="bentConnector3">
            <a:avLst/>
          </a:prstGeom>
          <a:ln w="9525">
            <a:solidFill>
              <a:srgbClr val="D7E0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40080" y="651052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950" b="0" i="0">
                <a:solidFill>
                  <a:srgbClr val="7C8B97"/>
                </a:solidFill>
                <a:latin typeface="Microsoft JhengHei"/>
                <a:ea typeface="Microsoft JhengHei"/>
                <a:cs typeface="Microsoft JhengHei"/>
              </a:rPr>
              <a:t>海勤人力資源與作業安全決策系統  ·  114-2 巨量資料與雲端運算  第 2 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54335" y="6510528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500"/>
              </a:spcAft>
            </a:pPr>
            <a:r>
              <a:rPr sz="950" b="0" i="0">
                <a:solidFill>
                  <a:srgbClr val="7C8B97"/>
                </a:solidFill>
                <a:latin typeface="Consolas"/>
                <a:ea typeface="Microsoft JhengHei"/>
                <a:cs typeface="Consolas"/>
              </a:rPr>
              <a:t>15</a:t>
            </a:r>
          </a:p>
        </p:txBody>
      </p:sp>
      <p:pic>
        <p:nvPicPr>
          <p:cNvPr id="8" name="Picture 7" descr="fig3_eng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50026" y="1920240"/>
            <a:ext cx="5691641" cy="3200400"/>
          </a:xfrm>
          <a:prstGeom prst="rect">
            <a:avLst/>
          </a:prstGeom>
          <a:ln w="9525">
            <a:solidFill>
              <a:srgbClr val="C5D2DA"/>
            </a:solidFill>
          </a:ln>
        </p:spPr>
      </p:pic>
      <p:sp>
        <p:nvSpPr>
          <p:cNvPr id="9" name="Rounded Rectangle 8"/>
          <p:cNvSpPr/>
          <p:nvPr/>
        </p:nvSpPr>
        <p:spPr>
          <a:xfrm>
            <a:off x="640080" y="5650992"/>
            <a:ext cx="10911535" cy="566928"/>
          </a:xfrm>
          <a:prstGeom prst="roundRect">
            <a:avLst>
              <a:gd name="adj" fmla="val 10000"/>
            </a:avLst>
          </a:prstGeom>
          <a:solidFill>
            <a:srgbClr val="FBF4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" y="5650992"/>
            <a:ext cx="82296" cy="566928"/>
          </a:xfrm>
          <a:prstGeom prst="rect">
            <a:avLst/>
          </a:prstGeom>
          <a:solidFill>
            <a:srgbClr val="C892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6112" y="5650992"/>
            <a:ext cx="137160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200" b="1" i="0">
                <a:solidFill>
                  <a:srgbClr val="C8922E"/>
                </a:solidFill>
                <a:latin typeface="Microsoft JhengHei"/>
                <a:ea typeface="Microsoft JhengHei"/>
                <a:cs typeface="Microsoft JhengHei"/>
              </a:rPr>
              <a:t>整合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31720" y="5650992"/>
            <a:ext cx="8991295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300" b="0" i="0">
                <a:solidFill>
                  <a:srgbClr val="1C3D5A"/>
                </a:solidFill>
                <a:latin typeface="Microsoft JhengHei"/>
                <a:ea typeface="Microsoft JhengHei"/>
                <a:cs typeface="Microsoft JhengHei"/>
              </a:rPr>
              <a:t>海況、疲勞、暴露、船艦四訊號在引擎中被聯合最佳化 — 不是分別看四張圖，而是一次解出最優指派。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20624"/>
            <a:ext cx="109115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200" b="1" i="0">
                <a:solidFill>
                  <a:srgbClr val="C8922E"/>
                </a:solidFill>
                <a:latin typeface="Microsoft JhengHei"/>
                <a:ea typeface="Microsoft JhengHei"/>
                <a:cs typeface="Microsoft JhengHei"/>
              </a:rPr>
              <a:t>排班引擎 · 決策規則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76656"/>
            <a:ext cx="10911535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2500" b="1" i="0">
                <a:solidFill>
                  <a:srgbClr val="1C3D5A"/>
                </a:solidFill>
                <a:latin typeface="Microsoft JhengHei"/>
                <a:ea typeface="Microsoft JhengHei"/>
                <a:cs typeface="Microsoft JhengHei"/>
              </a:rPr>
              <a:t>五條規則編碼海事作業安全與公平原則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40080" y="1417320"/>
            <a:ext cx="566928" cy="0"/>
          </a:xfrm>
          <a:prstGeom prst="bentConnector3">
            <a:avLst/>
          </a:prstGeom>
          <a:ln w="30480">
            <a:solidFill>
              <a:srgbClr val="C892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640080" y="6455664"/>
            <a:ext cx="10911535" cy="0"/>
          </a:xfrm>
          <a:prstGeom prst="bentConnector3">
            <a:avLst/>
          </a:prstGeom>
          <a:ln w="9525">
            <a:solidFill>
              <a:srgbClr val="D7E0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40080" y="651052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950" b="0" i="0">
                <a:solidFill>
                  <a:srgbClr val="7C8B97"/>
                </a:solidFill>
                <a:latin typeface="Microsoft JhengHei"/>
                <a:ea typeface="Microsoft JhengHei"/>
                <a:cs typeface="Microsoft JhengHei"/>
              </a:rPr>
              <a:t>海勤人力資源與作業安全決策系統  ·  114-2 巨量資料與雲端運算  第 2 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54335" y="6510528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500"/>
              </a:spcAft>
            </a:pPr>
            <a:r>
              <a:rPr sz="950" b="0" i="0">
                <a:solidFill>
                  <a:srgbClr val="7C8B97"/>
                </a:solidFill>
                <a:latin typeface="Consolas"/>
                <a:ea typeface="Microsoft JhengHei"/>
                <a:cs typeface="Consolas"/>
              </a:rPr>
              <a:t>16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920240"/>
            <a:ext cx="5669280" cy="111556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7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2029968"/>
            <a:ext cx="8229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2600" b="1" i="0">
                <a:solidFill>
                  <a:srgbClr val="1C3D5A"/>
                </a:solidFill>
                <a:latin typeface="Consolas"/>
                <a:ea typeface="Microsoft JhengHei"/>
                <a:cs typeface="Consolas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45920" y="2048256"/>
            <a:ext cx="44805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450" b="1" i="0">
                <a:solidFill>
                  <a:srgbClr val="1C3D5A"/>
                </a:solidFill>
                <a:latin typeface="Microsoft JhengHei"/>
                <a:ea typeface="Microsoft JhengHei"/>
                <a:cs typeface="Microsoft JhengHei"/>
              </a:rPr>
              <a:t>海況風險調控員額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45920" y="2414016"/>
            <a:ext cx="44805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150" b="0" i="0">
                <a:solidFill>
                  <a:srgbClr val="3D4D5A"/>
                </a:solidFill>
                <a:latin typeface="Microsoft JhengHei"/>
                <a:ea typeface="Microsoft JhengHei"/>
                <a:cs typeface="Microsoft JhengHei"/>
              </a:rPr>
              <a:t>明日惡劣機率 ≥ 50% → 外海僅留 1 人；&lt; 25% → 外海最多 4 人。機率越高、外海員額越少。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0" y="1920240"/>
            <a:ext cx="5669280" cy="111556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7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66560" y="2029968"/>
            <a:ext cx="8229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2600" b="1" i="0">
                <a:solidFill>
                  <a:srgbClr val="1C3D5A"/>
                </a:solidFill>
                <a:latin typeface="Consolas"/>
                <a:ea typeface="Microsoft JhengHei"/>
                <a:cs typeface="Consolas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589520" y="2048256"/>
            <a:ext cx="44805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450" b="1" i="0">
                <a:solidFill>
                  <a:srgbClr val="1C3D5A"/>
                </a:solidFill>
                <a:latin typeface="Microsoft JhengHei"/>
                <a:ea typeface="Microsoft JhengHei"/>
                <a:cs typeface="Microsoft JhengHei"/>
              </a:rPr>
              <a:t>外海輪換公平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589520" y="2414016"/>
            <a:ext cx="44805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150" b="0" i="0">
                <a:solidFill>
                  <a:srgbClr val="3D4D5A"/>
                </a:solidFill>
                <a:latin typeface="Microsoft JhengHei"/>
                <a:ea typeface="Microsoft JhengHei"/>
                <a:cs typeface="Microsoft JhengHei"/>
              </a:rPr>
              <a:t>外海優先指派「疲勞低 AND 外海累積暴露低」者，兼顧安全與輪換公平。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3200400"/>
            <a:ext cx="5669280" cy="111556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7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3310128"/>
            <a:ext cx="8229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2600" b="1" i="0">
                <a:solidFill>
                  <a:srgbClr val="1C3D5A"/>
                </a:solidFill>
                <a:latin typeface="Consolas"/>
                <a:ea typeface="Microsoft JhengHei"/>
                <a:cs typeface="Consolas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45920" y="3328416"/>
            <a:ext cx="44805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450" b="1" i="0">
                <a:solidFill>
                  <a:srgbClr val="1C3D5A"/>
                </a:solidFill>
                <a:latin typeface="Microsoft JhengHei"/>
                <a:ea typeface="Microsoft JhengHei"/>
                <a:cs typeface="Microsoft JhengHei"/>
              </a:rPr>
              <a:t>過勞者輕負荷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45920" y="3694176"/>
            <a:ext cx="44805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150" b="0" i="0">
                <a:solidFill>
                  <a:srgbClr val="3D4D5A"/>
                </a:solidFill>
                <a:latin typeface="Microsoft JhengHei"/>
                <a:ea typeface="Microsoft JhengHei"/>
                <a:cs typeface="Microsoft JhengHei"/>
              </a:rPr>
              <a:t>疲勞 ≥ 65（高）自動配置港口值守；人力充足且疲勞 ≥ 80 列入建議輪休。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83680" y="3200400"/>
            <a:ext cx="5669280" cy="111556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7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766560" y="3310128"/>
            <a:ext cx="8229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2600" b="1" i="0">
                <a:solidFill>
                  <a:srgbClr val="1C3D5A"/>
                </a:solidFill>
                <a:latin typeface="Consolas"/>
                <a:ea typeface="Microsoft JhengHei"/>
                <a:cs typeface="Consolas"/>
              </a:rPr>
              <a:t>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589520" y="3328416"/>
            <a:ext cx="44805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450" b="1" i="0">
                <a:solidFill>
                  <a:srgbClr val="1C3D5A"/>
                </a:solidFill>
                <a:latin typeface="Microsoft JhengHei"/>
                <a:ea typeface="Microsoft JhengHei"/>
                <a:cs typeface="Microsoft JhengHei"/>
              </a:rPr>
              <a:t>維護船艦排除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589520" y="3694176"/>
            <a:ext cx="44805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150" b="0" i="0">
                <a:solidFill>
                  <a:srgbClr val="3D4D5A"/>
                </a:solidFill>
                <a:latin typeface="Microsoft JhengHei"/>
                <a:ea typeface="Microsoft JhengHei"/>
                <a:cs typeface="Microsoft JhengHei"/>
              </a:rPr>
              <a:t>可用度 &lt; 30% 標記需維護，不進入候選池；每艦僅一組人員。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4480560"/>
            <a:ext cx="10911535" cy="960120"/>
          </a:xfrm>
          <a:prstGeom prst="roundRect">
            <a:avLst>
              <a:gd name="adj" fmla="val 5000"/>
            </a:avLst>
          </a:prstGeom>
          <a:solidFill>
            <a:srgbClr val="FBF4E6"/>
          </a:solidFill>
          <a:ln w="9525">
            <a:solidFill>
              <a:srgbClr val="C892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2960" y="4590288"/>
            <a:ext cx="8229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2600" b="1" i="0">
                <a:solidFill>
                  <a:srgbClr val="C8922E"/>
                </a:solidFill>
                <a:latin typeface="Consolas"/>
                <a:ea typeface="Microsoft JhengHei"/>
                <a:cs typeface="Consolas"/>
              </a:rPr>
              <a:t>05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645920" y="4608576"/>
            <a:ext cx="972281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450" b="1" i="0">
                <a:solidFill>
                  <a:srgbClr val="1C3D5A"/>
                </a:solidFill>
                <a:latin typeface="Microsoft JhengHei"/>
                <a:ea typeface="Microsoft JhengHei"/>
                <a:cs typeface="Microsoft JhengHei"/>
              </a:rPr>
              <a:t>MILP 全域最佳化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645920" y="4974336"/>
            <a:ext cx="972281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150" b="0" i="0">
                <a:solidFill>
                  <a:srgbClr val="3D4D5A"/>
                </a:solidFill>
                <a:latin typeface="Microsoft JhengHei"/>
                <a:ea typeface="Microsoft JhengHei"/>
                <a:cs typeface="Microsoft JhengHei"/>
              </a:rPr>
              <a:t>scipy.optimize.milp（HiGHS）對人員×船艦矩陣求全域最優，ZONE_PRIORITY 確保安全關鍵海域優先填滿。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20624"/>
            <a:ext cx="109115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200" b="1" i="0">
                <a:solidFill>
                  <a:srgbClr val="C8922E"/>
                </a:solidFill>
                <a:latin typeface="Microsoft JhengHei"/>
                <a:ea typeface="Microsoft JhengHei"/>
                <a:cs typeface="Microsoft JhengHei"/>
              </a:rPr>
              <a:t>排班引擎 · 最佳化求解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76656"/>
            <a:ext cx="10911535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2500" b="1" i="0">
                <a:solidFill>
                  <a:srgbClr val="1C3D5A"/>
                </a:solidFill>
                <a:latin typeface="Microsoft JhengHei"/>
                <a:ea typeface="Microsoft JhengHei"/>
                <a:cs typeface="Microsoft JhengHei"/>
              </a:rPr>
              <a:t>把排班問題交給數學求解器，找全域最優指派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40080" y="1417320"/>
            <a:ext cx="566928" cy="0"/>
          </a:xfrm>
          <a:prstGeom prst="bentConnector3">
            <a:avLst/>
          </a:prstGeom>
          <a:ln w="30480">
            <a:solidFill>
              <a:srgbClr val="C892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640080" y="6455664"/>
            <a:ext cx="10911535" cy="0"/>
          </a:xfrm>
          <a:prstGeom prst="bentConnector3">
            <a:avLst/>
          </a:prstGeom>
          <a:ln w="9525">
            <a:solidFill>
              <a:srgbClr val="D7E0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40080" y="651052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950" b="0" i="0">
                <a:solidFill>
                  <a:srgbClr val="7C8B97"/>
                </a:solidFill>
                <a:latin typeface="Microsoft JhengHei"/>
                <a:ea typeface="Microsoft JhengHei"/>
                <a:cs typeface="Microsoft JhengHei"/>
              </a:rPr>
              <a:t>海勤人力資源與作業安全決策系統  ·  114-2 巨量資料與雲端運算  第 2 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54335" y="6510528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500"/>
              </a:spcAft>
            </a:pPr>
            <a:r>
              <a:rPr sz="950" b="0" i="0">
                <a:solidFill>
                  <a:srgbClr val="7C8B97"/>
                </a:solidFill>
                <a:latin typeface="Consolas"/>
                <a:ea typeface="Microsoft JhengHei"/>
                <a:cs typeface="Consolas"/>
              </a:rPr>
              <a:t>17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011680"/>
            <a:ext cx="3474720" cy="34747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7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2011680"/>
            <a:ext cx="3474720" cy="64008"/>
          </a:xfrm>
          <a:prstGeom prst="rect">
            <a:avLst/>
          </a:prstGeom>
          <a:solidFill>
            <a:srgbClr val="1C3D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2240280"/>
            <a:ext cx="301752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600" b="1" i="0">
                <a:solidFill>
                  <a:srgbClr val="1C3D5A"/>
                </a:solidFill>
                <a:latin typeface="Microsoft JhengHei"/>
                <a:ea typeface="Microsoft JhengHei"/>
                <a:cs typeface="Microsoft JhengHei"/>
              </a:rPr>
              <a:t>輸入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868680" y="2715768"/>
            <a:ext cx="3017520" cy="0"/>
          </a:xfrm>
          <a:prstGeom prst="bentConnector3">
            <a:avLst/>
          </a:prstGeom>
          <a:ln w="12700">
            <a:solidFill>
              <a:srgbClr val="D7E0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868680" y="2880360"/>
            <a:ext cx="301752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1250" b="1" i="0">
                <a:solidFill>
                  <a:srgbClr val="1C3D5A"/>
                </a:solidFill>
                <a:latin typeface="Microsoft JhengHei"/>
                <a:ea typeface="Microsoft JhengHei"/>
                <a:cs typeface="Microsoft JhengHei"/>
              </a:rPr>
              <a:t>▪  </a:t>
            </a:r>
            <a:r>
              <a:rPr sz="1250" b="0" i="0">
                <a:solidFill>
                  <a:srgbClr val="3D4D5A"/>
                </a:solidFill>
                <a:latin typeface="Microsoft JhengHei"/>
                <a:ea typeface="Microsoft JhengHei"/>
                <a:cs typeface="Microsoft JhengHei"/>
              </a:rPr>
              <a:t>人員清單（疲勞分、外海暴露率）</a:t>
            </a:r>
          </a:p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1250" b="1" i="0">
                <a:solidFill>
                  <a:srgbClr val="1C3D5A"/>
                </a:solidFill>
                <a:latin typeface="Microsoft JhengHei"/>
                <a:ea typeface="Microsoft JhengHei"/>
                <a:cs typeface="Microsoft JhengHei"/>
              </a:rPr>
              <a:t>▪  </a:t>
            </a:r>
            <a:r>
              <a:rPr sz="1250" b="0" i="0">
                <a:solidFill>
                  <a:srgbClr val="3D4D5A"/>
                </a:solidFill>
                <a:latin typeface="Microsoft JhengHei"/>
                <a:ea typeface="Microsoft JhengHei"/>
                <a:cs typeface="Microsoft JhengHei"/>
              </a:rPr>
              <a:t>可用船艦清單</a:t>
            </a:r>
          </a:p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1250" b="1" i="0">
                <a:solidFill>
                  <a:srgbClr val="1C3D5A"/>
                </a:solidFill>
                <a:latin typeface="Microsoft JhengHei"/>
                <a:ea typeface="Microsoft JhengHei"/>
                <a:cs typeface="Microsoft JhengHei"/>
              </a:rPr>
              <a:t>▪  </a:t>
            </a:r>
            <a:r>
              <a:rPr sz="1250" b="0" i="0">
                <a:solidFill>
                  <a:srgbClr val="3D4D5A"/>
                </a:solidFill>
                <a:latin typeface="Microsoft JhengHei"/>
                <a:ea typeface="Microsoft JhengHei"/>
                <a:cs typeface="Microsoft JhengHei"/>
              </a:rPr>
              <a:t>明日惡劣海況機率</a:t>
            </a:r>
          </a:p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1250" b="1" i="0">
                <a:solidFill>
                  <a:srgbClr val="1C3D5A"/>
                </a:solidFill>
                <a:latin typeface="Microsoft JhengHei"/>
                <a:ea typeface="Microsoft JhengHei"/>
                <a:cs typeface="Microsoft JhengHei"/>
              </a:rPr>
              <a:t>▪  </a:t>
            </a:r>
            <a:r>
              <a:rPr sz="1250" b="0" i="0">
                <a:solidFill>
                  <a:srgbClr val="3D4D5A"/>
                </a:solidFill>
                <a:latin typeface="Microsoft JhengHei"/>
                <a:ea typeface="Microsoft JhengHei"/>
                <a:cs typeface="Microsoft JhengHei"/>
              </a:rPr>
              <a:t>各海域可容員額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0" y="2011680"/>
            <a:ext cx="411480" cy="3474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  <a:spcAft>
                <a:spcPts val="500"/>
              </a:spcAft>
            </a:pPr>
            <a:r>
              <a:rPr sz="2800" b="1" i="0">
                <a:solidFill>
                  <a:srgbClr val="C8922E"/>
                </a:solidFill>
                <a:latin typeface="Microsoft JhengHei"/>
                <a:ea typeface="Microsoft JhengHei"/>
                <a:cs typeface="Microsoft JhengHei"/>
              </a:rP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26280" y="2011680"/>
            <a:ext cx="3474720" cy="34747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7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526280" y="2011680"/>
            <a:ext cx="3474720" cy="64008"/>
          </a:xfrm>
          <a:prstGeom prst="rect">
            <a:avLst/>
          </a:prstGeom>
          <a:solidFill>
            <a:srgbClr val="C892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754880" y="2240280"/>
            <a:ext cx="301752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600" b="1" i="0">
                <a:solidFill>
                  <a:srgbClr val="C8922E"/>
                </a:solidFill>
                <a:latin typeface="Microsoft JhengHei"/>
                <a:ea typeface="Microsoft JhengHei"/>
                <a:cs typeface="Microsoft JhengHei"/>
              </a:rPr>
              <a:t>求解器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4754880" y="2715768"/>
            <a:ext cx="3017520" cy="0"/>
          </a:xfrm>
          <a:prstGeom prst="bentConnector3">
            <a:avLst/>
          </a:prstGeom>
          <a:ln w="12700">
            <a:solidFill>
              <a:srgbClr val="D7E0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4754880" y="2880360"/>
            <a:ext cx="301752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1250" b="1" i="0">
                <a:solidFill>
                  <a:srgbClr val="C8922E"/>
                </a:solidFill>
                <a:latin typeface="Microsoft JhengHei"/>
                <a:ea typeface="Microsoft JhengHei"/>
                <a:cs typeface="Microsoft JhengHei"/>
              </a:rPr>
              <a:t>▪  </a:t>
            </a:r>
            <a:r>
              <a:rPr sz="1250" b="0" i="0">
                <a:solidFill>
                  <a:srgbClr val="3D4D5A"/>
                </a:solidFill>
                <a:latin typeface="Microsoft JhengHei"/>
                <a:ea typeface="Microsoft JhengHei"/>
                <a:cs typeface="Microsoft JhengHei"/>
              </a:rPr>
              <a:t>Python scipy.optimize.milp</a:t>
            </a:r>
          </a:p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1250" b="1" i="0">
                <a:solidFill>
                  <a:srgbClr val="C8922E"/>
                </a:solidFill>
                <a:latin typeface="Microsoft JhengHei"/>
                <a:ea typeface="Microsoft JhengHei"/>
                <a:cs typeface="Microsoft JhengHei"/>
              </a:rPr>
              <a:t>▪  </a:t>
            </a:r>
            <a:r>
              <a:rPr sz="1250" b="0" i="0">
                <a:solidFill>
                  <a:srgbClr val="3D4D5A"/>
                </a:solidFill>
                <a:latin typeface="Microsoft JhengHei"/>
                <a:ea typeface="Microsoft JhengHei"/>
                <a:cs typeface="Microsoft JhengHei"/>
              </a:rPr>
              <a:t>目標：最小化綜合成本</a:t>
            </a:r>
          </a:p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1250" b="1" i="0">
                <a:solidFill>
                  <a:srgbClr val="C8922E"/>
                </a:solidFill>
                <a:latin typeface="Microsoft JhengHei"/>
                <a:ea typeface="Microsoft JhengHei"/>
                <a:cs typeface="Microsoft JhengHei"/>
              </a:rPr>
              <a:t>▪  </a:t>
            </a:r>
            <a:r>
              <a:rPr sz="1250" b="0" i="0">
                <a:solidFill>
                  <a:srgbClr val="3D4D5A"/>
                </a:solidFill>
                <a:latin typeface="Microsoft JhengHei"/>
                <a:ea typeface="Microsoft JhengHei"/>
                <a:cs typeface="Microsoft JhengHei"/>
              </a:rPr>
              <a:t>限制：每人一船、每船一組</a:t>
            </a:r>
          </a:p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1250" b="1" i="0">
                <a:solidFill>
                  <a:srgbClr val="C8922E"/>
                </a:solidFill>
                <a:latin typeface="Microsoft JhengHei"/>
                <a:ea typeface="Microsoft JhengHei"/>
                <a:cs typeface="Microsoft JhengHei"/>
              </a:rPr>
              <a:t>▪  </a:t>
            </a:r>
            <a:r>
              <a:rPr sz="1250" b="0" i="0">
                <a:solidFill>
                  <a:srgbClr val="3D4D5A"/>
                </a:solidFill>
                <a:latin typeface="Microsoft JhengHei"/>
                <a:ea typeface="Microsoft JhengHei"/>
                <a:cs typeface="Microsoft JhengHei"/>
              </a:rPr>
              <a:t>安全關鍵海域優先填滿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01000" y="2011680"/>
            <a:ext cx="411480" cy="3474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  <a:spcAft>
                <a:spcPts val="500"/>
              </a:spcAft>
            </a:pPr>
            <a:r>
              <a:rPr sz="2800" b="1" i="0">
                <a:solidFill>
                  <a:srgbClr val="C8922E"/>
                </a:solidFill>
                <a:latin typeface="Microsoft JhengHei"/>
                <a:ea typeface="Microsoft JhengHei"/>
                <a:cs typeface="Microsoft JhengHei"/>
              </a:rPr>
              <a:t>→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412480" y="2011680"/>
            <a:ext cx="3474720" cy="34747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7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412480" y="2011680"/>
            <a:ext cx="3474720" cy="64008"/>
          </a:xfrm>
          <a:prstGeom prst="rect">
            <a:avLst/>
          </a:prstGeom>
          <a:solidFill>
            <a:srgbClr val="4E8C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641080" y="2240280"/>
            <a:ext cx="301752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600" b="1" i="0">
                <a:solidFill>
                  <a:srgbClr val="4E8C8A"/>
                </a:solidFill>
                <a:latin typeface="Microsoft JhengHei"/>
                <a:ea typeface="Microsoft JhengHei"/>
                <a:cs typeface="Microsoft JhengHei"/>
              </a:rPr>
              <a:t>輸出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8641080" y="2715768"/>
            <a:ext cx="3017520" cy="0"/>
          </a:xfrm>
          <a:prstGeom prst="bentConnector3">
            <a:avLst/>
          </a:prstGeom>
          <a:ln w="12700">
            <a:solidFill>
              <a:srgbClr val="D7E0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8641080" y="2880360"/>
            <a:ext cx="301752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1250" b="1" i="0">
                <a:solidFill>
                  <a:srgbClr val="4E8C8A"/>
                </a:solidFill>
                <a:latin typeface="Microsoft JhengHei"/>
                <a:ea typeface="Microsoft JhengHei"/>
                <a:cs typeface="Microsoft JhengHei"/>
              </a:rPr>
              <a:t>▪  </a:t>
            </a:r>
            <a:r>
              <a:rPr sz="1250" b="0" i="0">
                <a:solidFill>
                  <a:srgbClr val="3D4D5A"/>
                </a:solidFill>
                <a:latin typeface="Microsoft JhengHei"/>
                <a:ea typeface="Microsoft JhengHei"/>
                <a:cs typeface="Microsoft JhengHei"/>
              </a:rPr>
              <a:t>具名人員×船艦指派矩陣</a:t>
            </a:r>
          </a:p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1250" b="1" i="0">
                <a:solidFill>
                  <a:srgbClr val="4E8C8A"/>
                </a:solidFill>
                <a:latin typeface="Microsoft JhengHei"/>
                <a:ea typeface="Microsoft JhengHei"/>
                <a:cs typeface="Microsoft JhengHei"/>
              </a:rPr>
              <a:t>▪  </a:t>
            </a:r>
            <a:r>
              <a:rPr sz="1250" b="0" i="0">
                <a:solidFill>
                  <a:srgbClr val="3D4D5A"/>
                </a:solidFill>
                <a:latin typeface="Microsoft JhengHei"/>
                <a:ea typeface="Microsoft JhengHei"/>
                <a:cs typeface="Microsoft JhengHei"/>
              </a:rPr>
              <a:t>三海域值勤班表</a:t>
            </a:r>
          </a:p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1250" b="1" i="0">
                <a:solidFill>
                  <a:srgbClr val="4E8C8A"/>
                </a:solidFill>
                <a:latin typeface="Microsoft JhengHei"/>
                <a:ea typeface="Microsoft JhengHei"/>
                <a:cs typeface="Microsoft JhengHei"/>
              </a:rPr>
              <a:t>▪  </a:t>
            </a:r>
            <a:r>
              <a:rPr sz="1250" b="0" i="0">
                <a:solidFill>
                  <a:srgbClr val="3D4D5A"/>
                </a:solidFill>
                <a:latin typeface="Microsoft JhengHei"/>
                <a:ea typeface="Microsoft JhengHei"/>
                <a:cs typeface="Microsoft JhengHei"/>
              </a:rPr>
              <a:t>輪休建議清單</a:t>
            </a:r>
          </a:p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1250" b="1" i="0">
                <a:solidFill>
                  <a:srgbClr val="4E8C8A"/>
                </a:solidFill>
                <a:latin typeface="Microsoft JhengHei"/>
                <a:ea typeface="Microsoft JhengHei"/>
                <a:cs typeface="Microsoft JhengHei"/>
              </a:rPr>
              <a:t>▪  </a:t>
            </a:r>
            <a:r>
              <a:rPr sz="1250" b="0" i="0">
                <a:solidFill>
                  <a:srgbClr val="3D4D5A"/>
                </a:solidFill>
                <a:latin typeface="Microsoft JhengHei"/>
                <a:ea typeface="Microsoft JhengHei"/>
                <a:cs typeface="Microsoft JhengHei"/>
              </a:rPr>
              <a:t>最優性驗證（差距 0%）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5650992"/>
            <a:ext cx="10911535" cy="566928"/>
          </a:xfrm>
          <a:prstGeom prst="roundRect">
            <a:avLst>
              <a:gd name="adj" fmla="val 10000"/>
            </a:avLst>
          </a:prstGeom>
          <a:solidFill>
            <a:srgbClr val="FBF4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40080" y="5650992"/>
            <a:ext cx="82296" cy="566928"/>
          </a:xfrm>
          <a:prstGeom prst="rect">
            <a:avLst/>
          </a:prstGeom>
          <a:solidFill>
            <a:srgbClr val="C892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96112" y="5650992"/>
            <a:ext cx="137160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200" b="1" i="0">
                <a:solidFill>
                  <a:srgbClr val="C8922E"/>
                </a:solidFill>
                <a:latin typeface="Microsoft JhengHei"/>
                <a:ea typeface="Microsoft JhengHei"/>
                <a:cs typeface="Microsoft JhengHei"/>
              </a:rPr>
              <a:t>效益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331720" y="5650992"/>
            <a:ext cx="8991295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300" b="0" i="0">
                <a:solidFill>
                  <a:srgbClr val="1C3D5A"/>
                </a:solidFill>
                <a:latin typeface="Microsoft JhengHei"/>
                <a:ea typeface="Microsoft JhengHei"/>
                <a:cs typeface="Microsoft JhengHei"/>
              </a:rPr>
              <a:t>MILP 將所有限制同時納入求解，不會因順序不同而得到不同班表 — 結果可重現、可驗證。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20624"/>
            <a:ext cx="109115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200" b="1" i="0">
                <a:solidFill>
                  <a:srgbClr val="C8922E"/>
                </a:solidFill>
                <a:latin typeface="Microsoft JhengHei"/>
                <a:ea typeface="Microsoft JhengHei"/>
                <a:cs typeface="Microsoft JhengHei"/>
              </a:rPr>
              <a:t>排班引擎 · 最優性驗證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76656"/>
            <a:ext cx="10911535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2500" b="1" i="0">
                <a:solidFill>
                  <a:srgbClr val="1C3D5A"/>
                </a:solidFill>
                <a:latin typeface="Microsoft JhengHei"/>
                <a:ea typeface="Microsoft JhengHei"/>
                <a:cs typeface="Microsoft JhengHei"/>
              </a:rPr>
              <a:t>MILP 證明貪婪法在此規模已達全域最優（差距 0%）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40080" y="1417320"/>
            <a:ext cx="566928" cy="0"/>
          </a:xfrm>
          <a:prstGeom prst="bentConnector3">
            <a:avLst/>
          </a:prstGeom>
          <a:ln w="30480">
            <a:solidFill>
              <a:srgbClr val="C892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640080" y="6455664"/>
            <a:ext cx="10911535" cy="0"/>
          </a:xfrm>
          <a:prstGeom prst="bentConnector3">
            <a:avLst/>
          </a:prstGeom>
          <a:ln w="9525">
            <a:solidFill>
              <a:srgbClr val="D7E0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40080" y="651052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950" b="0" i="0">
                <a:solidFill>
                  <a:srgbClr val="7C8B97"/>
                </a:solidFill>
                <a:latin typeface="Microsoft JhengHei"/>
                <a:ea typeface="Microsoft JhengHei"/>
                <a:cs typeface="Microsoft JhengHei"/>
              </a:rPr>
              <a:t>海勤人力資源與作業安全決策系統  ·  114-2 巨量資料與雲端運算  第 2 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54335" y="6510528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500"/>
              </a:spcAft>
            </a:pPr>
            <a:r>
              <a:rPr sz="950" b="0" i="0">
                <a:solidFill>
                  <a:srgbClr val="7C8B97"/>
                </a:solidFill>
                <a:latin typeface="Consolas"/>
                <a:ea typeface="Microsoft JhengHei"/>
                <a:cs typeface="Consolas"/>
              </a:rPr>
              <a:t>18</a:t>
            </a:r>
          </a:p>
        </p:txBody>
      </p:sp>
      <p:pic>
        <p:nvPicPr>
          <p:cNvPr id="8" name="Picture 7" descr="schedule_compa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874519"/>
            <a:ext cx="6949440" cy="3868628"/>
          </a:xfrm>
          <a:prstGeom prst="rect">
            <a:avLst/>
          </a:prstGeom>
          <a:ln w="9525">
            <a:solidFill>
              <a:srgbClr val="C5D2DA"/>
            </a:solidFill>
          </a:ln>
        </p:spPr>
      </p:pic>
      <p:sp>
        <p:nvSpPr>
          <p:cNvPr id="9" name="Rounded Rectangle 8"/>
          <p:cNvSpPr/>
          <p:nvPr/>
        </p:nvSpPr>
        <p:spPr>
          <a:xfrm>
            <a:off x="7863840" y="1874519"/>
            <a:ext cx="3687775" cy="786384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7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863840" y="1874519"/>
            <a:ext cx="3687775" cy="54864"/>
          </a:xfrm>
          <a:prstGeom prst="rect">
            <a:avLst/>
          </a:prstGeom>
          <a:solidFill>
            <a:srgbClr val="1C3D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28432" y="2093975"/>
            <a:ext cx="3358591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2400" b="1" i="0">
                <a:solidFill>
                  <a:srgbClr val="1C3D5A"/>
                </a:solidFill>
                <a:latin typeface="Consolas"/>
                <a:ea typeface="Microsoft JhengHei"/>
                <a:cs typeface="Consolas"/>
              </a:rPr>
              <a:t>215.6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28432" y="2093975"/>
            <a:ext cx="335859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250" b="1" i="0">
                <a:solidFill>
                  <a:srgbClr val="3D4D5A"/>
                </a:solidFill>
                <a:latin typeface="Microsoft JhengHei"/>
                <a:ea typeface="Microsoft JhengHei"/>
                <a:cs typeface="Microsoft JhengHei"/>
              </a:rPr>
              <a:t>MILP 指派成本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863840" y="2788919"/>
            <a:ext cx="3687775" cy="786384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7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863840" y="2788919"/>
            <a:ext cx="3687775" cy="54864"/>
          </a:xfrm>
          <a:prstGeom prst="rect">
            <a:avLst/>
          </a:prstGeom>
          <a:solidFill>
            <a:srgbClr val="3450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28432" y="3008375"/>
            <a:ext cx="3358591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2400" b="1" i="0">
                <a:solidFill>
                  <a:srgbClr val="1C3D5A"/>
                </a:solidFill>
                <a:latin typeface="Consolas"/>
                <a:ea typeface="Microsoft JhengHei"/>
                <a:cs typeface="Consolas"/>
              </a:rPr>
              <a:t>215.6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28432" y="3008375"/>
            <a:ext cx="335859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250" b="1" i="0">
                <a:solidFill>
                  <a:srgbClr val="3D4D5A"/>
                </a:solidFill>
                <a:latin typeface="Microsoft JhengHei"/>
                <a:ea typeface="Microsoft JhengHei"/>
                <a:cs typeface="Microsoft JhengHei"/>
              </a:rPr>
              <a:t>貪婪基準成本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863840" y="3703319"/>
            <a:ext cx="3687775" cy="786384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7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863840" y="3703319"/>
            <a:ext cx="3687775" cy="54864"/>
          </a:xfrm>
          <a:prstGeom prst="rect">
            <a:avLst/>
          </a:prstGeom>
          <a:solidFill>
            <a:srgbClr val="4E8C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28432" y="3922775"/>
            <a:ext cx="3358591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2400" b="1" i="0">
                <a:solidFill>
                  <a:srgbClr val="1C3D5A"/>
                </a:solidFill>
                <a:latin typeface="Consolas"/>
                <a:ea typeface="Microsoft JhengHei"/>
                <a:cs typeface="Consolas"/>
              </a:rPr>
              <a:t>0.0%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28432" y="3922775"/>
            <a:ext cx="335859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250" b="1" i="0">
                <a:solidFill>
                  <a:srgbClr val="3D4D5A"/>
                </a:solidFill>
                <a:latin typeface="Microsoft JhengHei"/>
                <a:ea typeface="Microsoft JhengHei"/>
                <a:cs typeface="Microsoft JhengHei"/>
              </a:rPr>
              <a:t>最優性差距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863840" y="4709160"/>
            <a:ext cx="3687775" cy="1234440"/>
          </a:xfrm>
          <a:prstGeom prst="roundRect">
            <a:avLst>
              <a:gd name="adj" fmla="val 5000"/>
            </a:avLst>
          </a:prstGeom>
          <a:solidFill>
            <a:srgbClr val="F3F7F9"/>
          </a:solidFill>
          <a:ln w="9525">
            <a:solidFill>
              <a:srgbClr val="D7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046720" y="4828032"/>
            <a:ext cx="3322015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250" b="1" i="0">
                <a:solidFill>
                  <a:srgbClr val="C8922E"/>
                </a:solidFill>
                <a:latin typeface="Microsoft JhengHei"/>
                <a:ea typeface="Microsoft JhengHei"/>
                <a:cs typeface="Microsoft JhengHei"/>
              </a:rPr>
              <a:t>學術誠實：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150" b="0" i="0">
                <a:solidFill>
                  <a:srgbClr val="3D4D5A"/>
                </a:solidFill>
                <a:latin typeface="Microsoft JhengHei"/>
                <a:ea typeface="Microsoft JhengHei"/>
                <a:cs typeface="Microsoft JhengHei"/>
              </a:rPr>
              <a:t>差距 0% 不是缺陷，而是「在 8 艦×12 人規模下貪婪法恰好已達全域最優」的數學驗證 — 這是有意義的正確結果。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20624"/>
            <a:ext cx="109115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200" b="1" i="0">
                <a:solidFill>
                  <a:srgbClr val="C8922E"/>
                </a:solidFill>
                <a:latin typeface="Microsoft JhengHei"/>
                <a:ea typeface="Microsoft JhengHei"/>
                <a:cs typeface="Microsoft JhengHei"/>
              </a:rPr>
              <a:t>排班引擎 · 實機輸出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76656"/>
            <a:ext cx="10911535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2500" b="1" i="0">
                <a:solidFill>
                  <a:srgbClr val="1C3D5A"/>
                </a:solidFill>
                <a:latin typeface="Microsoft JhengHei"/>
                <a:ea typeface="Microsoft JhengHei"/>
                <a:cs typeface="Microsoft JhengHei"/>
              </a:rPr>
              <a:t>今日實際執行：明日（2026-06-16）惡劣海況 59.2% → 外海縮減至 1 人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40080" y="1417320"/>
            <a:ext cx="566928" cy="0"/>
          </a:xfrm>
          <a:prstGeom prst="bentConnector3">
            <a:avLst/>
          </a:prstGeom>
          <a:ln w="30480">
            <a:solidFill>
              <a:srgbClr val="C892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640080" y="6455664"/>
            <a:ext cx="10911535" cy="0"/>
          </a:xfrm>
          <a:prstGeom prst="bentConnector3">
            <a:avLst/>
          </a:prstGeom>
          <a:ln w="9525">
            <a:solidFill>
              <a:srgbClr val="D7E0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40080" y="651052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950" b="0" i="0">
                <a:solidFill>
                  <a:srgbClr val="7C8B97"/>
                </a:solidFill>
                <a:latin typeface="Microsoft JhengHei"/>
                <a:ea typeface="Microsoft JhengHei"/>
                <a:cs typeface="Microsoft JhengHei"/>
              </a:rPr>
              <a:t>海勤人力資源與作業安全決策系統  ·  114-2 巨量資料與雲端運算  第 2 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54335" y="6510528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500"/>
              </a:spcAft>
            </a:pPr>
            <a:r>
              <a:rPr sz="950" b="0" i="0">
                <a:solidFill>
                  <a:srgbClr val="7C8B97"/>
                </a:solidFill>
                <a:latin typeface="Consolas"/>
                <a:ea typeface="Microsoft JhengHei"/>
                <a:cs typeface="Consolas"/>
              </a:rPr>
              <a:t>19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828800"/>
            <a:ext cx="2545003" cy="9601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7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85800" y="1828800"/>
            <a:ext cx="2545003" cy="54864"/>
          </a:xfrm>
          <a:prstGeom prst="rect">
            <a:avLst/>
          </a:prstGeom>
          <a:solidFill>
            <a:srgbClr val="C892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0392" y="2048256"/>
            <a:ext cx="2215819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2200" b="1" i="0">
                <a:solidFill>
                  <a:srgbClr val="1C3D5A"/>
                </a:solidFill>
                <a:latin typeface="Consolas"/>
                <a:ea typeface="Microsoft JhengHei"/>
                <a:cs typeface="Consolas"/>
              </a:rPr>
              <a:t>MILP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0392" y="2221992"/>
            <a:ext cx="221581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250" b="1" i="0">
                <a:solidFill>
                  <a:srgbClr val="3D4D5A"/>
                </a:solidFill>
                <a:latin typeface="Microsoft JhengHei"/>
                <a:ea typeface="Microsoft JhengHei"/>
                <a:cs typeface="Microsoft JhengHei"/>
              </a:rPr>
              <a:t>求解引擎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13683" y="1828800"/>
            <a:ext cx="2545003" cy="9601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7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413683" y="1828800"/>
            <a:ext cx="2545003" cy="54864"/>
          </a:xfrm>
          <a:prstGeom prst="rect">
            <a:avLst/>
          </a:prstGeom>
          <a:solidFill>
            <a:srgbClr val="4E8C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578275" y="2048256"/>
            <a:ext cx="2215819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2200" b="1" i="0">
                <a:solidFill>
                  <a:srgbClr val="1C3D5A"/>
                </a:solidFill>
                <a:latin typeface="Consolas"/>
                <a:ea typeface="Microsoft JhengHei"/>
                <a:cs typeface="Consolas"/>
              </a:rPr>
              <a:t>0.0%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78275" y="2221992"/>
            <a:ext cx="221581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250" b="1" i="0">
                <a:solidFill>
                  <a:srgbClr val="3D4D5A"/>
                </a:solidFill>
                <a:latin typeface="Microsoft JhengHei"/>
                <a:ea typeface="Microsoft JhengHei"/>
                <a:cs typeface="Microsoft JhengHei"/>
              </a:rPr>
              <a:t>最優性差距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41567" y="1828800"/>
            <a:ext cx="2545003" cy="9601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7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141567" y="1828800"/>
            <a:ext cx="2545003" cy="54864"/>
          </a:xfrm>
          <a:prstGeom prst="rect">
            <a:avLst/>
          </a:prstGeom>
          <a:solidFill>
            <a:srgbClr val="BC5B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06159" y="2048256"/>
            <a:ext cx="2215819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2200" b="1" i="0">
                <a:solidFill>
                  <a:srgbClr val="1C3D5A"/>
                </a:solidFill>
                <a:latin typeface="Consolas"/>
                <a:ea typeface="Microsoft JhengHei"/>
                <a:cs typeface="Consolas"/>
              </a:rPr>
              <a:t>59.2%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06159" y="2221992"/>
            <a:ext cx="221581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250" b="1" i="0">
                <a:solidFill>
                  <a:srgbClr val="3D4D5A"/>
                </a:solidFill>
                <a:latin typeface="Microsoft JhengHei"/>
                <a:ea typeface="Microsoft JhengHei"/>
                <a:cs typeface="Microsoft JhengHei"/>
              </a:rPr>
              <a:t>ML 惡劣機率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869451" y="1828800"/>
            <a:ext cx="2545003" cy="9601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7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869451" y="1828800"/>
            <a:ext cx="2545003" cy="54864"/>
          </a:xfrm>
          <a:prstGeom prst="rect">
            <a:avLst/>
          </a:prstGeom>
          <a:solidFill>
            <a:srgbClr val="1C3D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034043" y="2048256"/>
            <a:ext cx="2215819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2200" b="1" i="0">
                <a:solidFill>
                  <a:srgbClr val="1C3D5A"/>
                </a:solidFill>
                <a:latin typeface="Consolas"/>
                <a:ea typeface="Microsoft JhengHei"/>
                <a:cs typeface="Consolas"/>
              </a:rPr>
              <a:t>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034043" y="2221992"/>
            <a:ext cx="221581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250" b="1" i="0">
                <a:solidFill>
                  <a:srgbClr val="3D4D5A"/>
                </a:solidFill>
                <a:latin typeface="Microsoft JhengHei"/>
                <a:ea typeface="Microsoft JhengHei"/>
                <a:cs typeface="Microsoft JhengHei"/>
              </a:rPr>
              <a:t>外海員額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0080" y="3017520"/>
            <a:ext cx="1188720" cy="420624"/>
          </a:xfrm>
          <a:prstGeom prst="rect">
            <a:avLst/>
          </a:prstGeom>
          <a:solidFill>
            <a:srgbClr val="1C3D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49808" y="3017520"/>
            <a:ext cx="100584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20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海域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828800" y="3017520"/>
            <a:ext cx="1828800" cy="420624"/>
          </a:xfrm>
          <a:prstGeom prst="rect">
            <a:avLst/>
          </a:prstGeom>
          <a:solidFill>
            <a:srgbClr val="1C3D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938528" y="3017520"/>
            <a:ext cx="164592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20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人員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657600" y="3017520"/>
            <a:ext cx="1828800" cy="420624"/>
          </a:xfrm>
          <a:prstGeom prst="rect">
            <a:avLst/>
          </a:prstGeom>
          <a:solidFill>
            <a:srgbClr val="1C3D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767328" y="3017520"/>
            <a:ext cx="164592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20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船艦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486400" y="3017520"/>
            <a:ext cx="1188720" cy="420624"/>
          </a:xfrm>
          <a:prstGeom prst="rect">
            <a:avLst/>
          </a:prstGeom>
          <a:solidFill>
            <a:srgbClr val="1C3D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596128" y="3017520"/>
            <a:ext cx="100584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  <a:spcAft>
                <a:spcPts val="500"/>
              </a:spcAft>
            </a:pPr>
            <a:r>
              <a:rPr sz="120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疲勞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675120" y="3017520"/>
            <a:ext cx="1554480" cy="420624"/>
          </a:xfrm>
          <a:prstGeom prst="rect">
            <a:avLst/>
          </a:prstGeom>
          <a:solidFill>
            <a:srgbClr val="1C3D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784848" y="3017520"/>
            <a:ext cx="137160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  <a:spcAft>
                <a:spcPts val="500"/>
              </a:spcAft>
            </a:pPr>
            <a:r>
              <a:rPr sz="120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外海暴露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229600" y="3017520"/>
            <a:ext cx="3322015" cy="420624"/>
          </a:xfrm>
          <a:prstGeom prst="rect">
            <a:avLst/>
          </a:prstGeom>
          <a:solidFill>
            <a:srgbClr val="1C3D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339328" y="3017520"/>
            <a:ext cx="3139135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20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配置理由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40080" y="3438144"/>
            <a:ext cx="10911535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49808" y="3438144"/>
            <a:ext cx="10058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150" b="1" i="0">
                <a:solidFill>
                  <a:srgbClr val="BC5B41"/>
                </a:solidFill>
                <a:latin typeface="Microsoft JhengHei"/>
                <a:ea typeface="Microsoft JhengHei"/>
                <a:cs typeface="Microsoft JhengHei"/>
              </a:rPr>
              <a:t>外海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938528" y="3438144"/>
            <a:ext cx="164592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150" b="0" i="0">
                <a:solidFill>
                  <a:srgbClr val="3D4D5A"/>
                </a:solidFill>
                <a:latin typeface="Microsoft JhengHei"/>
                <a:ea typeface="Microsoft JhengHei"/>
                <a:cs typeface="Microsoft JhengHei"/>
              </a:rPr>
              <a:t>Employee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767328" y="3438144"/>
            <a:ext cx="164592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150" b="0" i="0">
                <a:solidFill>
                  <a:srgbClr val="3D4D5A"/>
                </a:solidFill>
                <a:latin typeface="Consolas"/>
                <a:ea typeface="Microsoft JhengHei"/>
                <a:cs typeface="Consolas"/>
              </a:rPr>
              <a:t>MAR-008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596128" y="3438144"/>
            <a:ext cx="10058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  <a:spcAft>
                <a:spcPts val="500"/>
              </a:spcAft>
            </a:pPr>
            <a:r>
              <a:rPr sz="1150" b="0" i="0">
                <a:solidFill>
                  <a:srgbClr val="3D4D5A"/>
                </a:solidFill>
                <a:latin typeface="Microsoft JhengHei"/>
                <a:ea typeface="Microsoft JhengHei"/>
                <a:cs typeface="Microsoft JhengHei"/>
              </a:rPr>
              <a:t>17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784848" y="3438144"/>
            <a:ext cx="13716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  <a:spcAft>
                <a:spcPts val="500"/>
              </a:spcAft>
            </a:pPr>
            <a:r>
              <a:rPr sz="1150" b="0" i="0">
                <a:solidFill>
                  <a:srgbClr val="3D4D5A"/>
                </a:solidFill>
                <a:latin typeface="Microsoft JhengHei"/>
                <a:ea typeface="Microsoft JhengHei"/>
                <a:cs typeface="Microsoft JhengHei"/>
              </a:rPr>
              <a:t>11.1%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339328" y="3438144"/>
            <a:ext cx="3139135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150" b="0" i="0">
                <a:solidFill>
                  <a:srgbClr val="7C8B97"/>
                </a:solidFill>
                <a:latin typeface="Microsoft JhengHei"/>
                <a:ea typeface="Microsoft JhengHei"/>
                <a:cs typeface="Microsoft JhengHei"/>
              </a:rPr>
              <a:t>低疲勞且外海暴露低，適合輪派外海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40080" y="3803904"/>
            <a:ext cx="10911535" cy="365760"/>
          </a:xfrm>
          <a:prstGeom prst="rect">
            <a:avLst/>
          </a:prstGeom>
          <a:solidFill>
            <a:srgbClr val="F3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49808" y="3803904"/>
            <a:ext cx="10058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150" b="1" i="0">
                <a:solidFill>
                  <a:srgbClr val="34506A"/>
                </a:solidFill>
                <a:latin typeface="Microsoft JhengHei"/>
                <a:ea typeface="Microsoft JhengHei"/>
                <a:cs typeface="Microsoft JhengHei"/>
              </a:rPr>
              <a:t>近海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938528" y="3803904"/>
            <a:ext cx="164592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150" b="0" i="0">
                <a:solidFill>
                  <a:srgbClr val="3D4D5A"/>
                </a:solidFill>
                <a:latin typeface="Microsoft JhengHei"/>
                <a:ea typeface="Microsoft JhengHei"/>
                <a:cs typeface="Microsoft JhengHei"/>
              </a:rPr>
              <a:t>林佳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767328" y="3803904"/>
            <a:ext cx="164592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150" b="0" i="0">
                <a:solidFill>
                  <a:srgbClr val="3D4D5A"/>
                </a:solidFill>
                <a:latin typeface="Consolas"/>
                <a:ea typeface="Microsoft JhengHei"/>
                <a:cs typeface="Consolas"/>
              </a:rPr>
              <a:t>MAR-003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596128" y="3803904"/>
            <a:ext cx="10058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  <a:spcAft>
                <a:spcPts val="500"/>
              </a:spcAft>
            </a:pPr>
            <a:r>
              <a:rPr sz="1150" b="0" i="0">
                <a:solidFill>
                  <a:srgbClr val="3D4D5A"/>
                </a:solidFill>
                <a:latin typeface="Microsoft JhengHei"/>
                <a:ea typeface="Microsoft JhengHei"/>
                <a:cs typeface="Microsoft JhengHei"/>
              </a:rPr>
              <a:t>17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784848" y="3803904"/>
            <a:ext cx="13716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  <a:spcAft>
                <a:spcPts val="500"/>
              </a:spcAft>
            </a:pPr>
            <a:r>
              <a:rPr sz="1150" b="0" i="0">
                <a:solidFill>
                  <a:srgbClr val="3D4D5A"/>
                </a:solidFill>
                <a:latin typeface="Microsoft JhengHei"/>
                <a:ea typeface="Microsoft JhengHei"/>
                <a:cs typeface="Microsoft JhengHei"/>
              </a:rPr>
              <a:t>29.4%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339328" y="3803904"/>
            <a:ext cx="3139135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150" b="0" i="0">
                <a:solidFill>
                  <a:srgbClr val="7C8B97"/>
                </a:solidFill>
                <a:latin typeface="Microsoft JhengHei"/>
                <a:ea typeface="Microsoft JhengHei"/>
                <a:cs typeface="Microsoft JhengHei"/>
              </a:rPr>
              <a:t>疲勞適中，配置近海任務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40080" y="4169664"/>
            <a:ext cx="10911535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49808" y="4169664"/>
            <a:ext cx="10058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150" b="1" i="0">
                <a:solidFill>
                  <a:srgbClr val="34506A"/>
                </a:solidFill>
                <a:latin typeface="Microsoft JhengHei"/>
                <a:ea typeface="Microsoft JhengHei"/>
                <a:cs typeface="Microsoft JhengHei"/>
              </a:rPr>
              <a:t>近海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938528" y="4169664"/>
            <a:ext cx="164592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150" b="0" i="0">
                <a:solidFill>
                  <a:srgbClr val="3D4D5A"/>
                </a:solidFill>
                <a:latin typeface="Microsoft JhengHei"/>
                <a:ea typeface="Microsoft JhengHei"/>
                <a:cs typeface="Microsoft JhengHei"/>
              </a:rPr>
              <a:t>黃峻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3767328" y="4169664"/>
            <a:ext cx="164592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150" b="0" i="0">
                <a:solidFill>
                  <a:srgbClr val="3D4D5A"/>
                </a:solidFill>
                <a:latin typeface="Consolas"/>
                <a:ea typeface="Microsoft JhengHei"/>
                <a:cs typeface="Consolas"/>
              </a:rPr>
              <a:t>MAR-004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596128" y="4169664"/>
            <a:ext cx="10058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  <a:spcAft>
                <a:spcPts val="500"/>
              </a:spcAft>
            </a:pPr>
            <a:r>
              <a:rPr sz="1150" b="0" i="0">
                <a:solidFill>
                  <a:srgbClr val="3D4D5A"/>
                </a:solidFill>
                <a:latin typeface="Microsoft JhengHei"/>
                <a:ea typeface="Microsoft JhengHei"/>
                <a:cs typeface="Microsoft JhengHei"/>
              </a:rPr>
              <a:t>17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784848" y="4169664"/>
            <a:ext cx="13716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  <a:spcAft>
                <a:spcPts val="500"/>
              </a:spcAft>
            </a:pPr>
            <a:r>
              <a:rPr sz="1150" b="0" i="0">
                <a:solidFill>
                  <a:srgbClr val="3D4D5A"/>
                </a:solidFill>
                <a:latin typeface="Microsoft JhengHei"/>
                <a:ea typeface="Microsoft JhengHei"/>
                <a:cs typeface="Microsoft JhengHei"/>
              </a:rPr>
              <a:t>35.3%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339328" y="4169664"/>
            <a:ext cx="3139135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150" b="0" i="0">
                <a:solidFill>
                  <a:srgbClr val="7C8B97"/>
                </a:solidFill>
                <a:latin typeface="Microsoft JhengHei"/>
                <a:ea typeface="Microsoft JhengHei"/>
                <a:cs typeface="Microsoft JhengHei"/>
              </a:rPr>
              <a:t>疲勞適中，配置近海任務</a:t>
            </a:r>
          </a:p>
        </p:txBody>
      </p:sp>
      <p:sp>
        <p:nvSpPr>
          <p:cNvPr id="57" name="Rectangle 56"/>
          <p:cNvSpPr/>
          <p:nvPr/>
        </p:nvSpPr>
        <p:spPr>
          <a:xfrm>
            <a:off x="640080" y="4535424"/>
            <a:ext cx="10911535" cy="365760"/>
          </a:xfrm>
          <a:prstGeom prst="rect">
            <a:avLst/>
          </a:prstGeom>
          <a:solidFill>
            <a:srgbClr val="F3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749808" y="4535424"/>
            <a:ext cx="10058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150" b="1" i="0">
                <a:solidFill>
                  <a:srgbClr val="34506A"/>
                </a:solidFill>
                <a:latin typeface="Microsoft JhengHei"/>
                <a:ea typeface="Microsoft JhengHei"/>
                <a:cs typeface="Microsoft JhengHei"/>
              </a:rPr>
              <a:t>近海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938528" y="4535424"/>
            <a:ext cx="164592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150" b="0" i="0">
                <a:solidFill>
                  <a:srgbClr val="3D4D5A"/>
                </a:solidFill>
                <a:latin typeface="Microsoft JhengHei"/>
                <a:ea typeface="Microsoft JhengHei"/>
                <a:cs typeface="Microsoft JhengHei"/>
              </a:rPr>
              <a:t>Admin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3767328" y="4535424"/>
            <a:ext cx="164592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150" b="0" i="0">
                <a:solidFill>
                  <a:srgbClr val="3D4D5A"/>
                </a:solidFill>
                <a:latin typeface="Consolas"/>
                <a:ea typeface="Microsoft JhengHei"/>
                <a:cs typeface="Consolas"/>
              </a:rPr>
              <a:t>MAR-005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5596128" y="4535424"/>
            <a:ext cx="10058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  <a:spcAft>
                <a:spcPts val="500"/>
              </a:spcAft>
            </a:pPr>
            <a:r>
              <a:rPr sz="1150" b="0" i="0">
                <a:solidFill>
                  <a:srgbClr val="3D4D5A"/>
                </a:solidFill>
                <a:latin typeface="Microsoft JhengHei"/>
                <a:ea typeface="Microsoft JhengHei"/>
                <a:cs typeface="Microsoft JhengHei"/>
              </a:rPr>
              <a:t>20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784848" y="4535424"/>
            <a:ext cx="13716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  <a:spcAft>
                <a:spcPts val="500"/>
              </a:spcAft>
            </a:pPr>
            <a:r>
              <a:rPr sz="1150" b="0" i="0">
                <a:solidFill>
                  <a:srgbClr val="3D4D5A"/>
                </a:solidFill>
                <a:latin typeface="Microsoft JhengHei"/>
                <a:ea typeface="Microsoft JhengHei"/>
                <a:cs typeface="Microsoft JhengHei"/>
              </a:rPr>
              <a:t>30.0%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8339328" y="4535424"/>
            <a:ext cx="3139135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150" b="0" i="0">
                <a:solidFill>
                  <a:srgbClr val="7C8B97"/>
                </a:solidFill>
                <a:latin typeface="Microsoft JhengHei"/>
                <a:ea typeface="Microsoft JhengHei"/>
                <a:cs typeface="Microsoft JhengHei"/>
              </a:rPr>
              <a:t>疲勞適中，配置近海任務</a:t>
            </a:r>
          </a:p>
        </p:txBody>
      </p:sp>
      <p:sp>
        <p:nvSpPr>
          <p:cNvPr id="64" name="Rectangle 63"/>
          <p:cNvSpPr/>
          <p:nvPr/>
        </p:nvSpPr>
        <p:spPr>
          <a:xfrm>
            <a:off x="640080" y="4901184"/>
            <a:ext cx="10911535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749808" y="4901184"/>
            <a:ext cx="10058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150" b="1" i="0">
                <a:solidFill>
                  <a:srgbClr val="4E8C8A"/>
                </a:solidFill>
                <a:latin typeface="Microsoft JhengHei"/>
                <a:ea typeface="Microsoft JhengHei"/>
                <a:cs typeface="Microsoft JhengHei"/>
              </a:rPr>
              <a:t>港口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938528" y="4901184"/>
            <a:ext cx="164592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150" b="0" i="0">
                <a:solidFill>
                  <a:srgbClr val="3D4D5A"/>
                </a:solidFill>
                <a:latin typeface="Microsoft JhengHei"/>
                <a:ea typeface="Microsoft JhengHei"/>
                <a:cs typeface="Microsoft JhengHei"/>
              </a:rPr>
              <a:t>陳偉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3767328" y="4901184"/>
            <a:ext cx="164592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150" b="0" i="0">
                <a:solidFill>
                  <a:srgbClr val="3D4D5A"/>
                </a:solidFill>
                <a:latin typeface="Consolas"/>
                <a:ea typeface="Microsoft JhengHei"/>
                <a:cs typeface="Consolas"/>
              </a:rPr>
              <a:t>MAR-001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5596128" y="4901184"/>
            <a:ext cx="10058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  <a:spcAft>
                <a:spcPts val="500"/>
              </a:spcAft>
            </a:pPr>
            <a:r>
              <a:rPr sz="1150" b="0" i="0">
                <a:solidFill>
                  <a:srgbClr val="3D4D5A"/>
                </a:solidFill>
                <a:latin typeface="Microsoft JhengHei"/>
                <a:ea typeface="Microsoft JhengHei"/>
                <a:cs typeface="Microsoft JhengHei"/>
              </a:rPr>
              <a:t>26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6784848" y="4901184"/>
            <a:ext cx="13716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  <a:spcAft>
                <a:spcPts val="500"/>
              </a:spcAft>
            </a:pPr>
            <a:r>
              <a:rPr sz="1150" b="0" i="0">
                <a:solidFill>
                  <a:srgbClr val="3D4D5A"/>
                </a:solidFill>
                <a:latin typeface="Microsoft JhengHei"/>
                <a:ea typeface="Microsoft JhengHei"/>
                <a:cs typeface="Microsoft JhengHei"/>
              </a:rPr>
              <a:t>11.1%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8339328" y="4901184"/>
            <a:ext cx="3139135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150" b="0" i="0">
                <a:solidFill>
                  <a:srgbClr val="7C8B97"/>
                </a:solidFill>
                <a:latin typeface="Microsoft JhengHei"/>
                <a:ea typeface="Microsoft JhengHei"/>
                <a:cs typeface="Microsoft JhengHei"/>
              </a:rPr>
              <a:t>配置港口值守</a:t>
            </a:r>
          </a:p>
        </p:txBody>
      </p:sp>
      <p:sp>
        <p:nvSpPr>
          <p:cNvPr id="71" name="Rectangle 70"/>
          <p:cNvSpPr/>
          <p:nvPr/>
        </p:nvSpPr>
        <p:spPr>
          <a:xfrm>
            <a:off x="640080" y="5266944"/>
            <a:ext cx="10911535" cy="365760"/>
          </a:xfrm>
          <a:prstGeom prst="rect">
            <a:avLst/>
          </a:prstGeom>
          <a:solidFill>
            <a:srgbClr val="F3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749808" y="5266944"/>
            <a:ext cx="10058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150" b="1" i="0">
                <a:solidFill>
                  <a:srgbClr val="4E8C8A"/>
                </a:solidFill>
                <a:latin typeface="Microsoft JhengHei"/>
                <a:ea typeface="Microsoft JhengHei"/>
                <a:cs typeface="Microsoft JhengHei"/>
              </a:rPr>
              <a:t>港口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1938528" y="5266944"/>
            <a:ext cx="164592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150" b="0" i="0">
                <a:solidFill>
                  <a:srgbClr val="3D4D5A"/>
                </a:solidFill>
                <a:latin typeface="Microsoft JhengHei"/>
                <a:ea typeface="Microsoft JhengHei"/>
                <a:cs typeface="Microsoft JhengHei"/>
              </a:rPr>
              <a:t>孫芳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3767328" y="5266944"/>
            <a:ext cx="164592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150" b="0" i="0">
                <a:solidFill>
                  <a:srgbClr val="3D4D5A"/>
                </a:solidFill>
                <a:latin typeface="Consolas"/>
                <a:ea typeface="Microsoft JhengHei"/>
                <a:cs typeface="Consolas"/>
              </a:rPr>
              <a:t>MAR-002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5596128" y="5266944"/>
            <a:ext cx="10058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  <a:spcAft>
                <a:spcPts val="500"/>
              </a:spcAft>
            </a:pPr>
            <a:r>
              <a:rPr sz="1150" b="0" i="0">
                <a:solidFill>
                  <a:srgbClr val="3D4D5A"/>
                </a:solidFill>
                <a:latin typeface="Microsoft JhengHei"/>
                <a:ea typeface="Microsoft JhengHei"/>
                <a:cs typeface="Microsoft JhengHei"/>
              </a:rPr>
              <a:t>27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6784848" y="5266944"/>
            <a:ext cx="13716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  <a:spcAft>
                <a:spcPts val="500"/>
              </a:spcAft>
            </a:pPr>
            <a:r>
              <a:rPr sz="1150" b="0" i="0">
                <a:solidFill>
                  <a:srgbClr val="3D4D5A"/>
                </a:solidFill>
                <a:latin typeface="Microsoft JhengHei"/>
                <a:ea typeface="Microsoft JhengHei"/>
                <a:cs typeface="Microsoft JhengHei"/>
              </a:rPr>
              <a:t>30.8%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8339328" y="5266944"/>
            <a:ext cx="3139135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150" b="0" i="0">
                <a:solidFill>
                  <a:srgbClr val="7C8B97"/>
                </a:solidFill>
                <a:latin typeface="Microsoft JhengHei"/>
                <a:ea typeface="Microsoft JhengHei"/>
                <a:cs typeface="Microsoft JhengHei"/>
              </a:rPr>
              <a:t>配置港口值守</a:t>
            </a:r>
          </a:p>
        </p:txBody>
      </p:sp>
      <p:sp>
        <p:nvSpPr>
          <p:cNvPr id="78" name="Rectangle 77"/>
          <p:cNvSpPr/>
          <p:nvPr/>
        </p:nvSpPr>
        <p:spPr>
          <a:xfrm>
            <a:off x="640080" y="3017520"/>
            <a:ext cx="10911535" cy="2615184"/>
          </a:xfrm>
          <a:prstGeom prst="rect">
            <a:avLst/>
          </a:prstGeom>
          <a:noFill/>
          <a:ln w="9525">
            <a:solidFill>
              <a:srgbClr val="D7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ounded Rectangle 78"/>
          <p:cNvSpPr/>
          <p:nvPr/>
        </p:nvSpPr>
        <p:spPr>
          <a:xfrm>
            <a:off x="640080" y="5650992"/>
            <a:ext cx="10911535" cy="566928"/>
          </a:xfrm>
          <a:prstGeom prst="roundRect">
            <a:avLst>
              <a:gd name="adj" fmla="val 10000"/>
            </a:avLst>
          </a:prstGeom>
          <a:solidFill>
            <a:srgbClr val="FBF4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640080" y="5650992"/>
            <a:ext cx="82296" cy="566928"/>
          </a:xfrm>
          <a:prstGeom prst="rect">
            <a:avLst/>
          </a:prstGeom>
          <a:solidFill>
            <a:srgbClr val="C892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896112" y="5650992"/>
            <a:ext cx="137160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200" b="1" i="0">
                <a:solidFill>
                  <a:srgbClr val="C8922E"/>
                </a:solidFill>
                <a:latin typeface="Microsoft JhengHei"/>
                <a:ea typeface="Microsoft JhengHei"/>
                <a:cs typeface="Microsoft JhengHei"/>
              </a:rPr>
              <a:t>決策亮點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2331720" y="5650992"/>
            <a:ext cx="8991295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300" b="0" i="0">
                <a:solidFill>
                  <a:srgbClr val="1C3D5A"/>
                </a:solidFill>
                <a:latin typeface="Microsoft JhengHei"/>
                <a:ea typeface="Microsoft JhengHei"/>
                <a:cs typeface="Microsoft JhengHei"/>
              </a:rPr>
              <a:t>系統自動將最低暴露者派外海、把高疲勞的「鄭宇」列入輪休 — 一次完成安全與公平兩個目標。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C3D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822960"/>
            <a:ext cx="4572000" cy="2926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20000" b="1" i="0">
                <a:solidFill>
                  <a:srgbClr val="E9F0F4"/>
                </a:solidFill>
                <a:latin typeface="Consolas"/>
                <a:ea typeface="Microsoft JhengHei"/>
                <a:cs typeface="Consolas"/>
              </a:rPr>
              <a:t>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2788920"/>
            <a:ext cx="64008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300" b="1" i="0">
                <a:solidFill>
                  <a:srgbClr val="C8922E"/>
                </a:solidFill>
                <a:latin typeface="Consolas"/>
                <a:ea typeface="Microsoft JhengHei"/>
                <a:cs typeface="Consolas"/>
              </a:rPr>
              <a:t>SECTION 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3108960"/>
            <a:ext cx="77724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3600" b="1" i="0">
                <a:solidFill>
                  <a:srgbClr val="1C3D5A"/>
                </a:solidFill>
                <a:latin typeface="Microsoft JhengHei"/>
                <a:ea typeface="Microsoft JhengHei"/>
                <a:cs typeface="Microsoft JhengHei"/>
              </a:rPr>
              <a:t>資料工程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4069080"/>
            <a:ext cx="7772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500" b="0" i="0">
                <a:solidFill>
                  <a:srgbClr val="7C8B97"/>
                </a:solidFill>
                <a:latin typeface="Consolas"/>
                <a:ea typeface="Microsoft JhengHei"/>
                <a:cs typeface="Consolas"/>
              </a:rPr>
              <a:t>Data Engineering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886968" y="3931920"/>
            <a:ext cx="2743200" cy="0"/>
          </a:xfrm>
          <a:prstGeom prst="bentConnector3">
            <a:avLst/>
          </a:prstGeom>
          <a:ln w="30480">
            <a:solidFill>
              <a:srgbClr val="C892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7955279" y="1371600"/>
            <a:ext cx="36576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200" b="1" i="0">
                <a:solidFill>
                  <a:srgbClr val="C8922E"/>
                </a:solidFill>
                <a:latin typeface="Microsoft JhengHei"/>
                <a:ea typeface="Microsoft JhengHei"/>
                <a:cs typeface="Microsoft JhengHei"/>
              </a:rPr>
              <a:t>本章內容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955279" y="1700784"/>
            <a:ext cx="3657600" cy="0"/>
          </a:xfrm>
          <a:prstGeom prst="bentConnector3">
            <a:avLst/>
          </a:prstGeom>
          <a:ln w="12700">
            <a:solidFill>
              <a:srgbClr val="D7E0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7955279" y="1865376"/>
            <a:ext cx="3657600" cy="4114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1100"/>
              </a:spcAft>
            </a:pPr>
            <a:r>
              <a:rPr sz="1300" b="1" i="0">
                <a:solidFill>
                  <a:srgbClr val="C8922E"/>
                </a:solidFill>
                <a:latin typeface="Microsoft JhengHei"/>
                <a:ea typeface="Microsoft JhengHei"/>
                <a:cs typeface="Microsoft JhengHei"/>
              </a:rPr>
              <a:t>▪  </a:t>
            </a:r>
            <a:r>
              <a:rPr sz="1300" b="0" i="0">
                <a:solidFill>
                  <a:srgbClr val="3D4D5A"/>
                </a:solidFill>
                <a:latin typeface="Microsoft JhengHei"/>
                <a:ea typeface="Microsoft JhengHei"/>
                <a:cs typeface="Microsoft JhengHei"/>
              </a:rPr>
              <a:t>Schema 設計與擴充</a:t>
            </a:r>
          </a:p>
          <a:p>
            <a:pPr algn="l">
              <a:lnSpc>
                <a:spcPct val="120000"/>
              </a:lnSpc>
              <a:spcAft>
                <a:spcPts val="1100"/>
              </a:spcAft>
            </a:pPr>
            <a:r>
              <a:rPr sz="1300" b="1" i="0">
                <a:solidFill>
                  <a:srgbClr val="C8922E"/>
                </a:solidFill>
                <a:latin typeface="Microsoft JhengHei"/>
                <a:ea typeface="Microsoft JhengHei"/>
                <a:cs typeface="Microsoft JhengHei"/>
              </a:rPr>
              <a:t>▪  </a:t>
            </a:r>
            <a:r>
              <a:rPr sz="1300" b="0" i="0">
                <a:solidFill>
                  <a:srgbClr val="3D4D5A"/>
                </a:solidFill>
                <a:latin typeface="Microsoft JhengHei"/>
                <a:ea typeface="Microsoft JhengHei"/>
                <a:cs typeface="Microsoft JhengHei"/>
              </a:rPr>
              <a:t>AR(1) 時序模擬模型</a:t>
            </a:r>
          </a:p>
          <a:p>
            <a:pPr algn="l">
              <a:lnSpc>
                <a:spcPct val="120000"/>
              </a:lnSpc>
              <a:spcAft>
                <a:spcPts val="1100"/>
              </a:spcAft>
            </a:pPr>
            <a:r>
              <a:rPr sz="1300" b="1" i="0">
                <a:solidFill>
                  <a:srgbClr val="C8922E"/>
                </a:solidFill>
                <a:latin typeface="Microsoft JhengHei"/>
                <a:ea typeface="Microsoft JhengHei"/>
                <a:cs typeface="Microsoft JhengHei"/>
              </a:rPr>
              <a:t>▪  </a:t>
            </a:r>
            <a:r>
              <a:rPr sz="1300" b="0" i="0">
                <a:solidFill>
                  <a:srgbClr val="3D4D5A"/>
                </a:solidFill>
                <a:latin typeface="Microsoft JhengHei"/>
                <a:ea typeface="Microsoft JhengHei"/>
                <a:cs typeface="Microsoft JhengHei"/>
              </a:rPr>
              <a:t>海域×海況機率設計</a:t>
            </a:r>
          </a:p>
          <a:p>
            <a:pPr algn="l">
              <a:lnSpc>
                <a:spcPct val="120000"/>
              </a:lnSpc>
              <a:spcAft>
                <a:spcPts val="1100"/>
              </a:spcAft>
            </a:pPr>
            <a:r>
              <a:rPr sz="1300" b="1" i="0">
                <a:solidFill>
                  <a:srgbClr val="C8922E"/>
                </a:solidFill>
                <a:latin typeface="Microsoft JhengHei"/>
                <a:ea typeface="Microsoft JhengHei"/>
                <a:cs typeface="Microsoft JhengHei"/>
              </a:rPr>
              <a:t>▪  </a:t>
            </a:r>
            <a:r>
              <a:rPr sz="1300" b="0" i="0">
                <a:solidFill>
                  <a:srgbClr val="3D4D5A"/>
                </a:solidFill>
                <a:latin typeface="Microsoft JhengHei"/>
                <a:ea typeface="Microsoft JhengHei"/>
                <a:cs typeface="Microsoft JhengHei"/>
              </a:rPr>
              <a:t>清洗與品質控管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640080" y="6455664"/>
            <a:ext cx="10911535" cy="0"/>
          </a:xfrm>
          <a:prstGeom prst="bentConnector3">
            <a:avLst/>
          </a:prstGeom>
          <a:ln w="9525">
            <a:solidFill>
              <a:srgbClr val="D7E0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640080" y="651052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950" b="0" i="0">
                <a:solidFill>
                  <a:srgbClr val="7C8B97"/>
                </a:solidFill>
                <a:latin typeface="Microsoft JhengHei"/>
                <a:ea typeface="Microsoft JhengHei"/>
                <a:cs typeface="Microsoft JhengHei"/>
              </a:rPr>
              <a:t>海勤人力資源與作業安全決策系統  ·  114-2 巨量資料與雲端運算  第 2 組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20624"/>
            <a:ext cx="109115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200" b="1" i="0">
                <a:solidFill>
                  <a:srgbClr val="C8922E"/>
                </a:solidFill>
                <a:latin typeface="Microsoft JhengHei"/>
                <a:ea typeface="Microsoft JhengHei"/>
                <a:cs typeface="Microsoft JhengHei"/>
              </a:rPr>
              <a:t>資料工程 · SCHEMA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76656"/>
            <a:ext cx="10911535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2500" b="1" i="0">
                <a:solidFill>
                  <a:srgbClr val="1C3D5A"/>
                </a:solidFill>
                <a:latin typeface="Microsoft JhengHei"/>
                <a:ea typeface="Microsoft JhengHei"/>
                <a:cs typeface="Microsoft JhengHei"/>
              </a:rPr>
              <a:t>在通用打卡表上擴充三個海事業務欄位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40080" y="1417320"/>
            <a:ext cx="566928" cy="0"/>
          </a:xfrm>
          <a:prstGeom prst="bentConnector3">
            <a:avLst/>
          </a:prstGeom>
          <a:ln w="30480">
            <a:solidFill>
              <a:srgbClr val="C892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640080" y="6455664"/>
            <a:ext cx="10911535" cy="0"/>
          </a:xfrm>
          <a:prstGeom prst="bentConnector3">
            <a:avLst/>
          </a:prstGeom>
          <a:ln w="9525">
            <a:solidFill>
              <a:srgbClr val="D7E0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40080" y="651052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950" b="0" i="0">
                <a:solidFill>
                  <a:srgbClr val="7C8B97"/>
                </a:solidFill>
                <a:latin typeface="Microsoft JhengHei"/>
                <a:ea typeface="Microsoft JhengHei"/>
                <a:cs typeface="Microsoft JhengHei"/>
              </a:rPr>
              <a:t>海勤人力資源與作業安全決策系統  ·  114-2 巨量資料與雲端運算  第 2 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54335" y="6510528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500"/>
              </a:spcAft>
            </a:pPr>
            <a:r>
              <a:rPr sz="950" b="0" i="0">
                <a:solidFill>
                  <a:srgbClr val="7C8B97"/>
                </a:solidFill>
                <a:latin typeface="Consolas"/>
                <a:ea typeface="Microsoft JhengHei"/>
                <a:cs typeface="Consolas"/>
              </a:rPr>
              <a:t>20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874519"/>
            <a:ext cx="6126480" cy="4114800"/>
          </a:xfrm>
          <a:prstGeom prst="roundRect">
            <a:avLst>
              <a:gd name="adj" fmla="val 5000"/>
            </a:avLst>
          </a:prstGeom>
          <a:solidFill>
            <a:srgbClr val="F3F7F9"/>
          </a:solidFill>
          <a:ln w="9525">
            <a:solidFill>
              <a:srgbClr val="D7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011680"/>
            <a:ext cx="55778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400" b="1" i="0">
                <a:solidFill>
                  <a:srgbClr val="1C3D5A"/>
                </a:solidFill>
                <a:latin typeface="Microsoft JhengHei"/>
                <a:ea typeface="Microsoft JhengHei"/>
                <a:cs typeface="Microsoft JhengHei"/>
              </a:rPr>
              <a:t>attendance 表（核心）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914400" y="2377440"/>
            <a:ext cx="5577840" cy="0"/>
          </a:xfrm>
          <a:prstGeom prst="bentConnector3">
            <a:avLst/>
          </a:prstGeom>
          <a:ln w="12700">
            <a:solidFill>
              <a:srgbClr val="C5D2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914400" y="2514600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200" b="0" i="0">
                <a:solidFill>
                  <a:srgbClr val="1C3D5A"/>
                </a:solidFill>
                <a:latin typeface="Consolas"/>
                <a:ea typeface="Microsoft JhengHei"/>
                <a:cs typeface="Consolas"/>
              </a:rPr>
              <a:t>att_id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34640" y="2514600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100" b="0" i="0">
                <a:solidFill>
                  <a:srgbClr val="7C8B97"/>
                </a:solidFill>
                <a:latin typeface="Consolas"/>
                <a:ea typeface="Microsoft JhengHei"/>
                <a:cs typeface="Consolas"/>
              </a:rPr>
              <a:t>INT PK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54880" y="2514600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100" b="0" i="0">
                <a:solidFill>
                  <a:srgbClr val="3D4D5A"/>
                </a:solidFill>
                <a:latin typeface="Microsoft JhengHei"/>
                <a:ea typeface="Microsoft JhengHei"/>
                <a:cs typeface="Microsoft JhengHei"/>
              </a:rPr>
              <a:t>流水號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2926080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200" b="0" i="0">
                <a:solidFill>
                  <a:srgbClr val="1C3D5A"/>
                </a:solidFill>
                <a:latin typeface="Consolas"/>
                <a:ea typeface="Microsoft JhengHei"/>
                <a:cs typeface="Consolas"/>
              </a:rPr>
              <a:t>user_id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834640" y="2926080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100" b="0" i="0">
                <a:solidFill>
                  <a:srgbClr val="7C8B97"/>
                </a:solidFill>
                <a:latin typeface="Consolas"/>
                <a:ea typeface="Microsoft JhengHei"/>
                <a:cs typeface="Consolas"/>
              </a:rPr>
              <a:t>INT FK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54880" y="2926080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100" b="0" i="0">
                <a:solidFill>
                  <a:srgbClr val="3D4D5A"/>
                </a:solidFill>
                <a:latin typeface="Microsoft JhengHei"/>
                <a:ea typeface="Microsoft JhengHei"/>
                <a:cs typeface="Microsoft JhengHei"/>
              </a:rPr>
              <a:t>值班人員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3337560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200" b="0" i="0">
                <a:solidFill>
                  <a:srgbClr val="1C3D5A"/>
                </a:solidFill>
                <a:latin typeface="Consolas"/>
                <a:ea typeface="Microsoft JhengHei"/>
                <a:cs typeface="Consolas"/>
              </a:rPr>
              <a:t>work_date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834640" y="3337560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100" b="0" i="0">
                <a:solidFill>
                  <a:srgbClr val="7C8B97"/>
                </a:solidFill>
                <a:latin typeface="Consolas"/>
                <a:ea typeface="Microsoft JhengHei"/>
                <a:cs typeface="Consolas"/>
              </a:rPr>
              <a:t>DATE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54880" y="3337560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100" b="0" i="0">
                <a:solidFill>
                  <a:srgbClr val="3D4D5A"/>
                </a:solidFill>
                <a:latin typeface="Microsoft JhengHei"/>
                <a:ea typeface="Microsoft JhengHei"/>
                <a:cs typeface="Microsoft JhengHei"/>
              </a:rPr>
              <a:t>值班日期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3749040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200" b="0" i="0">
                <a:solidFill>
                  <a:srgbClr val="1C3D5A"/>
                </a:solidFill>
                <a:latin typeface="Consolas"/>
                <a:ea typeface="Microsoft JhengHei"/>
                <a:cs typeface="Consolas"/>
              </a:rPr>
              <a:t>check_in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834640" y="3749040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100" b="0" i="0">
                <a:solidFill>
                  <a:srgbClr val="7C8B97"/>
                </a:solidFill>
                <a:latin typeface="Consolas"/>
                <a:ea typeface="Microsoft JhengHei"/>
                <a:cs typeface="Consolas"/>
              </a:rPr>
              <a:t>DATETIME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754880" y="3749040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100" b="0" i="0">
                <a:solidFill>
                  <a:srgbClr val="3D4D5A"/>
                </a:solidFill>
                <a:latin typeface="Microsoft JhengHei"/>
                <a:ea typeface="Microsoft JhengHei"/>
                <a:cs typeface="Microsoft JhengHei"/>
              </a:rPr>
              <a:t>上勤 07–09h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4160520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200" b="0" i="0">
                <a:solidFill>
                  <a:srgbClr val="1C3D5A"/>
                </a:solidFill>
                <a:latin typeface="Consolas"/>
                <a:ea typeface="Microsoft JhengHei"/>
                <a:cs typeface="Consolas"/>
              </a:rPr>
              <a:t>check_out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834640" y="4160520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100" b="0" i="0">
                <a:solidFill>
                  <a:srgbClr val="7C8B97"/>
                </a:solidFill>
                <a:latin typeface="Consolas"/>
                <a:ea typeface="Microsoft JhengHei"/>
                <a:cs typeface="Consolas"/>
              </a:rPr>
              <a:t>DATETIME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754880" y="4160520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100" b="0" i="0">
                <a:solidFill>
                  <a:srgbClr val="3D4D5A"/>
                </a:solidFill>
                <a:latin typeface="Microsoft JhengHei"/>
                <a:ea typeface="Microsoft JhengHei"/>
                <a:cs typeface="Microsoft JhengHei"/>
              </a:rPr>
              <a:t>下勤（依海況）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" y="4572000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200" b="1" i="0">
                <a:solidFill>
                  <a:srgbClr val="4E8C8A"/>
                </a:solidFill>
                <a:latin typeface="Consolas"/>
                <a:ea typeface="Microsoft JhengHei"/>
                <a:cs typeface="Consolas"/>
              </a:rPr>
              <a:t>duty_zone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834640" y="4572000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100" b="0" i="0">
                <a:solidFill>
                  <a:srgbClr val="C8922E"/>
                </a:solidFill>
                <a:latin typeface="Consolas"/>
                <a:ea typeface="Microsoft JhengHei"/>
                <a:cs typeface="Consolas"/>
              </a:rPr>
              <a:t>ENUM ←新增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754880" y="4572000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100" b="0" i="0">
                <a:solidFill>
                  <a:srgbClr val="3D4D5A"/>
                </a:solidFill>
                <a:latin typeface="Microsoft JhengHei"/>
                <a:ea typeface="Microsoft JhengHei"/>
                <a:cs typeface="Microsoft JhengHei"/>
              </a:rPr>
              <a:t>港口/近海/外海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" y="4983480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200" b="1" i="0">
                <a:solidFill>
                  <a:srgbClr val="4E8C8A"/>
                </a:solidFill>
                <a:latin typeface="Consolas"/>
                <a:ea typeface="Microsoft JhengHei"/>
                <a:cs typeface="Consolas"/>
              </a:rPr>
              <a:t>sea_state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834640" y="4983480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100" b="0" i="0">
                <a:solidFill>
                  <a:srgbClr val="C8922E"/>
                </a:solidFill>
                <a:latin typeface="Consolas"/>
                <a:ea typeface="Microsoft JhengHei"/>
                <a:cs typeface="Consolas"/>
              </a:rPr>
              <a:t>ENUM ←新增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754880" y="4983480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100" b="0" i="0">
                <a:solidFill>
                  <a:srgbClr val="3D4D5A"/>
                </a:solidFill>
                <a:latin typeface="Microsoft JhengHei"/>
                <a:ea typeface="Microsoft JhengHei"/>
                <a:cs typeface="Microsoft JhengHei"/>
              </a:rPr>
              <a:t>平靜/輕/中/大浪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4400" y="5394960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200" b="1" i="0">
                <a:solidFill>
                  <a:srgbClr val="4E8C8A"/>
                </a:solidFill>
                <a:latin typeface="Consolas"/>
                <a:ea typeface="Microsoft JhengHei"/>
                <a:cs typeface="Consolas"/>
              </a:rPr>
              <a:t>vessel_id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834640" y="5394960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100" b="0" i="0">
                <a:solidFill>
                  <a:srgbClr val="C8922E"/>
                </a:solidFill>
                <a:latin typeface="Consolas"/>
                <a:ea typeface="Microsoft JhengHei"/>
                <a:cs typeface="Consolas"/>
              </a:rPr>
              <a:t>VARCHAR ←新增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754880" y="5394960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100" b="0" i="0">
                <a:solidFill>
                  <a:srgbClr val="3D4D5A"/>
                </a:solidFill>
                <a:latin typeface="Microsoft JhengHei"/>
                <a:ea typeface="Microsoft JhengHei"/>
                <a:cs typeface="Microsoft JhengHei"/>
              </a:rPr>
              <a:t>MAR-001~008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178040" y="1874519"/>
            <a:ext cx="4373575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400" b="1" i="0">
                <a:solidFill>
                  <a:srgbClr val="1C3D5A"/>
                </a:solidFill>
                <a:latin typeface="Microsoft JhengHei"/>
                <a:ea typeface="Microsoft JhengHei"/>
                <a:cs typeface="Microsoft JhengHei"/>
              </a:rPr>
              <a:t>其他三張表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178040" y="2286000"/>
            <a:ext cx="4373575" cy="10058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7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360920" y="2395728"/>
            <a:ext cx="4007815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400" b="1" i="0">
                <a:solidFill>
                  <a:srgbClr val="4E8C8A"/>
                </a:solidFill>
                <a:latin typeface="Consolas"/>
                <a:ea typeface="Microsoft JhengHei"/>
                <a:cs typeface="Consolas"/>
              </a:rPr>
              <a:t>users</a:t>
            </a:r>
          </a:p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300" b="1" i="0">
                <a:solidFill>
                  <a:srgbClr val="C8922E"/>
                </a:solidFill>
                <a:latin typeface="Microsoft JhengHei"/>
                <a:ea typeface="Microsoft JhengHei"/>
                <a:cs typeface="Microsoft JhengHei"/>
              </a:rPr>
              <a:t>   13 筆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360920" y="2788920"/>
            <a:ext cx="4007815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150" b="0" i="0">
                <a:solidFill>
                  <a:srgbClr val="3D4D5A"/>
                </a:solidFill>
                <a:latin typeface="Microsoft JhengHei"/>
                <a:ea typeface="Microsoft JhengHei"/>
                <a:cs typeface="Microsoft JhengHei"/>
              </a:rPr>
              <a:t>三層級權限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7178040" y="3474720"/>
            <a:ext cx="4373575" cy="10058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7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360920" y="3584448"/>
            <a:ext cx="4007815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400" b="1" i="0">
                <a:solidFill>
                  <a:srgbClr val="4E8C8A"/>
                </a:solidFill>
                <a:latin typeface="Consolas"/>
                <a:ea typeface="Microsoft JhengHei"/>
                <a:cs typeface="Consolas"/>
              </a:rPr>
              <a:t>leaves</a:t>
            </a:r>
          </a:p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300" b="1" i="0">
                <a:solidFill>
                  <a:srgbClr val="C8922E"/>
                </a:solidFill>
                <a:latin typeface="Microsoft JhengHei"/>
                <a:ea typeface="Microsoft JhengHei"/>
                <a:cs typeface="Microsoft JhengHei"/>
              </a:rPr>
              <a:t>   60 筆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360920" y="3977640"/>
            <a:ext cx="4007815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150" b="0" i="0">
                <a:solidFill>
                  <a:srgbClr val="3D4D5A"/>
                </a:solidFill>
                <a:latin typeface="Microsoft JhengHei"/>
                <a:ea typeface="Microsoft JhengHei"/>
                <a:cs typeface="Microsoft JhengHei"/>
              </a:rPr>
              <a:t>請假申請/審核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7178040" y="4663440"/>
            <a:ext cx="4373575" cy="10058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7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360920" y="4773168"/>
            <a:ext cx="4007815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400" b="1" i="0">
                <a:solidFill>
                  <a:srgbClr val="4E8C8A"/>
                </a:solidFill>
                <a:latin typeface="Consolas"/>
                <a:ea typeface="Microsoft JhengHei"/>
                <a:cs typeface="Consolas"/>
              </a:rPr>
              <a:t>sea_observations</a:t>
            </a:r>
          </a:p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300" b="1" i="0">
                <a:solidFill>
                  <a:srgbClr val="C8922E"/>
                </a:solidFill>
                <a:latin typeface="Microsoft JhengHei"/>
                <a:ea typeface="Microsoft JhengHei"/>
                <a:cs typeface="Microsoft JhengHei"/>
              </a:rPr>
              <a:t>   736 筆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360920" y="5166360"/>
            <a:ext cx="4007815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150" b="0" i="0">
                <a:solidFill>
                  <a:srgbClr val="3D4D5A"/>
                </a:solidFill>
                <a:latin typeface="Microsoft JhengHei"/>
                <a:ea typeface="Microsoft JhengHei"/>
                <a:cs typeface="Microsoft JhengHei"/>
              </a:rPr>
              <a:t>CWA 浮標觀測（無金鑰自動模擬）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20624"/>
            <a:ext cx="109115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200" b="1" i="0">
                <a:solidFill>
                  <a:srgbClr val="C8922E"/>
                </a:solidFill>
                <a:latin typeface="Microsoft JhengHei"/>
                <a:ea typeface="Microsoft JhengHei"/>
                <a:cs typeface="Microsoft JhengHei"/>
              </a:rPr>
              <a:t>資料工程 · 模擬模型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76656"/>
            <a:ext cx="10911535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2500" b="1" i="0">
                <a:solidFill>
                  <a:srgbClr val="1C3D5A"/>
                </a:solidFill>
                <a:latin typeface="Microsoft JhengHei"/>
                <a:ea typeface="Microsoft JhengHei"/>
                <a:cs typeface="Microsoft JhengHei"/>
              </a:rPr>
              <a:t>海象具「持續性」：今天浪大、明天多半也大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40080" y="1417320"/>
            <a:ext cx="566928" cy="0"/>
          </a:xfrm>
          <a:prstGeom prst="bentConnector3">
            <a:avLst/>
          </a:prstGeom>
          <a:ln w="30480">
            <a:solidFill>
              <a:srgbClr val="C892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640080" y="6455664"/>
            <a:ext cx="10911535" cy="0"/>
          </a:xfrm>
          <a:prstGeom prst="bentConnector3">
            <a:avLst/>
          </a:prstGeom>
          <a:ln w="9525">
            <a:solidFill>
              <a:srgbClr val="D7E0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40080" y="651052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950" b="0" i="0">
                <a:solidFill>
                  <a:srgbClr val="7C8B97"/>
                </a:solidFill>
                <a:latin typeface="Microsoft JhengHei"/>
                <a:ea typeface="Microsoft JhengHei"/>
                <a:cs typeface="Microsoft JhengHei"/>
              </a:rPr>
              <a:t>海勤人力資源與作業安全決策系統  ·  114-2 巨量資料與雲端運算  第 2 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54335" y="6510528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500"/>
              </a:spcAft>
            </a:pPr>
            <a:r>
              <a:rPr sz="950" b="0" i="0">
                <a:solidFill>
                  <a:srgbClr val="7C8B97"/>
                </a:solidFill>
                <a:latin typeface="Consolas"/>
                <a:ea typeface="Microsoft JhengHei"/>
                <a:cs typeface="Consolas"/>
              </a:rPr>
              <a:t>21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874519"/>
            <a:ext cx="5303520" cy="4114800"/>
          </a:xfrm>
          <a:prstGeom prst="roundRect">
            <a:avLst>
              <a:gd name="adj" fmla="val 5000"/>
            </a:avLst>
          </a:prstGeom>
          <a:solidFill>
            <a:srgbClr val="F3F7F9"/>
          </a:solidFill>
          <a:ln w="9525">
            <a:solidFill>
              <a:srgbClr val="D7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011680"/>
            <a:ext cx="475488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400" b="1" i="0">
                <a:solidFill>
                  <a:srgbClr val="1C3D5A"/>
                </a:solidFill>
                <a:latin typeface="Microsoft JhengHei"/>
                <a:ea typeface="Microsoft JhengHei"/>
                <a:cs typeface="Microsoft JhengHei"/>
              </a:rPr>
              <a:t>設計出發點：真實海象的時序特性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914400" y="2423160"/>
            <a:ext cx="4754880" cy="0"/>
          </a:xfrm>
          <a:prstGeom prst="bentConnector3">
            <a:avLst/>
          </a:prstGeom>
          <a:ln w="12700">
            <a:solidFill>
              <a:srgbClr val="C5D2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914400" y="2578608"/>
            <a:ext cx="4754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300" b="1" i="0">
                <a:solidFill>
                  <a:srgbClr val="1C3D5A"/>
                </a:solidFill>
                <a:latin typeface="Microsoft JhengHei"/>
                <a:ea typeface="Microsoft JhengHei"/>
                <a:cs typeface="Microsoft JhengHei"/>
              </a:rPr>
              <a:t>▪  天氣系統持續 3–7 天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3000" y="2852928"/>
            <a:ext cx="452628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150" b="0" i="0">
                <a:solidFill>
                  <a:srgbClr val="3D4D5A"/>
                </a:solidFill>
                <a:latin typeface="Microsoft JhengHei"/>
                <a:ea typeface="Microsoft JhengHei"/>
                <a:cs typeface="Microsoft JhengHei"/>
              </a:rPr>
              <a:t>今日大浪，明日通常也是大浪，不會突然平靜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383280"/>
            <a:ext cx="4754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300" b="1" i="0">
                <a:solidFill>
                  <a:srgbClr val="1C3D5A"/>
                </a:solidFill>
                <a:latin typeface="Microsoft JhengHei"/>
                <a:ea typeface="Microsoft JhengHei"/>
                <a:cs typeface="Microsoft JhengHei"/>
              </a:rPr>
              <a:t>▪  獨立隨機抽樣不夠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" y="3657600"/>
            <a:ext cx="452628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150" b="0" i="0">
                <a:solidFill>
                  <a:srgbClr val="3D4D5A"/>
                </a:solidFill>
                <a:latin typeface="Microsoft JhengHei"/>
                <a:ea typeface="Microsoft JhengHei"/>
                <a:cs typeface="Microsoft JhengHei"/>
              </a:rPr>
              <a:t>若每筆各自抽，海況沒有日際關聯，排班預測失去意義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4187952"/>
            <a:ext cx="4754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300" b="1" i="0">
                <a:solidFill>
                  <a:srgbClr val="1C3D5A"/>
                </a:solidFill>
                <a:latin typeface="Microsoft JhengHei"/>
                <a:ea typeface="Microsoft JhengHei"/>
                <a:cs typeface="Microsoft JhengHei"/>
              </a:rPr>
              <a:t>▪  時序自相關模型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43000" y="4462272"/>
            <a:ext cx="452628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150" b="0" i="0">
                <a:solidFill>
                  <a:srgbClr val="3D4D5A"/>
                </a:solidFill>
                <a:latin typeface="Microsoft JhengHei"/>
                <a:ea typeface="Microsoft JhengHei"/>
                <a:cs typeface="Microsoft JhengHei"/>
              </a:rPr>
              <a:t>用前一日的海況嚴重度加上隨機擾動，生成下一日海況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4992624"/>
            <a:ext cx="4754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300" b="1" i="0">
                <a:solidFill>
                  <a:srgbClr val="1C3D5A"/>
                </a:solidFill>
                <a:latin typeface="Microsoft JhengHei"/>
                <a:ea typeface="Microsoft JhengHei"/>
                <a:cs typeface="Microsoft JhengHei"/>
              </a:rPr>
              <a:t>▪  效果驗證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43000" y="5266944"/>
            <a:ext cx="452628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150" b="0" i="0">
                <a:solidFill>
                  <a:srgbClr val="3D4D5A"/>
                </a:solidFill>
                <a:latin typeface="Microsoft JhengHei"/>
                <a:ea typeface="Microsoft JhengHei"/>
                <a:cs typeface="Microsoft JhengHei"/>
              </a:rPr>
              <a:t>RandomForest 海況預測 AUC = 0.811（有時序訊號可學習）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55080" y="1874519"/>
            <a:ext cx="5196535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350" b="1" i="0">
                <a:solidFill>
                  <a:srgbClr val="1C3D5A"/>
                </a:solidFill>
                <a:latin typeface="Microsoft JhengHei"/>
                <a:ea typeface="Microsoft JhengHei"/>
                <a:cs typeface="Microsoft JhengHei"/>
              </a:rPr>
              <a:t>機率結構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6355080" y="2203703"/>
            <a:ext cx="5196535" cy="0"/>
          </a:xfrm>
          <a:prstGeom prst="bentConnector3">
            <a:avLst/>
          </a:prstGeom>
          <a:ln w="12700">
            <a:solidFill>
              <a:srgbClr val="D7E0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6355080" y="2331719"/>
            <a:ext cx="5196535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300" b="1" i="0">
                <a:solidFill>
                  <a:srgbClr val="C8922E"/>
                </a:solidFill>
                <a:latin typeface="Microsoft JhengHei"/>
                <a:ea typeface="Microsoft JhengHei"/>
                <a:cs typeface="Microsoft JhengHei"/>
              </a:rPr>
              <a:t>▪  </a:t>
            </a:r>
            <a:r>
              <a:rPr sz="1300" b="1" i="0">
                <a:solidFill>
                  <a:srgbClr val="1C3D5A"/>
                </a:solidFill>
                <a:latin typeface="Microsoft JhengHei"/>
                <a:ea typeface="Microsoft JhengHei"/>
                <a:cs typeface="Microsoft JhengHei"/>
              </a:rPr>
              <a:t>兩層機率設計</a:t>
            </a:r>
          </a:p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250" b="1" i="0">
                <a:solidFill>
                  <a:srgbClr val="C8922E"/>
                </a:solidFill>
                <a:latin typeface="Microsoft JhengHei"/>
                <a:ea typeface="Microsoft JhengHei"/>
                <a:cs typeface="Microsoft JhengHei"/>
              </a:rPr>
              <a:t>▪  </a:t>
            </a:r>
            <a:r>
              <a:rPr sz="1250" b="0" i="0">
                <a:solidFill>
                  <a:srgbClr val="3D4D5A"/>
                </a:solidFill>
                <a:latin typeface="Microsoft JhengHei"/>
                <a:ea typeface="Microsoft JhengHei"/>
                <a:cs typeface="Microsoft JhengHei"/>
              </a:rPr>
              <a:t>海域決定各海況基礎機率</a:t>
            </a:r>
          </a:p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100" b="1" i="0">
                <a:solidFill>
                  <a:srgbClr val="C5D2DA"/>
                </a:solidFill>
                <a:latin typeface="Microsoft JhengHei"/>
                <a:ea typeface="Microsoft JhengHei"/>
                <a:cs typeface="Microsoft JhengHei"/>
              </a:rPr>
              <a:t>–  </a:t>
            </a:r>
            <a:r>
              <a:rPr sz="1100" b="0" i="0">
                <a:solidFill>
                  <a:srgbClr val="7C8B97"/>
                </a:solidFill>
                <a:latin typeface="Microsoft JhengHei"/>
                <a:ea typeface="Microsoft JhengHei"/>
                <a:cs typeface="Microsoft JhengHei"/>
              </a:rPr>
              <a:t>外海大浪基礎率 20%</a:t>
            </a:r>
          </a:p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100" b="1" i="0">
                <a:solidFill>
                  <a:srgbClr val="C5D2DA"/>
                </a:solidFill>
                <a:latin typeface="Microsoft JhengHei"/>
                <a:ea typeface="Microsoft JhengHei"/>
                <a:cs typeface="Microsoft JhengHei"/>
              </a:rPr>
              <a:t>–  </a:t>
            </a:r>
            <a:r>
              <a:rPr sz="1100" b="0" i="0">
                <a:solidFill>
                  <a:srgbClr val="7C8B97"/>
                </a:solidFill>
                <a:latin typeface="Microsoft JhengHei"/>
                <a:ea typeface="Microsoft JhengHei"/>
                <a:cs typeface="Microsoft JhengHei"/>
              </a:rPr>
              <a:t>港口大浪基礎率  1%</a:t>
            </a:r>
          </a:p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300" b="1" i="0">
                <a:solidFill>
                  <a:srgbClr val="4E8C8A"/>
                </a:solidFill>
                <a:latin typeface="Microsoft JhengHei"/>
                <a:ea typeface="Microsoft JhengHei"/>
                <a:cs typeface="Microsoft JhengHei"/>
              </a:rPr>
              <a:t>▪  </a:t>
            </a:r>
            <a:r>
              <a:rPr sz="1300" b="1" i="0">
                <a:solidFill>
                  <a:srgbClr val="4E8C8A"/>
                </a:solidFill>
                <a:latin typeface="Microsoft JhengHei"/>
                <a:ea typeface="Microsoft JhengHei"/>
                <a:cs typeface="Microsoft JhengHei"/>
              </a:rPr>
              <a:t>時序調整</a:t>
            </a:r>
          </a:p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100" b="1" i="0">
                <a:solidFill>
                  <a:srgbClr val="C5D2DA"/>
                </a:solidFill>
                <a:latin typeface="Microsoft JhengHei"/>
                <a:ea typeface="Microsoft JhengHei"/>
                <a:cs typeface="Microsoft JhengHei"/>
              </a:rPr>
              <a:t>–  </a:t>
            </a:r>
            <a:r>
              <a:rPr sz="1100" b="0" i="0">
                <a:solidFill>
                  <a:srgbClr val="7C8B97"/>
                </a:solidFill>
                <a:latin typeface="Microsoft JhengHei"/>
                <a:ea typeface="Microsoft JhengHei"/>
                <a:cs typeface="Microsoft JhengHei"/>
              </a:rPr>
              <a:t>前日惡劣 → 今日惡劣機率升高</a:t>
            </a:r>
          </a:p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100" b="1" i="0">
                <a:solidFill>
                  <a:srgbClr val="C5D2DA"/>
                </a:solidFill>
                <a:latin typeface="Microsoft JhengHei"/>
                <a:ea typeface="Microsoft JhengHei"/>
                <a:cs typeface="Microsoft JhengHei"/>
              </a:rPr>
              <a:t>–  </a:t>
            </a:r>
            <a:r>
              <a:rPr sz="1100" b="0" i="0">
                <a:solidFill>
                  <a:srgbClr val="7C8B97"/>
                </a:solidFill>
                <a:latin typeface="Microsoft JhengHei"/>
                <a:ea typeface="Microsoft JhengHei"/>
                <a:cs typeface="Microsoft JhengHei"/>
              </a:rPr>
              <a:t>生成 1,200 筆有時序結構的值勤紀錄</a:t>
            </a:r>
          </a:p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100" b="1" i="0">
                <a:solidFill>
                  <a:srgbClr val="C5D2DA"/>
                </a:solidFill>
                <a:latin typeface="Microsoft JhengHei"/>
                <a:ea typeface="Microsoft JhengHei"/>
                <a:cs typeface="Microsoft JhengHei"/>
              </a:rPr>
              <a:t>–  </a:t>
            </a:r>
            <a:r>
              <a:rPr sz="1100" b="0" i="0">
                <a:solidFill>
                  <a:srgbClr val="7C8B97"/>
                </a:solidFill>
                <a:latin typeface="Microsoft JhengHei"/>
                <a:ea typeface="Microsoft JhengHei"/>
                <a:cs typeface="Microsoft JhengHei"/>
              </a:rPr>
              <a:t>讓後續 Markov、ML 預測有意義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20624"/>
            <a:ext cx="109115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200" b="1" i="0">
                <a:solidFill>
                  <a:srgbClr val="C8922E"/>
                </a:solidFill>
                <a:latin typeface="Microsoft JhengHei"/>
                <a:ea typeface="Microsoft JhengHei"/>
                <a:cs typeface="Microsoft JhengHei"/>
              </a:rPr>
              <a:t>資料工程 · 機率設計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76656"/>
            <a:ext cx="10911535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2500" b="1" i="0">
                <a:solidFill>
                  <a:srgbClr val="1C3D5A"/>
                </a:solidFill>
                <a:latin typeface="Microsoft JhengHei"/>
                <a:ea typeface="Microsoft JhengHei"/>
                <a:cs typeface="Microsoft JhengHei"/>
              </a:rPr>
              <a:t>海域決定海況分布，海況決定工時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40080" y="1417320"/>
            <a:ext cx="566928" cy="0"/>
          </a:xfrm>
          <a:prstGeom prst="bentConnector3">
            <a:avLst/>
          </a:prstGeom>
          <a:ln w="30480">
            <a:solidFill>
              <a:srgbClr val="C892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640080" y="6455664"/>
            <a:ext cx="10911535" cy="0"/>
          </a:xfrm>
          <a:prstGeom prst="bentConnector3">
            <a:avLst/>
          </a:prstGeom>
          <a:ln w="9525">
            <a:solidFill>
              <a:srgbClr val="D7E0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40080" y="651052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950" b="0" i="0">
                <a:solidFill>
                  <a:srgbClr val="7C8B97"/>
                </a:solidFill>
                <a:latin typeface="Microsoft JhengHei"/>
                <a:ea typeface="Microsoft JhengHei"/>
                <a:cs typeface="Microsoft JhengHei"/>
              </a:rPr>
              <a:t>海勤人力資源與作業安全決策系統  ·  114-2 巨量資料與雲端運算  第 2 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54335" y="6510528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500"/>
              </a:spcAft>
            </a:pPr>
            <a:r>
              <a:rPr sz="950" b="0" i="0">
                <a:solidFill>
                  <a:srgbClr val="7C8B97"/>
                </a:solidFill>
                <a:latin typeface="Consolas"/>
                <a:ea typeface="Microsoft JhengHei"/>
                <a:cs typeface="Consolas"/>
              </a:rPr>
              <a:t>22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920240"/>
            <a:ext cx="2011680" cy="420624"/>
          </a:xfrm>
          <a:prstGeom prst="rect">
            <a:avLst/>
          </a:prstGeom>
          <a:solidFill>
            <a:srgbClr val="1C3D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9808" y="1920240"/>
            <a:ext cx="182880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25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海況</a:t>
            </a:r>
          </a:p>
        </p:txBody>
      </p:sp>
      <p:sp>
        <p:nvSpPr>
          <p:cNvPr id="10" name="Rectangle 9"/>
          <p:cNvSpPr/>
          <p:nvPr/>
        </p:nvSpPr>
        <p:spPr>
          <a:xfrm>
            <a:off x="2651760" y="1920240"/>
            <a:ext cx="1828800" cy="420624"/>
          </a:xfrm>
          <a:prstGeom prst="rect">
            <a:avLst/>
          </a:prstGeom>
          <a:solidFill>
            <a:srgbClr val="1C3D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61488" y="1920240"/>
            <a:ext cx="164592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  <a:spcAft>
                <a:spcPts val="500"/>
              </a:spcAft>
            </a:pPr>
            <a:r>
              <a:rPr sz="125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港口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480560" y="1920240"/>
            <a:ext cx="1828800" cy="420624"/>
          </a:xfrm>
          <a:prstGeom prst="rect">
            <a:avLst/>
          </a:prstGeom>
          <a:solidFill>
            <a:srgbClr val="1C3D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90288" y="1920240"/>
            <a:ext cx="164592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  <a:spcAft>
                <a:spcPts val="500"/>
              </a:spcAft>
            </a:pPr>
            <a:r>
              <a:rPr sz="125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近海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09360" y="1920240"/>
            <a:ext cx="1828800" cy="420624"/>
          </a:xfrm>
          <a:prstGeom prst="rect">
            <a:avLst/>
          </a:prstGeom>
          <a:solidFill>
            <a:srgbClr val="1C3D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19088" y="1920240"/>
            <a:ext cx="164592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  <a:spcAft>
                <a:spcPts val="500"/>
              </a:spcAft>
            </a:pPr>
            <a:r>
              <a:rPr sz="125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外海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" y="2340864"/>
            <a:ext cx="749808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49808" y="2340864"/>
            <a:ext cx="182880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300" b="1" i="0">
                <a:solidFill>
                  <a:srgbClr val="1C3D5A"/>
                </a:solidFill>
                <a:latin typeface="Microsoft JhengHei"/>
                <a:ea typeface="Microsoft JhengHei"/>
                <a:cs typeface="Microsoft JhengHei"/>
              </a:rPr>
              <a:t>平靜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61488" y="2340864"/>
            <a:ext cx="16459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  <a:spcAft>
                <a:spcPts val="500"/>
              </a:spcAft>
            </a:pPr>
            <a:r>
              <a:rPr sz="1300" b="0" i="0">
                <a:solidFill>
                  <a:srgbClr val="3D4D5A"/>
                </a:solidFill>
                <a:latin typeface="Microsoft JhengHei"/>
                <a:ea typeface="Microsoft JhengHei"/>
                <a:cs typeface="Microsoft JhengHei"/>
              </a:rPr>
              <a:t>70%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90288" y="2340864"/>
            <a:ext cx="16459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  <a:spcAft>
                <a:spcPts val="500"/>
              </a:spcAft>
            </a:pPr>
            <a:r>
              <a:rPr sz="1300" b="0" i="0">
                <a:solidFill>
                  <a:srgbClr val="3D4D5A"/>
                </a:solidFill>
                <a:latin typeface="Microsoft JhengHei"/>
                <a:ea typeface="Microsoft JhengHei"/>
                <a:cs typeface="Microsoft JhengHei"/>
              </a:rPr>
              <a:t>40%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19088" y="2340864"/>
            <a:ext cx="16459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  <a:spcAft>
                <a:spcPts val="500"/>
              </a:spcAft>
            </a:pPr>
            <a:r>
              <a:rPr sz="1300" b="0" i="0">
                <a:solidFill>
                  <a:srgbClr val="3D4D5A"/>
                </a:solidFill>
                <a:latin typeface="Microsoft JhengHei"/>
                <a:ea typeface="Microsoft JhengHei"/>
                <a:cs typeface="Microsoft JhengHei"/>
              </a:rPr>
              <a:t>15%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080" y="2843784"/>
            <a:ext cx="7498080" cy="502920"/>
          </a:xfrm>
          <a:prstGeom prst="rect">
            <a:avLst/>
          </a:prstGeom>
          <a:solidFill>
            <a:srgbClr val="F3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49808" y="2843784"/>
            <a:ext cx="182880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300" b="1" i="0">
                <a:solidFill>
                  <a:srgbClr val="1C3D5A"/>
                </a:solidFill>
                <a:latin typeface="Microsoft JhengHei"/>
                <a:ea typeface="Microsoft JhengHei"/>
                <a:cs typeface="Microsoft JhengHei"/>
              </a:rPr>
              <a:t>輕浪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761488" y="2843784"/>
            <a:ext cx="16459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  <a:spcAft>
                <a:spcPts val="500"/>
              </a:spcAft>
            </a:pPr>
            <a:r>
              <a:rPr sz="1300" b="0" i="0">
                <a:solidFill>
                  <a:srgbClr val="3D4D5A"/>
                </a:solidFill>
                <a:latin typeface="Microsoft JhengHei"/>
                <a:ea typeface="Microsoft JhengHei"/>
                <a:cs typeface="Microsoft JhengHei"/>
              </a:rPr>
              <a:t>25%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90288" y="2843784"/>
            <a:ext cx="16459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  <a:spcAft>
                <a:spcPts val="500"/>
              </a:spcAft>
            </a:pPr>
            <a:r>
              <a:rPr sz="1300" b="0" i="0">
                <a:solidFill>
                  <a:srgbClr val="3D4D5A"/>
                </a:solidFill>
                <a:latin typeface="Microsoft JhengHei"/>
                <a:ea typeface="Microsoft JhengHei"/>
                <a:cs typeface="Microsoft JhengHei"/>
              </a:rPr>
              <a:t>35%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19088" y="2843784"/>
            <a:ext cx="16459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  <a:spcAft>
                <a:spcPts val="500"/>
              </a:spcAft>
            </a:pPr>
            <a:r>
              <a:rPr sz="1300" b="0" i="0">
                <a:solidFill>
                  <a:srgbClr val="3D4D5A"/>
                </a:solidFill>
                <a:latin typeface="Microsoft JhengHei"/>
                <a:ea typeface="Microsoft JhengHei"/>
                <a:cs typeface="Microsoft JhengHei"/>
              </a:rPr>
              <a:t>30%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0080" y="3346704"/>
            <a:ext cx="749808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49808" y="3346704"/>
            <a:ext cx="182880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300" b="1" i="0">
                <a:solidFill>
                  <a:srgbClr val="1C3D5A"/>
                </a:solidFill>
                <a:latin typeface="Microsoft JhengHei"/>
                <a:ea typeface="Microsoft JhengHei"/>
                <a:cs typeface="Microsoft JhengHei"/>
              </a:rPr>
              <a:t>中浪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761488" y="3346704"/>
            <a:ext cx="16459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  <a:spcAft>
                <a:spcPts val="500"/>
              </a:spcAft>
            </a:pPr>
            <a:r>
              <a:rPr sz="1300" b="0" i="0">
                <a:solidFill>
                  <a:srgbClr val="3D4D5A"/>
                </a:solidFill>
                <a:latin typeface="Microsoft JhengHei"/>
                <a:ea typeface="Microsoft JhengHei"/>
                <a:cs typeface="Microsoft JhengHei"/>
              </a:rPr>
              <a:t>4%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90288" y="3346704"/>
            <a:ext cx="16459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  <a:spcAft>
                <a:spcPts val="500"/>
              </a:spcAft>
            </a:pPr>
            <a:r>
              <a:rPr sz="1300" b="0" i="0">
                <a:solidFill>
                  <a:srgbClr val="3D4D5A"/>
                </a:solidFill>
                <a:latin typeface="Microsoft JhengHei"/>
                <a:ea typeface="Microsoft JhengHei"/>
                <a:cs typeface="Microsoft JhengHei"/>
              </a:rPr>
              <a:t>20%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19088" y="3346704"/>
            <a:ext cx="16459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  <a:spcAft>
                <a:spcPts val="500"/>
              </a:spcAft>
            </a:pPr>
            <a:r>
              <a:rPr sz="1300" b="0" i="0">
                <a:solidFill>
                  <a:srgbClr val="3D4D5A"/>
                </a:solidFill>
                <a:latin typeface="Microsoft JhengHei"/>
                <a:ea typeface="Microsoft JhengHei"/>
                <a:cs typeface="Microsoft JhengHei"/>
              </a:rPr>
              <a:t>35%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40080" y="3849624"/>
            <a:ext cx="7498080" cy="502920"/>
          </a:xfrm>
          <a:prstGeom prst="rect">
            <a:avLst/>
          </a:prstGeom>
          <a:solidFill>
            <a:srgbClr val="F3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49808" y="3849624"/>
            <a:ext cx="182880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300" b="1" i="0">
                <a:solidFill>
                  <a:srgbClr val="1C3D5A"/>
                </a:solidFill>
                <a:latin typeface="Microsoft JhengHei"/>
                <a:ea typeface="Microsoft JhengHei"/>
                <a:cs typeface="Microsoft JhengHei"/>
              </a:rPr>
              <a:t>大浪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761488" y="3849624"/>
            <a:ext cx="16459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  <a:spcAft>
                <a:spcPts val="500"/>
              </a:spcAft>
            </a:pPr>
            <a:r>
              <a:rPr sz="1300" b="0" i="0">
                <a:solidFill>
                  <a:srgbClr val="7C8B97"/>
                </a:solidFill>
                <a:latin typeface="Microsoft JhengHei"/>
                <a:ea typeface="Microsoft JhengHei"/>
                <a:cs typeface="Microsoft JhengHei"/>
              </a:rPr>
              <a:t>1%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90288" y="3849624"/>
            <a:ext cx="16459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  <a:spcAft>
                <a:spcPts val="500"/>
              </a:spcAft>
            </a:pPr>
            <a:r>
              <a:rPr sz="1300" b="0" i="0">
                <a:solidFill>
                  <a:srgbClr val="3D4D5A"/>
                </a:solidFill>
                <a:latin typeface="Microsoft JhengHei"/>
                <a:ea typeface="Microsoft JhengHei"/>
                <a:cs typeface="Microsoft JhengHei"/>
              </a:rPr>
              <a:t>5%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19088" y="3849624"/>
            <a:ext cx="16459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  <a:spcAft>
                <a:spcPts val="500"/>
              </a:spcAft>
            </a:pPr>
            <a:r>
              <a:rPr sz="1300" b="1" i="0">
                <a:solidFill>
                  <a:srgbClr val="BC5B41"/>
                </a:solidFill>
                <a:latin typeface="Microsoft JhengHei"/>
                <a:ea typeface="Microsoft JhengHei"/>
                <a:cs typeface="Microsoft JhengHei"/>
              </a:rPr>
              <a:t>20%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40080" y="1920240"/>
            <a:ext cx="7498080" cy="2432304"/>
          </a:xfrm>
          <a:prstGeom prst="rect">
            <a:avLst/>
          </a:prstGeom>
          <a:noFill/>
          <a:ln w="9525">
            <a:solidFill>
              <a:srgbClr val="D7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321040" y="1920240"/>
            <a:ext cx="3230575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350" b="1" i="0">
                <a:solidFill>
                  <a:srgbClr val="1C3D5A"/>
                </a:solidFill>
                <a:latin typeface="Microsoft JhengHei"/>
                <a:ea typeface="Microsoft JhengHei"/>
                <a:cs typeface="Microsoft JhengHei"/>
              </a:rPr>
              <a:t>設計邏輯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8321040" y="2249424"/>
            <a:ext cx="3230575" cy="0"/>
          </a:xfrm>
          <a:prstGeom prst="bentConnector3">
            <a:avLst/>
          </a:prstGeom>
          <a:ln w="12700">
            <a:solidFill>
              <a:srgbClr val="D7E0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TextBox 38"/>
          <p:cNvSpPr txBox="1"/>
          <p:nvPr/>
        </p:nvSpPr>
        <p:spPr>
          <a:xfrm>
            <a:off x="8321040" y="2377440"/>
            <a:ext cx="3230575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250" b="1" i="0">
                <a:solidFill>
                  <a:srgbClr val="C8922E"/>
                </a:solidFill>
                <a:latin typeface="Microsoft JhengHei"/>
                <a:ea typeface="Microsoft JhengHei"/>
                <a:cs typeface="Microsoft JhengHei"/>
              </a:rPr>
              <a:t>▪  </a:t>
            </a:r>
            <a:r>
              <a:rPr sz="1250" b="0" i="0">
                <a:solidFill>
                  <a:srgbClr val="3D4D5A"/>
                </a:solidFill>
                <a:latin typeface="Microsoft JhengHei"/>
                <a:ea typeface="Microsoft JhengHei"/>
                <a:cs typeface="Microsoft JhengHei"/>
              </a:rPr>
              <a:t>海域出勤：港口 35% / 近海 40% / 外海 25%</a:t>
            </a:r>
          </a:p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250" b="1" i="0">
                <a:solidFill>
                  <a:srgbClr val="C8922E"/>
                </a:solidFill>
                <a:latin typeface="Microsoft JhengHei"/>
                <a:ea typeface="Microsoft JhengHei"/>
                <a:cs typeface="Microsoft JhengHei"/>
              </a:rPr>
              <a:t>▪  </a:t>
            </a:r>
            <a:r>
              <a:rPr sz="1250" b="0" i="0">
                <a:solidFill>
                  <a:srgbClr val="3D4D5A"/>
                </a:solidFill>
                <a:latin typeface="Microsoft JhengHei"/>
                <a:ea typeface="Microsoft JhengHei"/>
                <a:cs typeface="Microsoft JhengHei"/>
              </a:rPr>
              <a:t>外海大浪機率 20%，是港口的 20 倍</a:t>
            </a:r>
          </a:p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250" b="1" i="0">
                <a:solidFill>
                  <a:srgbClr val="C8922E"/>
                </a:solidFill>
                <a:latin typeface="Microsoft JhengHei"/>
                <a:ea typeface="Microsoft JhengHei"/>
                <a:cs typeface="Microsoft JhengHei"/>
              </a:rPr>
              <a:t>▪  </a:t>
            </a:r>
            <a:r>
              <a:rPr sz="1250" b="0" i="0">
                <a:solidFill>
                  <a:srgbClr val="3D4D5A"/>
                </a:solidFill>
                <a:latin typeface="Microsoft JhengHei"/>
                <a:ea typeface="Microsoft JhengHei"/>
                <a:cs typeface="Microsoft JhengHei"/>
              </a:rPr>
              <a:t>大浪天提前下勤 100 分鐘</a:t>
            </a:r>
          </a:p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100" b="1" i="0">
                <a:solidFill>
                  <a:srgbClr val="C5D2DA"/>
                </a:solidFill>
                <a:latin typeface="Microsoft JhengHei"/>
                <a:ea typeface="Microsoft JhengHei"/>
                <a:cs typeface="Microsoft JhengHei"/>
              </a:rPr>
              <a:t>–  </a:t>
            </a:r>
            <a:r>
              <a:rPr sz="1100" b="0" i="0">
                <a:solidFill>
                  <a:srgbClr val="7C8B97"/>
                </a:solidFill>
                <a:latin typeface="Microsoft JhengHei"/>
                <a:ea typeface="Microsoft JhengHei"/>
                <a:cs typeface="Microsoft JhengHei"/>
              </a:rPr>
              <a:t>直接連動工時縮減效應</a:t>
            </a:r>
          </a:p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250" b="1" i="0">
                <a:solidFill>
                  <a:srgbClr val="C8922E"/>
                </a:solidFill>
                <a:latin typeface="Microsoft JhengHei"/>
                <a:ea typeface="Microsoft JhengHei"/>
                <a:cs typeface="Microsoft JhengHei"/>
              </a:rPr>
              <a:t>▪  </a:t>
            </a:r>
            <a:r>
              <a:rPr sz="1250" b="0" i="0">
                <a:solidFill>
                  <a:srgbClr val="3D4D5A"/>
                </a:solidFill>
                <a:latin typeface="Microsoft JhengHei"/>
                <a:ea typeface="Microsoft JhengHei"/>
                <a:cs typeface="Microsoft JhengHei"/>
              </a:rPr>
              <a:t>上工時刻 07:00–09:00 隨機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40080" y="5650992"/>
            <a:ext cx="10911535" cy="566928"/>
          </a:xfrm>
          <a:prstGeom prst="roundRect">
            <a:avLst>
              <a:gd name="adj" fmla="val 10000"/>
            </a:avLst>
          </a:prstGeom>
          <a:solidFill>
            <a:srgbClr val="FBF4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640080" y="5650992"/>
            <a:ext cx="82296" cy="566928"/>
          </a:xfrm>
          <a:prstGeom prst="rect">
            <a:avLst/>
          </a:prstGeom>
          <a:solidFill>
            <a:srgbClr val="C892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96112" y="5650992"/>
            <a:ext cx="137160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200" b="1" i="0">
                <a:solidFill>
                  <a:srgbClr val="C8922E"/>
                </a:solidFill>
                <a:latin typeface="Microsoft JhengHei"/>
                <a:ea typeface="Microsoft JhengHei"/>
                <a:cs typeface="Microsoft JhengHei"/>
              </a:rPr>
              <a:t>閉環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331720" y="5650992"/>
            <a:ext cx="8991295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300" b="0" i="0">
                <a:solidFill>
                  <a:srgbClr val="1C3D5A"/>
                </a:solidFill>
                <a:latin typeface="Microsoft JhengHei"/>
                <a:ea typeface="Microsoft JhengHei"/>
                <a:cs typeface="Microsoft JhengHei"/>
              </a:rPr>
              <a:t>機率設計使「海域→海況→工時」三者環環相扣，後續 ANOVA、卡方、OLS 才能驗出顯著結構。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20624"/>
            <a:ext cx="109115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200" b="1" i="0">
                <a:solidFill>
                  <a:srgbClr val="C8922E"/>
                </a:solidFill>
                <a:latin typeface="Microsoft JhengHei"/>
                <a:ea typeface="Microsoft JhengHei"/>
                <a:cs typeface="Microsoft JhengHei"/>
              </a:rPr>
              <a:t>資料工程 · 清洗品質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76656"/>
            <a:ext cx="10911535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2500" b="1" i="0">
                <a:solidFill>
                  <a:srgbClr val="1C3D5A"/>
                </a:solidFill>
                <a:latin typeface="Microsoft JhengHei"/>
                <a:ea typeface="Microsoft JhengHei"/>
                <a:cs typeface="Microsoft JhengHei"/>
              </a:rPr>
              <a:t>三步驟清洗，剔除率 &lt; 1%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40080" y="1417320"/>
            <a:ext cx="566928" cy="0"/>
          </a:xfrm>
          <a:prstGeom prst="bentConnector3">
            <a:avLst/>
          </a:prstGeom>
          <a:ln w="30480">
            <a:solidFill>
              <a:srgbClr val="C892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640080" y="6455664"/>
            <a:ext cx="10911535" cy="0"/>
          </a:xfrm>
          <a:prstGeom prst="bentConnector3">
            <a:avLst/>
          </a:prstGeom>
          <a:ln w="9525">
            <a:solidFill>
              <a:srgbClr val="D7E0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40080" y="651052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950" b="0" i="0">
                <a:solidFill>
                  <a:srgbClr val="7C8B97"/>
                </a:solidFill>
                <a:latin typeface="Microsoft JhengHei"/>
                <a:ea typeface="Microsoft JhengHei"/>
                <a:cs typeface="Microsoft JhengHei"/>
              </a:rPr>
              <a:t>海勤人力資源與作業安全決策系統  ·  114-2 巨量資料與雲端運算  第 2 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54335" y="6510528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500"/>
              </a:spcAft>
            </a:pPr>
            <a:r>
              <a:rPr sz="950" b="0" i="0">
                <a:solidFill>
                  <a:srgbClr val="7C8B97"/>
                </a:solidFill>
                <a:latin typeface="Consolas"/>
                <a:ea typeface="Microsoft JhengHei"/>
                <a:cs typeface="Consolas"/>
              </a:rPr>
              <a:t>23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965960"/>
            <a:ext cx="10911535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7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1965960"/>
            <a:ext cx="914400" cy="1097280"/>
          </a:xfrm>
          <a:prstGeom prst="rect">
            <a:avLst/>
          </a:prstGeom>
          <a:solidFill>
            <a:srgbClr val="1C3D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965960"/>
            <a:ext cx="914400" cy="10972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  <a:spcAft>
                <a:spcPts val="500"/>
              </a:spcAft>
            </a:pPr>
            <a:r>
              <a:rPr sz="3200" b="1" i="0">
                <a:solidFill>
                  <a:srgbClr val="FFFFFF"/>
                </a:solidFill>
                <a:latin typeface="Consolas"/>
                <a:ea typeface="Microsoft JhengHei"/>
                <a:cs typeface="Consolas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83080" y="2093976"/>
            <a:ext cx="9539935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450" b="1" i="0">
                <a:solidFill>
                  <a:srgbClr val="1C3D5A"/>
                </a:solidFill>
                <a:latin typeface="Microsoft JhengHei"/>
                <a:ea typeface="Microsoft JhengHei"/>
                <a:cs typeface="Microsoft JhengHei"/>
              </a:rPr>
              <a:t>缺失值移除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783080" y="2441448"/>
            <a:ext cx="7772400" cy="329184"/>
          </a:xfrm>
          <a:prstGeom prst="roundRect">
            <a:avLst>
              <a:gd name="adj" fmla="val 15000"/>
            </a:avLst>
          </a:prstGeom>
          <a:solidFill>
            <a:srgbClr val="E9F0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920240" y="2441448"/>
            <a:ext cx="758952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100" b="0" i="0">
                <a:solidFill>
                  <a:srgbClr val="34506A"/>
                </a:solidFill>
                <a:latin typeface="Consolas"/>
                <a:ea typeface="Microsoft JhengHei"/>
                <a:cs typeface="Consolas"/>
              </a:rPr>
              <a:t>dropna(check_in, check_out, duty_zone, sea_state, vessel_id)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784080" y="2423160"/>
            <a:ext cx="1676095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100" b="0" i="0">
                <a:solidFill>
                  <a:srgbClr val="7C8B97"/>
                </a:solidFill>
                <a:latin typeface="Microsoft JhengHei"/>
                <a:ea typeface="Microsoft JhengHei"/>
                <a:cs typeface="Microsoft JhengHei"/>
              </a:rPr>
              <a:t>確保分析關鍵欄位完整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246120"/>
            <a:ext cx="10911535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7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40080" y="3246120"/>
            <a:ext cx="914400" cy="1097280"/>
          </a:xfrm>
          <a:prstGeom prst="rect">
            <a:avLst/>
          </a:prstGeom>
          <a:solidFill>
            <a:srgbClr val="1C3D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3246120"/>
            <a:ext cx="914400" cy="10972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  <a:spcAft>
                <a:spcPts val="500"/>
              </a:spcAft>
            </a:pPr>
            <a:r>
              <a:rPr sz="3200" b="1" i="0">
                <a:solidFill>
                  <a:srgbClr val="FFFFFF"/>
                </a:solidFill>
                <a:latin typeface="Consolas"/>
                <a:ea typeface="Microsoft JhengHei"/>
                <a:cs typeface="Consolas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783080" y="3374136"/>
            <a:ext cx="9539935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450" b="1" i="0">
                <a:solidFill>
                  <a:srgbClr val="1C3D5A"/>
                </a:solidFill>
                <a:latin typeface="Microsoft JhengHei"/>
                <a:ea typeface="Microsoft JhengHei"/>
                <a:cs typeface="Microsoft JhengHei"/>
              </a:rPr>
              <a:t>工時計算與過濾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783080" y="3721608"/>
            <a:ext cx="7772400" cy="329184"/>
          </a:xfrm>
          <a:prstGeom prst="roundRect">
            <a:avLst>
              <a:gd name="adj" fmla="val 15000"/>
            </a:avLst>
          </a:prstGeom>
          <a:solidFill>
            <a:srgbClr val="E9F0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920240" y="3721608"/>
            <a:ext cx="758952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100" b="0" i="0">
                <a:solidFill>
                  <a:srgbClr val="34506A"/>
                </a:solidFill>
                <a:latin typeface="Consolas"/>
                <a:ea typeface="Microsoft JhengHei"/>
                <a:cs typeface="Consolas"/>
              </a:rPr>
              <a:t>hours = (check_out − check_in)/3600；保留 4 ≤ hours ≤ 14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784080" y="3703320"/>
            <a:ext cx="1676095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100" b="0" i="0">
                <a:solidFill>
                  <a:srgbClr val="7C8B97"/>
                </a:solidFill>
                <a:latin typeface="Microsoft JhengHei"/>
                <a:ea typeface="Microsoft JhengHei"/>
                <a:cs typeface="Microsoft JhengHei"/>
              </a:rPr>
              <a:t>剔除未完整打卡與異常長工時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" y="4526280"/>
            <a:ext cx="10911535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7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40080" y="4526280"/>
            <a:ext cx="914400" cy="1097280"/>
          </a:xfrm>
          <a:prstGeom prst="rect">
            <a:avLst/>
          </a:prstGeom>
          <a:solidFill>
            <a:srgbClr val="1C3D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" y="4526280"/>
            <a:ext cx="914400" cy="10972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  <a:spcAft>
                <a:spcPts val="500"/>
              </a:spcAft>
            </a:pPr>
            <a:r>
              <a:rPr sz="3200" b="1" i="0">
                <a:solidFill>
                  <a:srgbClr val="FFFFFF"/>
                </a:solidFill>
                <a:latin typeface="Consolas"/>
                <a:ea typeface="Microsoft JhengHei"/>
                <a:cs typeface="Consolas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783080" y="4654296"/>
            <a:ext cx="9539935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450" b="1" i="0">
                <a:solidFill>
                  <a:srgbClr val="1C3D5A"/>
                </a:solidFill>
                <a:latin typeface="Microsoft JhengHei"/>
                <a:ea typeface="Microsoft JhengHei"/>
                <a:cs typeface="Microsoft JhengHei"/>
              </a:rPr>
              <a:t>衍生欄位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783080" y="5001768"/>
            <a:ext cx="7772400" cy="329184"/>
          </a:xfrm>
          <a:prstGeom prst="roundRect">
            <a:avLst>
              <a:gd name="adj" fmla="val 15000"/>
            </a:avLst>
          </a:prstGeom>
          <a:solidFill>
            <a:srgbClr val="E9F0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920240" y="5001768"/>
            <a:ext cx="758952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100" b="0" i="0">
                <a:solidFill>
                  <a:srgbClr val="34506A"/>
                </a:solidFill>
                <a:latin typeface="Consolas"/>
                <a:ea typeface="Microsoft JhengHei"/>
                <a:cs typeface="Consolas"/>
              </a:rPr>
              <a:t>month_str = work_date.strftime('%Y-%m')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784080" y="4983480"/>
            <a:ext cx="1676095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100" b="0" i="0">
                <a:solidFill>
                  <a:srgbClr val="7C8B97"/>
                </a:solidFill>
                <a:latin typeface="Microsoft JhengHei"/>
                <a:ea typeface="Microsoft JhengHei"/>
                <a:cs typeface="Microsoft JhengHei"/>
              </a:rPr>
              <a:t>供月度分組與時序分析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C3D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822960"/>
            <a:ext cx="4572000" cy="2926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20000" b="1" i="0">
                <a:solidFill>
                  <a:srgbClr val="E9F0F4"/>
                </a:solidFill>
                <a:latin typeface="Consolas"/>
                <a:ea typeface="Microsoft JhengHei"/>
                <a:cs typeface="Consolas"/>
              </a:rPr>
              <a:t>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2788920"/>
            <a:ext cx="64008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300" b="1" i="0">
                <a:solidFill>
                  <a:srgbClr val="C8922E"/>
                </a:solidFill>
                <a:latin typeface="Consolas"/>
                <a:ea typeface="Microsoft JhengHei"/>
                <a:cs typeface="Consolas"/>
              </a:rPr>
              <a:t>SECTION 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3108960"/>
            <a:ext cx="77724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3600" b="1" i="0">
                <a:solidFill>
                  <a:srgbClr val="1C3D5A"/>
                </a:solidFill>
                <a:latin typeface="Microsoft JhengHei"/>
                <a:ea typeface="Microsoft JhengHei"/>
                <a:cs typeface="Microsoft JhengHei"/>
              </a:rPr>
              <a:t>統計分析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4069080"/>
            <a:ext cx="7772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500" b="0" i="0">
                <a:solidFill>
                  <a:srgbClr val="7C8B97"/>
                </a:solidFill>
                <a:latin typeface="Consolas"/>
                <a:ea typeface="Microsoft JhengHei"/>
                <a:cs typeface="Consolas"/>
              </a:rPr>
              <a:t>Statistical Analysis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886968" y="3931920"/>
            <a:ext cx="2743200" cy="0"/>
          </a:xfrm>
          <a:prstGeom prst="bentConnector3">
            <a:avLst/>
          </a:prstGeom>
          <a:ln w="30480">
            <a:solidFill>
              <a:srgbClr val="C892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7955279" y="1371600"/>
            <a:ext cx="36576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200" b="1" i="0">
                <a:solidFill>
                  <a:srgbClr val="C8922E"/>
                </a:solidFill>
                <a:latin typeface="Microsoft JhengHei"/>
                <a:ea typeface="Microsoft JhengHei"/>
                <a:cs typeface="Microsoft JhengHei"/>
              </a:rPr>
              <a:t>本章內容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955279" y="1700784"/>
            <a:ext cx="3657600" cy="0"/>
          </a:xfrm>
          <a:prstGeom prst="bentConnector3">
            <a:avLst/>
          </a:prstGeom>
          <a:ln w="12700">
            <a:solidFill>
              <a:srgbClr val="D7E0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7955279" y="1865376"/>
            <a:ext cx="3657600" cy="4114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1100"/>
              </a:spcAft>
            </a:pPr>
            <a:r>
              <a:rPr sz="1300" b="1" i="0">
                <a:solidFill>
                  <a:srgbClr val="C8922E"/>
                </a:solidFill>
                <a:latin typeface="Microsoft JhengHei"/>
                <a:ea typeface="Microsoft JhengHei"/>
                <a:cs typeface="Microsoft JhengHei"/>
              </a:rPr>
              <a:t>▪  </a:t>
            </a:r>
            <a:r>
              <a:rPr sz="1300" b="0" i="0">
                <a:solidFill>
                  <a:srgbClr val="3D4D5A"/>
                </a:solidFill>
                <a:latin typeface="Microsoft JhengHei"/>
                <a:ea typeface="Microsoft JhengHei"/>
                <a:cs typeface="Microsoft JhengHei"/>
              </a:rPr>
              <a:t>檢定結果總覽</a:t>
            </a:r>
          </a:p>
          <a:p>
            <a:pPr algn="l">
              <a:lnSpc>
                <a:spcPct val="120000"/>
              </a:lnSpc>
              <a:spcAft>
                <a:spcPts val="1100"/>
              </a:spcAft>
            </a:pPr>
            <a:r>
              <a:rPr sz="1300" b="1" i="0">
                <a:solidFill>
                  <a:srgbClr val="C8922E"/>
                </a:solidFill>
                <a:latin typeface="Microsoft JhengHei"/>
                <a:ea typeface="Microsoft JhengHei"/>
                <a:cs typeface="Microsoft JhengHei"/>
              </a:rPr>
              <a:t>▪  </a:t>
            </a:r>
            <a:r>
              <a:rPr sz="1300" b="0" i="0">
                <a:solidFill>
                  <a:srgbClr val="3D4D5A"/>
                </a:solidFill>
                <a:latin typeface="Microsoft JhengHei"/>
                <a:ea typeface="Microsoft JhengHei"/>
                <a:cs typeface="Microsoft JhengHei"/>
              </a:rPr>
              <a:t>ANOVA · 海況→工時</a:t>
            </a:r>
          </a:p>
          <a:p>
            <a:pPr algn="l">
              <a:lnSpc>
                <a:spcPct val="120000"/>
              </a:lnSpc>
              <a:spcAft>
                <a:spcPts val="1100"/>
              </a:spcAft>
            </a:pPr>
            <a:r>
              <a:rPr sz="1300" b="1" i="0">
                <a:solidFill>
                  <a:srgbClr val="C8922E"/>
                </a:solidFill>
                <a:latin typeface="Microsoft JhengHei"/>
                <a:ea typeface="Microsoft JhengHei"/>
                <a:cs typeface="Microsoft JhengHei"/>
              </a:rPr>
              <a:t>▪  </a:t>
            </a:r>
            <a:r>
              <a:rPr sz="1300" b="0" i="0">
                <a:solidFill>
                  <a:srgbClr val="3D4D5A"/>
                </a:solidFill>
                <a:latin typeface="Microsoft JhengHei"/>
                <a:ea typeface="Microsoft JhengHei"/>
                <a:cs typeface="Microsoft JhengHei"/>
              </a:rPr>
              <a:t>卡方 · 海域×海況</a:t>
            </a:r>
          </a:p>
          <a:p>
            <a:pPr algn="l">
              <a:lnSpc>
                <a:spcPct val="120000"/>
              </a:lnSpc>
              <a:spcAft>
                <a:spcPts val="1100"/>
              </a:spcAft>
            </a:pPr>
            <a:r>
              <a:rPr sz="1300" b="1" i="0">
                <a:solidFill>
                  <a:srgbClr val="C8922E"/>
                </a:solidFill>
                <a:latin typeface="Microsoft JhengHei"/>
                <a:ea typeface="Microsoft JhengHei"/>
                <a:cs typeface="Microsoft JhengHei"/>
              </a:rPr>
              <a:t>▪  </a:t>
            </a:r>
            <a:r>
              <a:rPr sz="1300" b="0" i="0">
                <a:solidFill>
                  <a:srgbClr val="3D4D5A"/>
                </a:solidFill>
                <a:latin typeface="Microsoft JhengHei"/>
                <a:ea typeface="Microsoft JhengHei"/>
                <a:cs typeface="Microsoft JhengHei"/>
              </a:rPr>
              <a:t>OLS 多元迴歸</a:t>
            </a:r>
          </a:p>
          <a:p>
            <a:pPr algn="l">
              <a:lnSpc>
                <a:spcPct val="120000"/>
              </a:lnSpc>
              <a:spcAft>
                <a:spcPts val="1100"/>
              </a:spcAft>
            </a:pPr>
            <a:r>
              <a:rPr sz="1300" b="1" i="0">
                <a:solidFill>
                  <a:srgbClr val="C8922E"/>
                </a:solidFill>
                <a:latin typeface="Microsoft JhengHei"/>
                <a:ea typeface="Microsoft JhengHei"/>
                <a:cs typeface="Microsoft JhengHei"/>
              </a:rPr>
              <a:t>▪  </a:t>
            </a:r>
            <a:r>
              <a:rPr sz="1300" b="0" i="0">
                <a:solidFill>
                  <a:srgbClr val="3D4D5A"/>
                </a:solidFill>
                <a:latin typeface="Microsoft JhengHei"/>
                <a:ea typeface="Microsoft JhengHei"/>
                <a:cs typeface="Microsoft JhengHei"/>
              </a:rPr>
              <a:t>Spearman 相關矩陣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640080" y="6455664"/>
            <a:ext cx="10911535" cy="0"/>
          </a:xfrm>
          <a:prstGeom prst="bentConnector3">
            <a:avLst/>
          </a:prstGeom>
          <a:ln w="9525">
            <a:solidFill>
              <a:srgbClr val="D7E0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640080" y="651052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950" b="0" i="0">
                <a:solidFill>
                  <a:srgbClr val="7C8B97"/>
                </a:solidFill>
                <a:latin typeface="Microsoft JhengHei"/>
                <a:ea typeface="Microsoft JhengHei"/>
                <a:cs typeface="Microsoft JhengHei"/>
              </a:rPr>
              <a:t>海勤人力資源與作業安全決策系統  ·  114-2 巨量資料與雲端運算  第 2 組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20624"/>
            <a:ext cx="109115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200" b="1" i="0">
                <a:solidFill>
                  <a:srgbClr val="C8922E"/>
                </a:solidFill>
                <a:latin typeface="Microsoft JhengHei"/>
                <a:ea typeface="Microsoft JhengHei"/>
                <a:cs typeface="Microsoft JhengHei"/>
              </a:rPr>
              <a:t>統計分析 · 總覽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76656"/>
            <a:ext cx="10911535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2500" b="1" i="0">
                <a:solidFill>
                  <a:srgbClr val="1C3D5A"/>
                </a:solidFill>
                <a:latin typeface="Microsoft JhengHei"/>
                <a:ea typeface="Microsoft JhengHei"/>
                <a:cs typeface="Microsoft JhengHei"/>
              </a:rPr>
              <a:t>四項檢定，全部顯著（數值為實機輸出）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40080" y="1417320"/>
            <a:ext cx="566928" cy="0"/>
          </a:xfrm>
          <a:prstGeom prst="bentConnector3">
            <a:avLst/>
          </a:prstGeom>
          <a:ln w="30480">
            <a:solidFill>
              <a:srgbClr val="C892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640080" y="6455664"/>
            <a:ext cx="10911535" cy="0"/>
          </a:xfrm>
          <a:prstGeom prst="bentConnector3">
            <a:avLst/>
          </a:prstGeom>
          <a:ln w="9525">
            <a:solidFill>
              <a:srgbClr val="D7E0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40080" y="651052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950" b="0" i="0">
                <a:solidFill>
                  <a:srgbClr val="7C8B97"/>
                </a:solidFill>
                <a:latin typeface="Microsoft JhengHei"/>
                <a:ea typeface="Microsoft JhengHei"/>
                <a:cs typeface="Microsoft JhengHei"/>
              </a:rPr>
              <a:t>海勤人力資源與作業安全決策系統  ·  114-2 巨量資料與雲端運算  第 2 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54335" y="6510528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500"/>
              </a:spcAft>
            </a:pPr>
            <a:r>
              <a:rPr sz="950" b="0" i="0">
                <a:solidFill>
                  <a:srgbClr val="7C8B97"/>
                </a:solidFill>
                <a:latin typeface="Consolas"/>
                <a:ea typeface="Microsoft JhengHei"/>
                <a:cs typeface="Consolas"/>
              </a:rPr>
              <a:t>24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920240"/>
            <a:ext cx="2522143" cy="2286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7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1920240"/>
            <a:ext cx="2522143" cy="64008"/>
          </a:xfrm>
          <a:prstGeom prst="rect">
            <a:avLst/>
          </a:prstGeom>
          <a:solidFill>
            <a:srgbClr val="C892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2286000"/>
            <a:ext cx="2522143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  <a:spcAft>
                <a:spcPts val="500"/>
              </a:spcAft>
            </a:pPr>
            <a:r>
              <a:rPr sz="2200" b="1" i="0">
                <a:solidFill>
                  <a:srgbClr val="1C3D5A"/>
                </a:solidFill>
                <a:latin typeface="Consolas"/>
                <a:ea typeface="Microsoft JhengHei"/>
                <a:cs typeface="Consolas"/>
              </a:rPr>
              <a:t>F = 181.4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971800"/>
            <a:ext cx="2247823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  <a:spcAft>
                <a:spcPts val="500"/>
              </a:spcAft>
            </a:pPr>
            <a:r>
              <a:rPr sz="1350" b="1" i="0">
                <a:solidFill>
                  <a:srgbClr val="C8922E"/>
                </a:solidFill>
                <a:latin typeface="Microsoft JhengHei"/>
                <a:ea typeface="Microsoft JhengHei"/>
                <a:cs typeface="Microsoft JhengHei"/>
              </a:rPr>
              <a:t>單因子 ANOVA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383280"/>
            <a:ext cx="2156383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500"/>
              </a:spcAft>
            </a:pPr>
            <a:r>
              <a:rPr sz="1100" b="0" i="0">
                <a:solidFill>
                  <a:srgbClr val="3D4D5A"/>
                </a:solidFill>
                <a:latin typeface="Microsoft JhengHei"/>
                <a:ea typeface="Microsoft JhengHei"/>
                <a:cs typeface="Microsoft JhengHei"/>
              </a:rPr>
              <a:t>p &lt; 0.0001 · 海況顯著影響工時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436543" y="1920240"/>
            <a:ext cx="2522143" cy="2286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7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436543" y="1920240"/>
            <a:ext cx="2522143" cy="64008"/>
          </a:xfrm>
          <a:prstGeom prst="rect">
            <a:avLst/>
          </a:prstGeom>
          <a:solidFill>
            <a:srgbClr val="1C3D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436543" y="2286000"/>
            <a:ext cx="2522143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  <a:spcAft>
                <a:spcPts val="500"/>
              </a:spcAft>
            </a:pPr>
            <a:r>
              <a:rPr sz="2200" b="1" i="0">
                <a:solidFill>
                  <a:srgbClr val="1C3D5A"/>
                </a:solidFill>
                <a:latin typeface="Consolas"/>
                <a:ea typeface="Microsoft JhengHei"/>
                <a:cs typeface="Consolas"/>
              </a:rPr>
              <a:t>χ² = 349.6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73703" y="2971800"/>
            <a:ext cx="2247823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  <a:spcAft>
                <a:spcPts val="500"/>
              </a:spcAft>
            </a:pPr>
            <a:r>
              <a:rPr sz="1350" b="1" i="0">
                <a:solidFill>
                  <a:srgbClr val="1C3D5A"/>
                </a:solidFill>
                <a:latin typeface="Microsoft JhengHei"/>
                <a:ea typeface="Microsoft JhengHei"/>
                <a:cs typeface="Microsoft JhengHei"/>
              </a:rPr>
              <a:t>卡方獨立性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19423" y="3383280"/>
            <a:ext cx="2156383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500"/>
              </a:spcAft>
            </a:pPr>
            <a:r>
              <a:rPr sz="1100" b="0" i="0">
                <a:solidFill>
                  <a:srgbClr val="3D4D5A"/>
                </a:solidFill>
                <a:latin typeface="Microsoft JhengHei"/>
                <a:ea typeface="Microsoft JhengHei"/>
                <a:cs typeface="Microsoft JhengHei"/>
              </a:rPr>
              <a:t>df=6 · 海域與海況顯著關聯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33007" y="1920240"/>
            <a:ext cx="2522143" cy="2286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7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33007" y="1920240"/>
            <a:ext cx="2522143" cy="64008"/>
          </a:xfrm>
          <a:prstGeom prst="rect">
            <a:avLst/>
          </a:prstGeom>
          <a:solidFill>
            <a:srgbClr val="4E8C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33007" y="2286000"/>
            <a:ext cx="2522143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  <a:spcAft>
                <a:spcPts val="500"/>
              </a:spcAft>
            </a:pPr>
            <a:r>
              <a:rPr sz="2200" b="1" i="0">
                <a:solidFill>
                  <a:srgbClr val="1C3D5A"/>
                </a:solidFill>
                <a:latin typeface="Consolas"/>
                <a:ea typeface="Microsoft JhengHei"/>
                <a:cs typeface="Consolas"/>
              </a:rPr>
              <a:t>R² = 0.784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70167" y="2971800"/>
            <a:ext cx="2247823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  <a:spcAft>
                <a:spcPts val="500"/>
              </a:spcAft>
            </a:pPr>
            <a:r>
              <a:rPr sz="1350" b="1" i="0">
                <a:solidFill>
                  <a:srgbClr val="4E8C8A"/>
                </a:solidFill>
                <a:latin typeface="Microsoft JhengHei"/>
                <a:ea typeface="Microsoft JhengHei"/>
                <a:cs typeface="Microsoft JhengHei"/>
              </a:rPr>
              <a:t>OLS 多元迴歸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15887" y="3383280"/>
            <a:ext cx="2156383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500"/>
              </a:spcAft>
            </a:pPr>
            <a:r>
              <a:rPr sz="1100" b="0" i="0">
                <a:solidFill>
                  <a:srgbClr val="3D4D5A"/>
                </a:solidFill>
                <a:latin typeface="Microsoft JhengHei"/>
                <a:ea typeface="Microsoft JhengHei"/>
                <a:cs typeface="Microsoft JhengHei"/>
              </a:rPr>
              <a:t>4 特徵解釋 78.4% 工時變異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029471" y="1920240"/>
            <a:ext cx="2522143" cy="2286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7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9029471" y="1920240"/>
            <a:ext cx="2522143" cy="64008"/>
          </a:xfrm>
          <a:prstGeom prst="rect">
            <a:avLst/>
          </a:prstGeom>
          <a:solidFill>
            <a:srgbClr val="BC5B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029471" y="2286000"/>
            <a:ext cx="2522143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  <a:spcAft>
                <a:spcPts val="500"/>
              </a:spcAft>
            </a:pPr>
            <a:r>
              <a:rPr sz="2200" b="1" i="0">
                <a:solidFill>
                  <a:srgbClr val="1C3D5A"/>
                </a:solidFill>
                <a:latin typeface="Consolas"/>
                <a:ea typeface="Microsoft JhengHei"/>
                <a:cs typeface="Consolas"/>
              </a:rPr>
              <a:t>Gini = 0.042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66631" y="2971800"/>
            <a:ext cx="2247823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  <a:spcAft>
                <a:spcPts val="500"/>
              </a:spcAft>
            </a:pPr>
            <a:r>
              <a:rPr sz="1350" b="1" i="0">
                <a:solidFill>
                  <a:srgbClr val="BC5B41"/>
                </a:solidFill>
                <a:latin typeface="Microsoft JhengHei"/>
                <a:ea typeface="Microsoft JhengHei"/>
                <a:cs typeface="Microsoft JhengHei"/>
              </a:rPr>
              <a:t>工時公平性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212351" y="3383280"/>
            <a:ext cx="2156383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500"/>
              </a:spcAft>
            </a:pPr>
            <a:r>
              <a:rPr sz="1100" b="0" i="0">
                <a:solidFill>
                  <a:srgbClr val="3D4D5A"/>
                </a:solidFill>
                <a:latin typeface="Microsoft JhengHei"/>
                <a:ea typeface="Microsoft JhengHei"/>
                <a:cs typeface="Microsoft JhengHei"/>
              </a:rPr>
              <a:t>近乎完全均等分配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40080" y="4526280"/>
            <a:ext cx="10911535" cy="1417320"/>
          </a:xfrm>
          <a:prstGeom prst="roundRect">
            <a:avLst>
              <a:gd name="adj" fmla="val 5000"/>
            </a:avLst>
          </a:prstGeom>
          <a:solidFill>
            <a:srgbClr val="F3F7F9"/>
          </a:solidFill>
          <a:ln w="9525">
            <a:solidFill>
              <a:srgbClr val="D7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68680" y="4645152"/>
            <a:ext cx="10454335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300" b="1" i="0">
                <a:solidFill>
                  <a:srgbClr val="C8922E"/>
                </a:solidFill>
                <a:latin typeface="Microsoft JhengHei"/>
                <a:ea typeface="Microsoft JhengHei"/>
                <a:cs typeface="Microsoft JhengHei"/>
              </a:rPr>
              <a:t>統計意涵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68680" y="4983480"/>
            <a:ext cx="10454335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250" b="0" i="0">
                <a:solidFill>
                  <a:srgbClr val="3D4D5A"/>
                </a:solidFill>
                <a:latin typeface="Microsoft JhengHei"/>
                <a:ea typeface="Microsoft JhengHei"/>
                <a:cs typeface="Microsoft JhengHei"/>
              </a:rPr>
              <a:t>大浪天工時較平靜天短約 1.5 小時（ANOVA）；外海大浪比例 20% vs 港口 1%（卡方）→ 排班引擎據此縮減外海員額；</a:t>
            </a:r>
          </a:p>
          <a:p>
            <a:pPr algn="l">
              <a:lnSpc>
                <a:spcPct val="120000"/>
              </a:lnSpc>
              <a:spcAft>
                <a:spcPts val="500"/>
              </a:spcAft>
            </a:pPr>
            <a:r>
              <a:rPr sz="1250" b="0" i="0">
                <a:solidFill>
                  <a:srgbClr val="3D4D5A"/>
                </a:solidFill>
                <a:latin typeface="Microsoft JhengHei"/>
                <a:ea typeface="Microsoft JhengHei"/>
                <a:cs typeface="Microsoft JhengHei"/>
              </a:rPr>
              <a:t>工時受海況 / 海域 / 星期 / 打卡時刻共同決定，解釋力 78.4%，遠高於任何單維度模型。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20624"/>
            <a:ext cx="109115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200" b="1" i="0">
                <a:solidFill>
                  <a:srgbClr val="C8922E"/>
                </a:solidFill>
                <a:latin typeface="Microsoft JhengHei"/>
                <a:ea typeface="Microsoft JhengHei"/>
                <a:cs typeface="Microsoft JhengHei"/>
              </a:rPr>
              <a:t>統計分析 · ANOVA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76656"/>
            <a:ext cx="10911535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2500" b="1" i="0">
                <a:solidFill>
                  <a:srgbClr val="1C3D5A"/>
                </a:solidFill>
                <a:latin typeface="Microsoft JhengHei"/>
                <a:ea typeface="Microsoft JhengHei"/>
                <a:cs typeface="Microsoft JhengHei"/>
              </a:rPr>
              <a:t>海況等級越高，值勤工時越短（F = 181.4, p &lt; 0.0001）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40080" y="1417320"/>
            <a:ext cx="566928" cy="0"/>
          </a:xfrm>
          <a:prstGeom prst="bentConnector3">
            <a:avLst/>
          </a:prstGeom>
          <a:ln w="30480">
            <a:solidFill>
              <a:srgbClr val="C892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640080" y="6455664"/>
            <a:ext cx="10911535" cy="0"/>
          </a:xfrm>
          <a:prstGeom prst="bentConnector3">
            <a:avLst/>
          </a:prstGeom>
          <a:ln w="9525">
            <a:solidFill>
              <a:srgbClr val="D7E0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40080" y="651052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950" b="0" i="0">
                <a:solidFill>
                  <a:srgbClr val="7C8B97"/>
                </a:solidFill>
                <a:latin typeface="Microsoft JhengHei"/>
                <a:ea typeface="Microsoft JhengHei"/>
                <a:cs typeface="Microsoft JhengHei"/>
              </a:rPr>
              <a:t>海勤人力資源與作業安全決策系統  ·  114-2 巨量資料與雲端運算  第 2 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54335" y="6510528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500"/>
              </a:spcAft>
            </a:pPr>
            <a:r>
              <a:rPr sz="950" b="0" i="0">
                <a:solidFill>
                  <a:srgbClr val="7C8B97"/>
                </a:solidFill>
                <a:latin typeface="Consolas"/>
                <a:ea typeface="Microsoft JhengHei"/>
                <a:cs typeface="Consolas"/>
              </a:rPr>
              <a:t>25</a:t>
            </a:r>
          </a:p>
        </p:txBody>
      </p:sp>
      <p:pic>
        <p:nvPicPr>
          <p:cNvPr id="8" name="Picture 7" descr="hours_boxplo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101" y="1874519"/>
            <a:ext cx="6493397" cy="4023360"/>
          </a:xfrm>
          <a:prstGeom prst="rect">
            <a:avLst/>
          </a:prstGeom>
          <a:ln w="9525">
            <a:solidFill>
              <a:srgbClr val="C5D2DA"/>
            </a:solidFill>
          </a:ln>
        </p:spPr>
      </p:pic>
      <p:sp>
        <p:nvSpPr>
          <p:cNvPr id="9" name="TextBox 8"/>
          <p:cNvSpPr txBox="1"/>
          <p:nvPr/>
        </p:nvSpPr>
        <p:spPr>
          <a:xfrm>
            <a:off x="7863840" y="1874519"/>
            <a:ext cx="3687775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350" b="1" i="0">
                <a:solidFill>
                  <a:srgbClr val="1C3D5A"/>
                </a:solidFill>
                <a:latin typeface="Microsoft JhengHei"/>
                <a:ea typeface="Microsoft JhengHei"/>
                <a:cs typeface="Microsoft JhengHei"/>
              </a:rPr>
              <a:t>檢定說明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863840" y="2203703"/>
            <a:ext cx="3687775" cy="0"/>
          </a:xfrm>
          <a:prstGeom prst="bentConnector3">
            <a:avLst/>
          </a:prstGeom>
          <a:ln w="12700">
            <a:solidFill>
              <a:srgbClr val="D7E0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7863840" y="2331719"/>
            <a:ext cx="3687775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250" b="1" i="0">
                <a:solidFill>
                  <a:srgbClr val="C8922E"/>
                </a:solidFill>
                <a:latin typeface="Microsoft JhengHei"/>
                <a:ea typeface="Microsoft JhengHei"/>
                <a:cs typeface="Microsoft JhengHei"/>
              </a:rPr>
              <a:t>▪  </a:t>
            </a:r>
            <a:r>
              <a:rPr sz="1250" b="0" i="0">
                <a:solidFill>
                  <a:srgbClr val="3D4D5A"/>
                </a:solidFill>
                <a:latin typeface="Microsoft JhengHei"/>
                <a:ea typeface="Microsoft JhengHei"/>
                <a:cs typeface="Microsoft JhengHei"/>
              </a:rPr>
              <a:t>H0：各海況平均工時相同</a:t>
            </a:r>
          </a:p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250" b="1" i="0">
                <a:solidFill>
                  <a:srgbClr val="C8922E"/>
                </a:solidFill>
                <a:latin typeface="Microsoft JhengHei"/>
                <a:ea typeface="Microsoft JhengHei"/>
                <a:cs typeface="Microsoft JhengHei"/>
              </a:rPr>
              <a:t>▪  </a:t>
            </a:r>
            <a:r>
              <a:rPr sz="1250" b="0" i="0">
                <a:solidFill>
                  <a:srgbClr val="3D4D5A"/>
                </a:solidFill>
                <a:latin typeface="Microsoft JhengHei"/>
                <a:ea typeface="Microsoft JhengHei"/>
                <a:cs typeface="Microsoft JhengHei"/>
              </a:rPr>
              <a:t>檢定量 F = 181.433</a:t>
            </a:r>
          </a:p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250" b="1" i="0">
                <a:solidFill>
                  <a:srgbClr val="C8922E"/>
                </a:solidFill>
                <a:latin typeface="Microsoft JhengHei"/>
                <a:ea typeface="Microsoft JhengHei"/>
                <a:cs typeface="Microsoft JhengHei"/>
              </a:rPr>
              <a:t>▪  </a:t>
            </a:r>
            <a:r>
              <a:rPr sz="1250" b="0" i="0">
                <a:solidFill>
                  <a:srgbClr val="3D4D5A"/>
                </a:solidFill>
                <a:latin typeface="Microsoft JhengHei"/>
                <a:ea typeface="Microsoft JhengHei"/>
                <a:cs typeface="Microsoft JhengHei"/>
              </a:rPr>
              <a:t>p 值 &lt; 0.0001 → 拒絕 H0</a:t>
            </a:r>
          </a:p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100" b="1" i="0">
                <a:solidFill>
                  <a:srgbClr val="C5D2DA"/>
                </a:solidFill>
                <a:latin typeface="Microsoft JhengHei"/>
                <a:ea typeface="Microsoft JhengHei"/>
                <a:cs typeface="Microsoft JhengHei"/>
              </a:rPr>
              <a:t>–  </a:t>
            </a:r>
            <a:r>
              <a:rPr sz="1100" b="0" i="0">
                <a:solidFill>
                  <a:srgbClr val="7C8B97"/>
                </a:solidFill>
                <a:latin typeface="Microsoft JhengHei"/>
                <a:ea typeface="Microsoft JhengHei"/>
                <a:cs typeface="Microsoft JhengHei"/>
              </a:rPr>
              <a:t>四組間至少一對顯著差異</a:t>
            </a:r>
          </a:p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250" b="1" i="0">
                <a:solidFill>
                  <a:srgbClr val="C8922E"/>
                </a:solidFill>
                <a:latin typeface="Microsoft JhengHei"/>
                <a:ea typeface="Microsoft JhengHei"/>
                <a:cs typeface="Microsoft JhengHei"/>
              </a:rPr>
              <a:t>▪  </a:t>
            </a:r>
            <a:r>
              <a:rPr sz="1250" b="0" i="0">
                <a:solidFill>
                  <a:srgbClr val="3D4D5A"/>
                </a:solidFill>
                <a:latin typeface="Microsoft JhengHei"/>
                <a:ea typeface="Microsoft JhengHei"/>
                <a:cs typeface="Microsoft JhengHei"/>
              </a:rPr>
              <a:t>大浪中位數較平靜低約 1.5h</a:t>
            </a:r>
          </a:p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250" b="1" i="0">
                <a:solidFill>
                  <a:srgbClr val="C8922E"/>
                </a:solidFill>
                <a:latin typeface="Microsoft JhengHei"/>
                <a:ea typeface="Microsoft JhengHei"/>
                <a:cs typeface="Microsoft JhengHei"/>
              </a:rPr>
              <a:t>▪  </a:t>
            </a:r>
            <a:r>
              <a:rPr sz="1250" b="0" i="0">
                <a:solidFill>
                  <a:srgbClr val="3D4D5A"/>
                </a:solidFill>
                <a:latin typeface="Microsoft JhengHei"/>
                <a:ea typeface="Microsoft JhengHei"/>
                <a:cs typeface="Microsoft JhengHei"/>
              </a:rPr>
              <a:t>對應機制：大浪提前下勤 100 分</a:t>
            </a:r>
          </a:p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250" b="1" i="0">
                <a:solidFill>
                  <a:srgbClr val="C8922E"/>
                </a:solidFill>
                <a:latin typeface="Microsoft JhengHei"/>
                <a:ea typeface="Microsoft JhengHei"/>
                <a:cs typeface="Microsoft JhengHei"/>
              </a:rPr>
              <a:t>▪  </a:t>
            </a:r>
            <a:r>
              <a:rPr sz="1250" b="0" i="0">
                <a:solidFill>
                  <a:srgbClr val="3D4D5A"/>
                </a:solidFill>
                <a:latin typeface="Microsoft JhengHei"/>
                <a:ea typeface="Microsoft JhengHei"/>
                <a:cs typeface="Microsoft JhengHei"/>
              </a:rPr>
              <a:t>→ 數據驗證了模擬設計的因果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20624"/>
            <a:ext cx="109115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200" b="1" i="0">
                <a:solidFill>
                  <a:srgbClr val="C8922E"/>
                </a:solidFill>
                <a:latin typeface="Microsoft JhengHei"/>
                <a:ea typeface="Microsoft JhengHei"/>
                <a:cs typeface="Microsoft JhengHei"/>
              </a:rPr>
              <a:t>統計分析 · 卡方檢定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76656"/>
            <a:ext cx="10911535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2500" b="1" i="0">
                <a:solidFill>
                  <a:srgbClr val="1C3D5A"/>
                </a:solidFill>
                <a:latin typeface="Microsoft JhengHei"/>
                <a:ea typeface="Microsoft JhengHei"/>
                <a:cs typeface="Microsoft JhengHei"/>
              </a:rPr>
              <a:t>海域與海況並非獨立：外海明顯偏向惡劣海況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40080" y="1417320"/>
            <a:ext cx="566928" cy="0"/>
          </a:xfrm>
          <a:prstGeom prst="bentConnector3">
            <a:avLst/>
          </a:prstGeom>
          <a:ln w="30480">
            <a:solidFill>
              <a:srgbClr val="C892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640080" y="6455664"/>
            <a:ext cx="10911535" cy="0"/>
          </a:xfrm>
          <a:prstGeom prst="bentConnector3">
            <a:avLst/>
          </a:prstGeom>
          <a:ln w="9525">
            <a:solidFill>
              <a:srgbClr val="D7E0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40080" y="651052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950" b="0" i="0">
                <a:solidFill>
                  <a:srgbClr val="7C8B97"/>
                </a:solidFill>
                <a:latin typeface="Microsoft JhengHei"/>
                <a:ea typeface="Microsoft JhengHei"/>
                <a:cs typeface="Microsoft JhengHei"/>
              </a:rPr>
              <a:t>海勤人力資源與作業安全決策系統  ·  114-2 巨量資料與雲端運算  第 2 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54335" y="6510528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500"/>
              </a:spcAft>
            </a:pPr>
            <a:r>
              <a:rPr sz="950" b="0" i="0">
                <a:solidFill>
                  <a:srgbClr val="7C8B97"/>
                </a:solidFill>
                <a:latin typeface="Consolas"/>
                <a:ea typeface="Microsoft JhengHei"/>
                <a:cs typeface="Consolas"/>
              </a:rPr>
              <a:t>26</a:t>
            </a:r>
          </a:p>
        </p:txBody>
      </p:sp>
      <p:pic>
        <p:nvPicPr>
          <p:cNvPr id="8" name="Picture 7" descr="zone_sea_stack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2199" y="1874519"/>
            <a:ext cx="5659441" cy="4023360"/>
          </a:xfrm>
          <a:prstGeom prst="rect">
            <a:avLst/>
          </a:prstGeom>
          <a:ln w="9525">
            <a:solidFill>
              <a:srgbClr val="C5D2DA"/>
            </a:solidFill>
          </a:ln>
        </p:spPr>
      </p:pic>
      <p:sp>
        <p:nvSpPr>
          <p:cNvPr id="9" name="TextBox 8"/>
          <p:cNvSpPr txBox="1"/>
          <p:nvPr/>
        </p:nvSpPr>
        <p:spPr>
          <a:xfrm>
            <a:off x="7498080" y="1874519"/>
            <a:ext cx="4053535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350" b="1" i="0">
                <a:solidFill>
                  <a:srgbClr val="1C3D5A"/>
                </a:solidFill>
                <a:latin typeface="Microsoft JhengHei"/>
                <a:ea typeface="Microsoft JhengHei"/>
                <a:cs typeface="Microsoft JhengHei"/>
              </a:rPr>
              <a:t>檢定說明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498080" y="2203703"/>
            <a:ext cx="4053535" cy="0"/>
          </a:xfrm>
          <a:prstGeom prst="bentConnector3">
            <a:avLst/>
          </a:prstGeom>
          <a:ln w="12700">
            <a:solidFill>
              <a:srgbClr val="D7E0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7498080" y="2331719"/>
            <a:ext cx="4053535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250" b="1" i="0">
                <a:solidFill>
                  <a:srgbClr val="C8922E"/>
                </a:solidFill>
                <a:latin typeface="Microsoft JhengHei"/>
                <a:ea typeface="Microsoft JhengHei"/>
                <a:cs typeface="Microsoft JhengHei"/>
              </a:rPr>
              <a:t>▪  </a:t>
            </a:r>
            <a:r>
              <a:rPr sz="1250" b="0" i="0">
                <a:solidFill>
                  <a:srgbClr val="3D4D5A"/>
                </a:solidFill>
                <a:latin typeface="Microsoft JhengHei"/>
                <a:ea typeface="Microsoft JhengHei"/>
                <a:cs typeface="Microsoft JhengHei"/>
              </a:rPr>
              <a:t>H0：海域與海況彼此獨立</a:t>
            </a:r>
          </a:p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250" b="1" i="0">
                <a:solidFill>
                  <a:srgbClr val="C8922E"/>
                </a:solidFill>
                <a:latin typeface="Microsoft JhengHei"/>
                <a:ea typeface="Microsoft JhengHei"/>
                <a:cs typeface="Microsoft JhengHei"/>
              </a:rPr>
              <a:t>▪  </a:t>
            </a:r>
            <a:r>
              <a:rPr sz="1250" b="0" i="0">
                <a:solidFill>
                  <a:srgbClr val="3D4D5A"/>
                </a:solidFill>
                <a:latin typeface="Microsoft JhengHei"/>
                <a:ea typeface="Microsoft JhengHei"/>
                <a:cs typeface="Microsoft JhengHei"/>
              </a:rPr>
              <a:t>檢定量 χ² = 349.634，df = 6</a:t>
            </a:r>
          </a:p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250" b="1" i="0">
                <a:solidFill>
                  <a:srgbClr val="C8922E"/>
                </a:solidFill>
                <a:latin typeface="Microsoft JhengHei"/>
                <a:ea typeface="Microsoft JhengHei"/>
                <a:cs typeface="Microsoft JhengHei"/>
              </a:rPr>
              <a:t>▪  </a:t>
            </a:r>
            <a:r>
              <a:rPr sz="1250" b="0" i="0">
                <a:solidFill>
                  <a:srgbClr val="3D4D5A"/>
                </a:solidFill>
                <a:latin typeface="Microsoft JhengHei"/>
                <a:ea typeface="Microsoft JhengHei"/>
                <a:cs typeface="Microsoft JhengHei"/>
              </a:rPr>
              <a:t>p 值 &lt; 0.0001 → 拒絕 H0</a:t>
            </a:r>
          </a:p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250" b="1" i="0">
                <a:solidFill>
                  <a:srgbClr val="C8922E"/>
                </a:solidFill>
                <a:latin typeface="Microsoft JhengHei"/>
                <a:ea typeface="Microsoft JhengHei"/>
                <a:cs typeface="Microsoft JhengHei"/>
              </a:rPr>
              <a:t>▪  </a:t>
            </a:r>
            <a:r>
              <a:rPr sz="1250" b="0" i="0">
                <a:solidFill>
                  <a:srgbClr val="3D4D5A"/>
                </a:solidFill>
                <a:latin typeface="Microsoft JhengHei"/>
                <a:ea typeface="Microsoft JhengHei"/>
                <a:cs typeface="Microsoft JhengHei"/>
              </a:rPr>
              <a:t>外海大浪佔比 ≈ 20%</a:t>
            </a:r>
          </a:p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250" b="1" i="0">
                <a:solidFill>
                  <a:srgbClr val="C8922E"/>
                </a:solidFill>
                <a:latin typeface="Microsoft JhengHei"/>
                <a:ea typeface="Microsoft JhengHei"/>
                <a:cs typeface="Microsoft JhengHei"/>
              </a:rPr>
              <a:t>▪  </a:t>
            </a:r>
            <a:r>
              <a:rPr sz="1250" b="0" i="0">
                <a:solidFill>
                  <a:srgbClr val="3D4D5A"/>
                </a:solidFill>
                <a:latin typeface="Microsoft JhengHei"/>
                <a:ea typeface="Microsoft JhengHei"/>
                <a:cs typeface="Microsoft JhengHei"/>
              </a:rPr>
              <a:t>港口大浪佔比 ≈ 1%</a:t>
            </a:r>
          </a:p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100" b="1" i="0">
                <a:solidFill>
                  <a:srgbClr val="C5D2DA"/>
                </a:solidFill>
                <a:latin typeface="Microsoft JhengHei"/>
                <a:ea typeface="Microsoft JhengHei"/>
                <a:cs typeface="Microsoft JhengHei"/>
              </a:rPr>
              <a:t>–  </a:t>
            </a:r>
            <a:r>
              <a:rPr sz="1100" b="0" i="0">
                <a:solidFill>
                  <a:srgbClr val="7C8B97"/>
                </a:solidFill>
                <a:latin typeface="Microsoft JhengHei"/>
                <a:ea typeface="Microsoft JhengHei"/>
                <a:cs typeface="Microsoft JhengHei"/>
              </a:rPr>
              <a:t>海域分配直接決定風險暴露</a:t>
            </a:r>
          </a:p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250" b="1" i="0">
                <a:solidFill>
                  <a:srgbClr val="C8922E"/>
                </a:solidFill>
                <a:latin typeface="Microsoft JhengHei"/>
                <a:ea typeface="Microsoft JhengHei"/>
                <a:cs typeface="Microsoft JhengHei"/>
              </a:rPr>
              <a:t>▪  </a:t>
            </a:r>
            <a:r>
              <a:rPr sz="1250" b="0" i="0">
                <a:solidFill>
                  <a:srgbClr val="3D4D5A"/>
                </a:solidFill>
                <a:latin typeface="Microsoft JhengHei"/>
                <a:ea typeface="Microsoft JhengHei"/>
                <a:cs typeface="Microsoft JhengHei"/>
              </a:rPr>
              <a:t>→ 排班引擎縮減外海員額的依據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20624"/>
            <a:ext cx="109115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200" b="1" i="0">
                <a:solidFill>
                  <a:srgbClr val="C8922E"/>
                </a:solidFill>
                <a:latin typeface="Microsoft JhengHei"/>
                <a:ea typeface="Microsoft JhengHei"/>
                <a:cs typeface="Microsoft JhengHei"/>
              </a:rPr>
              <a:t>統計分析 · OLS 迴歸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76656"/>
            <a:ext cx="10911535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2500" b="1" i="0">
                <a:solidFill>
                  <a:srgbClr val="1C3D5A"/>
                </a:solidFill>
                <a:latin typeface="Microsoft JhengHei"/>
                <a:ea typeface="Microsoft JhengHei"/>
                <a:cs typeface="Microsoft JhengHei"/>
              </a:rPr>
              <a:t>上工時刻與海況是工時的兩大負向驅動因子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40080" y="1417320"/>
            <a:ext cx="566928" cy="0"/>
          </a:xfrm>
          <a:prstGeom prst="bentConnector3">
            <a:avLst/>
          </a:prstGeom>
          <a:ln w="30480">
            <a:solidFill>
              <a:srgbClr val="C892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640080" y="6455664"/>
            <a:ext cx="10911535" cy="0"/>
          </a:xfrm>
          <a:prstGeom prst="bentConnector3">
            <a:avLst/>
          </a:prstGeom>
          <a:ln w="9525">
            <a:solidFill>
              <a:srgbClr val="D7E0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40080" y="651052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950" b="0" i="0">
                <a:solidFill>
                  <a:srgbClr val="7C8B97"/>
                </a:solidFill>
                <a:latin typeface="Microsoft JhengHei"/>
                <a:ea typeface="Microsoft JhengHei"/>
                <a:cs typeface="Microsoft JhengHei"/>
              </a:rPr>
              <a:t>海勤人力資源與作業安全決策系統  ·  114-2 巨量資料與雲端運算  第 2 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54335" y="6510528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500"/>
              </a:spcAft>
            </a:pPr>
            <a:r>
              <a:rPr sz="950" b="0" i="0">
                <a:solidFill>
                  <a:srgbClr val="7C8B97"/>
                </a:solidFill>
                <a:latin typeface="Consolas"/>
                <a:ea typeface="Microsoft JhengHei"/>
                <a:cs typeface="Consolas"/>
              </a:rPr>
              <a:t>27</a:t>
            </a:r>
          </a:p>
        </p:txBody>
      </p:sp>
      <p:pic>
        <p:nvPicPr>
          <p:cNvPr id="8" name="Picture 7" descr="regression_coe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2002895"/>
            <a:ext cx="6766560" cy="3766607"/>
          </a:xfrm>
          <a:prstGeom prst="rect">
            <a:avLst/>
          </a:prstGeom>
          <a:ln w="9525">
            <a:solidFill>
              <a:srgbClr val="C5D2DA"/>
            </a:solidFill>
          </a:ln>
        </p:spPr>
      </p:pic>
      <p:sp>
        <p:nvSpPr>
          <p:cNvPr id="9" name="TextBox 8"/>
          <p:cNvSpPr txBox="1"/>
          <p:nvPr/>
        </p:nvSpPr>
        <p:spPr>
          <a:xfrm>
            <a:off x="7680960" y="1874519"/>
            <a:ext cx="3870655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350" b="1" i="0">
                <a:solidFill>
                  <a:srgbClr val="1C3D5A"/>
                </a:solidFill>
                <a:latin typeface="Microsoft JhengHei"/>
                <a:ea typeface="Microsoft JhengHei"/>
                <a:cs typeface="Microsoft JhengHei"/>
              </a:rPr>
              <a:t>模型結果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680960" y="2203703"/>
            <a:ext cx="3870655" cy="0"/>
          </a:xfrm>
          <a:prstGeom prst="bentConnector3">
            <a:avLst/>
          </a:prstGeom>
          <a:ln w="12700">
            <a:solidFill>
              <a:srgbClr val="D7E0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7680960" y="2331719"/>
            <a:ext cx="3870655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250" b="1" i="0">
                <a:solidFill>
                  <a:srgbClr val="C8922E"/>
                </a:solidFill>
                <a:latin typeface="Microsoft JhengHei"/>
                <a:ea typeface="Microsoft JhengHei"/>
                <a:cs typeface="Microsoft JhengHei"/>
              </a:rPr>
              <a:t>▪  </a:t>
            </a:r>
            <a:r>
              <a:rPr sz="1250" b="0" i="0">
                <a:solidFill>
                  <a:srgbClr val="3D4D5A"/>
                </a:solidFill>
                <a:latin typeface="Microsoft JhengHei"/>
                <a:ea typeface="Microsoft JhengHei"/>
                <a:cs typeface="Microsoft JhengHei"/>
              </a:rPr>
              <a:t>標準化 OLS（numpy.linalg.lstsq）</a:t>
            </a:r>
          </a:p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250" b="1" i="0">
                <a:solidFill>
                  <a:srgbClr val="C8922E"/>
                </a:solidFill>
                <a:latin typeface="Microsoft JhengHei"/>
                <a:ea typeface="Microsoft JhengHei"/>
                <a:cs typeface="Microsoft JhengHei"/>
              </a:rPr>
              <a:t>▪  </a:t>
            </a:r>
            <a:r>
              <a:rPr sz="1250" b="0" i="0">
                <a:solidFill>
                  <a:srgbClr val="3D4D5A"/>
                </a:solidFill>
                <a:latin typeface="Microsoft JhengHei"/>
                <a:ea typeface="Microsoft JhengHei"/>
                <a:cs typeface="Microsoft JhengHei"/>
              </a:rPr>
              <a:t>R² = 0.784（解釋 78.4% 變異）</a:t>
            </a:r>
          </a:p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250" b="1" i="0">
                <a:solidFill>
                  <a:srgbClr val="C8922E"/>
                </a:solidFill>
                <a:latin typeface="Microsoft JhengHei"/>
                <a:ea typeface="Microsoft JhengHei"/>
                <a:cs typeface="Microsoft JhengHei"/>
              </a:rPr>
              <a:t>▪  </a:t>
            </a:r>
            <a:r>
              <a:rPr sz="1250" b="0" i="0">
                <a:solidFill>
                  <a:srgbClr val="3D4D5A"/>
                </a:solidFill>
                <a:latin typeface="Microsoft JhengHei"/>
                <a:ea typeface="Microsoft JhengHei"/>
                <a:cs typeface="Microsoft JhengHei"/>
              </a:rPr>
              <a:t>上工時刻 β = −0.569（最強）</a:t>
            </a:r>
          </a:p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250" b="1" i="0">
                <a:solidFill>
                  <a:srgbClr val="C8922E"/>
                </a:solidFill>
                <a:latin typeface="Microsoft JhengHei"/>
                <a:ea typeface="Microsoft JhengHei"/>
                <a:cs typeface="Microsoft JhengHei"/>
              </a:rPr>
              <a:t>▪  </a:t>
            </a:r>
            <a:r>
              <a:rPr sz="1250" b="0" i="0">
                <a:solidFill>
                  <a:srgbClr val="3D4D5A"/>
                </a:solidFill>
                <a:latin typeface="Microsoft JhengHei"/>
                <a:ea typeface="Microsoft JhengHei"/>
                <a:cs typeface="Microsoft JhengHei"/>
              </a:rPr>
              <a:t>海況等級 β = −0.435（次強）</a:t>
            </a:r>
          </a:p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250" b="1" i="0">
                <a:solidFill>
                  <a:srgbClr val="C8922E"/>
                </a:solidFill>
                <a:latin typeface="Microsoft JhengHei"/>
                <a:ea typeface="Microsoft JhengHei"/>
                <a:cs typeface="Microsoft JhengHei"/>
              </a:rPr>
              <a:t>▪  </a:t>
            </a:r>
            <a:r>
              <a:rPr sz="1250" b="0" i="0">
                <a:solidFill>
                  <a:srgbClr val="3D4D5A"/>
                </a:solidFill>
                <a:latin typeface="Microsoft JhengHei"/>
                <a:ea typeface="Microsoft JhengHei"/>
                <a:cs typeface="Microsoft JhengHei"/>
              </a:rPr>
              <a:t>海域距岸 β ≈ 0</a:t>
            </a:r>
          </a:p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250" b="1" i="0">
                <a:solidFill>
                  <a:srgbClr val="C8922E"/>
                </a:solidFill>
                <a:latin typeface="Microsoft JhengHei"/>
                <a:ea typeface="Microsoft JhengHei"/>
                <a:cs typeface="Microsoft JhengHei"/>
              </a:rPr>
              <a:t>▪  </a:t>
            </a:r>
            <a:r>
              <a:rPr sz="1250" b="0" i="0">
                <a:solidFill>
                  <a:srgbClr val="3D4D5A"/>
                </a:solidFill>
                <a:latin typeface="Microsoft JhengHei"/>
                <a:ea typeface="Microsoft JhengHei"/>
                <a:cs typeface="Microsoft JhengHei"/>
              </a:rPr>
              <a:t>星期 β = +0.014（可忽略）</a:t>
            </a:r>
          </a:p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100" b="1" i="0">
                <a:solidFill>
                  <a:srgbClr val="C5D2DA"/>
                </a:solidFill>
                <a:latin typeface="Microsoft JhengHei"/>
                <a:ea typeface="Microsoft JhengHei"/>
                <a:cs typeface="Microsoft JhengHei"/>
              </a:rPr>
              <a:t>–  </a:t>
            </a:r>
            <a:r>
              <a:rPr sz="1100" b="0" i="0">
                <a:solidFill>
                  <a:srgbClr val="7C8B97"/>
                </a:solidFill>
                <a:latin typeface="Microsoft JhengHei"/>
                <a:ea typeface="Microsoft JhengHei"/>
                <a:cs typeface="Microsoft JhengHei"/>
              </a:rPr>
              <a:t>β 已標準化，可直接比較重要性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20624"/>
            <a:ext cx="109115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200" b="1" i="0">
                <a:solidFill>
                  <a:srgbClr val="C8922E"/>
                </a:solidFill>
                <a:latin typeface="Microsoft JhengHei"/>
                <a:ea typeface="Microsoft JhengHei"/>
                <a:cs typeface="Microsoft JhengHei"/>
              </a:rPr>
              <a:t>統計分析 · 相關矩陣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76656"/>
            <a:ext cx="10911535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2500" b="1" i="0">
                <a:solidFill>
                  <a:srgbClr val="1C3D5A"/>
                </a:solidFill>
                <a:latin typeface="Microsoft JhengHei"/>
                <a:ea typeface="Microsoft JhengHei"/>
                <a:cs typeface="Microsoft JhengHei"/>
              </a:rPr>
              <a:t>有序變數用 Spearman，揭示工時關聯結構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40080" y="1417320"/>
            <a:ext cx="566928" cy="0"/>
          </a:xfrm>
          <a:prstGeom prst="bentConnector3">
            <a:avLst/>
          </a:prstGeom>
          <a:ln w="30480">
            <a:solidFill>
              <a:srgbClr val="C892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640080" y="6455664"/>
            <a:ext cx="10911535" cy="0"/>
          </a:xfrm>
          <a:prstGeom prst="bentConnector3">
            <a:avLst/>
          </a:prstGeom>
          <a:ln w="9525">
            <a:solidFill>
              <a:srgbClr val="D7E0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40080" y="651052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950" b="0" i="0">
                <a:solidFill>
                  <a:srgbClr val="7C8B97"/>
                </a:solidFill>
                <a:latin typeface="Microsoft JhengHei"/>
                <a:ea typeface="Microsoft JhengHei"/>
                <a:cs typeface="Microsoft JhengHei"/>
              </a:rPr>
              <a:t>海勤人力資源與作業安全決策系統  ·  114-2 巨量資料與雲端運算  第 2 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54335" y="6510528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500"/>
              </a:spcAft>
            </a:pPr>
            <a:r>
              <a:rPr sz="950" b="0" i="0">
                <a:solidFill>
                  <a:srgbClr val="7C8B97"/>
                </a:solidFill>
                <a:latin typeface="Consolas"/>
                <a:ea typeface="Microsoft JhengHei"/>
                <a:cs typeface="Consolas"/>
              </a:rPr>
              <a:t>28</a:t>
            </a:r>
          </a:p>
        </p:txBody>
      </p:sp>
      <p:pic>
        <p:nvPicPr>
          <p:cNvPr id="8" name="Picture 7" descr="correlation_matri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8736" y="1874519"/>
            <a:ext cx="4783328" cy="4023360"/>
          </a:xfrm>
          <a:prstGeom prst="rect">
            <a:avLst/>
          </a:prstGeom>
          <a:ln w="9525">
            <a:solidFill>
              <a:srgbClr val="C5D2DA"/>
            </a:solidFill>
          </a:ln>
        </p:spPr>
      </p:pic>
      <p:sp>
        <p:nvSpPr>
          <p:cNvPr id="9" name="TextBox 8"/>
          <p:cNvSpPr txBox="1"/>
          <p:nvPr/>
        </p:nvSpPr>
        <p:spPr>
          <a:xfrm>
            <a:off x="6080760" y="1874519"/>
            <a:ext cx="5470855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350" b="1" i="0">
                <a:solidFill>
                  <a:srgbClr val="1C3D5A"/>
                </a:solidFill>
                <a:latin typeface="Microsoft JhengHei"/>
                <a:ea typeface="Microsoft JhengHei"/>
                <a:cs typeface="Microsoft JhengHei"/>
              </a:rPr>
              <a:t>方法與發現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6080760" y="2203703"/>
            <a:ext cx="5470855" cy="0"/>
          </a:xfrm>
          <a:prstGeom prst="bentConnector3">
            <a:avLst/>
          </a:prstGeom>
          <a:ln w="12700">
            <a:solidFill>
              <a:srgbClr val="D7E0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6080760" y="2331719"/>
            <a:ext cx="5470855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250" b="1" i="0">
                <a:solidFill>
                  <a:srgbClr val="C8922E"/>
                </a:solidFill>
                <a:latin typeface="Microsoft JhengHei"/>
                <a:ea typeface="Microsoft JhengHei"/>
                <a:cs typeface="Microsoft JhengHei"/>
              </a:rPr>
              <a:t>▪  </a:t>
            </a:r>
            <a:r>
              <a:rPr sz="1250" b="0" i="0">
                <a:solidFill>
                  <a:srgbClr val="3D4D5A"/>
                </a:solidFill>
                <a:latin typeface="Microsoft JhengHei"/>
                <a:ea typeface="Microsoft JhengHei"/>
                <a:cs typeface="Microsoft JhengHei"/>
              </a:rPr>
              <a:t>海況為有序離散變數，Pearson 不適用</a:t>
            </a:r>
          </a:p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250" b="1" i="0">
                <a:solidFill>
                  <a:srgbClr val="C8922E"/>
                </a:solidFill>
                <a:latin typeface="Microsoft JhengHei"/>
                <a:ea typeface="Microsoft JhengHei"/>
                <a:cs typeface="Microsoft JhengHei"/>
              </a:rPr>
              <a:t>▪  </a:t>
            </a:r>
            <a:r>
              <a:rPr sz="1250" b="0" i="0">
                <a:solidFill>
                  <a:srgbClr val="3D4D5A"/>
                </a:solidFill>
                <a:latin typeface="Microsoft JhengHei"/>
                <a:ea typeface="Microsoft JhengHei"/>
                <a:cs typeface="Microsoft JhengHei"/>
              </a:rPr>
              <a:t>改用 Spearman 等級相關</a:t>
            </a:r>
          </a:p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300" b="1" i="0">
                <a:solidFill>
                  <a:srgbClr val="C8922E"/>
                </a:solidFill>
                <a:latin typeface="Microsoft JhengHei"/>
                <a:ea typeface="Microsoft JhengHei"/>
                <a:cs typeface="Microsoft JhengHei"/>
              </a:rPr>
              <a:t>▪  </a:t>
            </a:r>
            <a:r>
              <a:rPr sz="1300" b="1" i="0">
                <a:solidFill>
                  <a:srgbClr val="1C3D5A"/>
                </a:solidFill>
                <a:latin typeface="Microsoft JhengHei"/>
                <a:ea typeface="Microsoft JhengHei"/>
                <a:cs typeface="Microsoft JhengHei"/>
              </a:rPr>
              <a:t>主要發現</a:t>
            </a:r>
          </a:p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250" b="1" i="0">
                <a:solidFill>
                  <a:srgbClr val="C8922E"/>
                </a:solidFill>
                <a:latin typeface="Microsoft JhengHei"/>
                <a:ea typeface="Microsoft JhengHei"/>
                <a:cs typeface="Microsoft JhengHei"/>
              </a:rPr>
              <a:t>▪  </a:t>
            </a:r>
            <a:r>
              <a:rPr sz="1250" b="0" i="0">
                <a:solidFill>
                  <a:srgbClr val="3D4D5A"/>
                </a:solidFill>
                <a:latin typeface="Microsoft JhengHei"/>
                <a:ea typeface="Microsoft JhengHei"/>
                <a:cs typeface="Microsoft JhengHei"/>
              </a:rPr>
              <a:t>工時 ↔ 上工時刻：r ≈ −0.52</a:t>
            </a:r>
          </a:p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250" b="1" i="0">
                <a:solidFill>
                  <a:srgbClr val="C8922E"/>
                </a:solidFill>
                <a:latin typeface="Microsoft JhengHei"/>
                <a:ea typeface="Microsoft JhengHei"/>
                <a:cs typeface="Microsoft JhengHei"/>
              </a:rPr>
              <a:t>▪  </a:t>
            </a:r>
            <a:r>
              <a:rPr sz="1250" b="0" i="0">
                <a:solidFill>
                  <a:srgbClr val="3D4D5A"/>
                </a:solidFill>
                <a:latin typeface="Microsoft JhengHei"/>
                <a:ea typeface="Microsoft JhengHei"/>
                <a:cs typeface="Microsoft JhengHei"/>
              </a:rPr>
              <a:t>工時 ↔ 海況等級：r ≈ −0.44</a:t>
            </a:r>
          </a:p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250" b="1" i="0">
                <a:solidFill>
                  <a:srgbClr val="C8922E"/>
                </a:solidFill>
                <a:latin typeface="Microsoft JhengHei"/>
                <a:ea typeface="Microsoft JhengHei"/>
                <a:cs typeface="Microsoft JhengHei"/>
              </a:rPr>
              <a:t>▪  </a:t>
            </a:r>
            <a:r>
              <a:rPr sz="1250" b="0" i="0">
                <a:solidFill>
                  <a:srgbClr val="3D4D5A"/>
                </a:solidFill>
                <a:latin typeface="Microsoft JhengHei"/>
                <a:ea typeface="Microsoft JhengHei"/>
                <a:cs typeface="Microsoft JhengHei"/>
              </a:rPr>
              <a:t>海況 ↔ 海域：r ≈ +0.35</a:t>
            </a:r>
          </a:p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100" b="1" i="0">
                <a:solidFill>
                  <a:srgbClr val="C5D2DA"/>
                </a:solidFill>
                <a:latin typeface="Microsoft JhengHei"/>
                <a:ea typeface="Microsoft JhengHei"/>
                <a:cs typeface="Microsoft JhengHei"/>
              </a:rPr>
              <a:t>–  </a:t>
            </a:r>
            <a:r>
              <a:rPr sz="1100" b="0" i="0">
                <a:solidFill>
                  <a:srgbClr val="7C8B97"/>
                </a:solidFill>
                <a:latin typeface="Microsoft JhengHei"/>
                <a:ea typeface="Microsoft JhengHei"/>
                <a:cs typeface="Microsoft JhengHei"/>
              </a:rPr>
              <a:t>外海海況較惡劣的數值確認</a:t>
            </a:r>
          </a:p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250" b="1" i="0">
                <a:solidFill>
                  <a:srgbClr val="C8922E"/>
                </a:solidFill>
                <a:latin typeface="Microsoft JhengHei"/>
                <a:ea typeface="Microsoft JhengHei"/>
                <a:cs typeface="Microsoft JhengHei"/>
              </a:rPr>
              <a:t>▪  </a:t>
            </a:r>
            <a:r>
              <a:rPr sz="1250" b="0" i="0">
                <a:solidFill>
                  <a:srgbClr val="3D4D5A"/>
                </a:solidFill>
                <a:latin typeface="Microsoft JhengHei"/>
                <a:ea typeface="Microsoft JhengHei"/>
                <a:cs typeface="Microsoft JhengHei"/>
              </a:rPr>
              <a:t>亦作為 OLS 特徵共線性診斷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C3D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822960"/>
            <a:ext cx="4572000" cy="2926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20000" b="1" i="0">
                <a:solidFill>
                  <a:srgbClr val="E9F0F4"/>
                </a:solidFill>
                <a:latin typeface="Consolas"/>
                <a:ea typeface="Microsoft JhengHei"/>
                <a:cs typeface="Consolas"/>
              </a:rPr>
              <a:t>07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2788920"/>
            <a:ext cx="64008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300" b="1" i="0">
                <a:solidFill>
                  <a:srgbClr val="C8922E"/>
                </a:solidFill>
                <a:latin typeface="Consolas"/>
                <a:ea typeface="Microsoft JhengHei"/>
                <a:cs typeface="Consolas"/>
              </a:rPr>
              <a:t>SECTION 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3108960"/>
            <a:ext cx="77724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3600" b="1" i="0">
                <a:solidFill>
                  <a:srgbClr val="1C3D5A"/>
                </a:solidFill>
                <a:latin typeface="Microsoft JhengHei"/>
                <a:ea typeface="Microsoft JhengHei"/>
                <a:cs typeface="Microsoft JhengHei"/>
              </a:rPr>
              <a:t>預測與機器學習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4069080"/>
            <a:ext cx="7772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500" b="0" i="0">
                <a:solidFill>
                  <a:srgbClr val="7C8B97"/>
                </a:solidFill>
                <a:latin typeface="Consolas"/>
                <a:ea typeface="Microsoft JhengHei"/>
                <a:cs typeface="Consolas"/>
              </a:rPr>
              <a:t>Forecasting &amp; Machine Learning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886968" y="3931920"/>
            <a:ext cx="2743200" cy="0"/>
          </a:xfrm>
          <a:prstGeom prst="bentConnector3">
            <a:avLst/>
          </a:prstGeom>
          <a:ln w="30480">
            <a:solidFill>
              <a:srgbClr val="C892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7955279" y="1371600"/>
            <a:ext cx="36576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200" b="1" i="0">
                <a:solidFill>
                  <a:srgbClr val="C8922E"/>
                </a:solidFill>
                <a:latin typeface="Microsoft JhengHei"/>
                <a:ea typeface="Microsoft JhengHei"/>
                <a:cs typeface="Microsoft JhengHei"/>
              </a:rPr>
              <a:t>本章內容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955279" y="1700784"/>
            <a:ext cx="3657600" cy="0"/>
          </a:xfrm>
          <a:prstGeom prst="bentConnector3">
            <a:avLst/>
          </a:prstGeom>
          <a:ln w="12700">
            <a:solidFill>
              <a:srgbClr val="D7E0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7955279" y="1865376"/>
            <a:ext cx="3657600" cy="4114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1100"/>
              </a:spcAft>
            </a:pPr>
            <a:r>
              <a:rPr sz="1300" b="1" i="0">
                <a:solidFill>
                  <a:srgbClr val="C8922E"/>
                </a:solidFill>
                <a:latin typeface="Microsoft JhengHei"/>
                <a:ea typeface="Microsoft JhengHei"/>
                <a:cs typeface="Microsoft JhengHei"/>
              </a:rPr>
              <a:t>▪  </a:t>
            </a:r>
            <a:r>
              <a:rPr sz="1300" b="0" i="0">
                <a:solidFill>
                  <a:srgbClr val="3D4D5A"/>
                </a:solidFill>
                <a:latin typeface="Microsoft JhengHei"/>
                <a:ea typeface="Microsoft JhengHei"/>
                <a:cs typeface="Microsoft JhengHei"/>
              </a:rPr>
              <a:t>線性 + Holt 雙模型預測</a:t>
            </a:r>
          </a:p>
          <a:p>
            <a:pPr algn="l">
              <a:lnSpc>
                <a:spcPct val="120000"/>
              </a:lnSpc>
              <a:spcAft>
                <a:spcPts val="1100"/>
              </a:spcAft>
            </a:pPr>
            <a:r>
              <a:rPr sz="1300" b="1" i="0">
                <a:solidFill>
                  <a:srgbClr val="C8922E"/>
                </a:solidFill>
                <a:latin typeface="Microsoft JhengHei"/>
                <a:ea typeface="Microsoft JhengHei"/>
                <a:cs typeface="Microsoft JhengHei"/>
              </a:rPr>
              <a:t>▪  </a:t>
            </a:r>
            <a:r>
              <a:rPr sz="1300" b="0" i="0">
                <a:solidFill>
                  <a:srgbClr val="3D4D5A"/>
                </a:solidFill>
                <a:latin typeface="Microsoft JhengHei"/>
                <a:ea typeface="Microsoft JhengHei"/>
                <a:cs typeface="Microsoft JhengHei"/>
              </a:rPr>
              <a:t>RandomForest 海況分類</a:t>
            </a:r>
          </a:p>
          <a:p>
            <a:pPr algn="l">
              <a:lnSpc>
                <a:spcPct val="120000"/>
              </a:lnSpc>
              <a:spcAft>
                <a:spcPts val="1100"/>
              </a:spcAft>
            </a:pPr>
            <a:r>
              <a:rPr sz="1300" b="1" i="0">
                <a:solidFill>
                  <a:srgbClr val="C8922E"/>
                </a:solidFill>
                <a:latin typeface="Microsoft JhengHei"/>
                <a:ea typeface="Microsoft JhengHei"/>
                <a:cs typeface="Microsoft JhengHei"/>
              </a:rPr>
              <a:t>▪  </a:t>
            </a:r>
            <a:r>
              <a:rPr sz="1300" b="0" i="0">
                <a:solidFill>
                  <a:srgbClr val="3D4D5A"/>
                </a:solidFill>
                <a:latin typeface="Microsoft JhengHei"/>
                <a:ea typeface="Microsoft JhengHei"/>
                <a:cs typeface="Microsoft JhengHei"/>
              </a:rPr>
              <a:t>Markov 海況轉移</a:t>
            </a:r>
          </a:p>
          <a:p>
            <a:pPr algn="l">
              <a:lnSpc>
                <a:spcPct val="120000"/>
              </a:lnSpc>
              <a:spcAft>
                <a:spcPts val="1100"/>
              </a:spcAft>
            </a:pPr>
            <a:r>
              <a:rPr sz="1300" b="1" i="0">
                <a:solidFill>
                  <a:srgbClr val="C8922E"/>
                </a:solidFill>
                <a:latin typeface="Microsoft JhengHei"/>
                <a:ea typeface="Microsoft JhengHei"/>
                <a:cs typeface="Microsoft JhengHei"/>
              </a:rPr>
              <a:t>▪  </a:t>
            </a:r>
            <a:r>
              <a:rPr sz="1300" b="0" i="0">
                <a:solidFill>
                  <a:srgbClr val="3D4D5A"/>
                </a:solidFill>
                <a:latin typeface="Microsoft JhengHei"/>
                <a:ea typeface="Microsoft JhengHei"/>
                <a:cs typeface="Microsoft JhengHei"/>
              </a:rPr>
              <a:t>Isolation Forest 異常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640080" y="6455664"/>
            <a:ext cx="10911535" cy="0"/>
          </a:xfrm>
          <a:prstGeom prst="bentConnector3">
            <a:avLst/>
          </a:prstGeom>
          <a:ln w="9525">
            <a:solidFill>
              <a:srgbClr val="D7E0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640080" y="651052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950" b="0" i="0">
                <a:solidFill>
                  <a:srgbClr val="7C8B97"/>
                </a:solidFill>
                <a:latin typeface="Microsoft JhengHei"/>
                <a:ea typeface="Microsoft JhengHei"/>
                <a:cs typeface="Microsoft JhengHei"/>
              </a:rPr>
              <a:t>海勤人力資源與作業安全決策系統  ·  114-2 巨量資料與雲端運算  第 2 組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20624"/>
            <a:ext cx="109115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200" b="1" i="0">
                <a:solidFill>
                  <a:srgbClr val="C8922E"/>
                </a:solidFill>
                <a:latin typeface="Microsoft JhengHei"/>
                <a:ea typeface="Microsoft JhengHei"/>
                <a:cs typeface="Microsoft JhengHei"/>
              </a:rPr>
              <a:t>預測 · 時間序列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76656"/>
            <a:ext cx="10911535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2500" b="1" i="0">
                <a:solidFill>
                  <a:srgbClr val="1C3D5A"/>
                </a:solidFill>
                <a:latin typeface="Microsoft JhengHei"/>
                <a:ea typeface="Microsoft JhengHei"/>
                <a:cs typeface="Microsoft JhengHei"/>
              </a:rPr>
              <a:t>線性外推與 Holt 雙指數平滑並排對照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40080" y="1417320"/>
            <a:ext cx="566928" cy="0"/>
          </a:xfrm>
          <a:prstGeom prst="bentConnector3">
            <a:avLst/>
          </a:prstGeom>
          <a:ln w="30480">
            <a:solidFill>
              <a:srgbClr val="C892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640080" y="6455664"/>
            <a:ext cx="10911535" cy="0"/>
          </a:xfrm>
          <a:prstGeom prst="bentConnector3">
            <a:avLst/>
          </a:prstGeom>
          <a:ln w="9525">
            <a:solidFill>
              <a:srgbClr val="D7E0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40080" y="651052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950" b="0" i="0">
                <a:solidFill>
                  <a:srgbClr val="7C8B97"/>
                </a:solidFill>
                <a:latin typeface="Microsoft JhengHei"/>
                <a:ea typeface="Microsoft JhengHei"/>
                <a:cs typeface="Microsoft JhengHei"/>
              </a:rPr>
              <a:t>海勤人力資源與作業安全決策系統  ·  114-2 巨量資料與雲端運算  第 2 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54335" y="6510528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500"/>
              </a:spcAft>
            </a:pPr>
            <a:r>
              <a:rPr sz="950" b="0" i="0">
                <a:solidFill>
                  <a:srgbClr val="7C8B97"/>
                </a:solidFill>
                <a:latin typeface="Consolas"/>
                <a:ea typeface="Microsoft JhengHei"/>
                <a:cs typeface="Consolas"/>
              </a:rPr>
              <a:t>29</a:t>
            </a:r>
          </a:p>
        </p:txBody>
      </p:sp>
      <p:pic>
        <p:nvPicPr>
          <p:cNvPr id="8" name="Picture 7" descr="forecast_du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6714" y="1874519"/>
            <a:ext cx="4644571" cy="2057400"/>
          </a:xfrm>
          <a:prstGeom prst="rect">
            <a:avLst/>
          </a:prstGeom>
          <a:ln w="9525">
            <a:solidFill>
              <a:srgbClr val="C5D2DA"/>
            </a:solidFill>
          </a:ln>
        </p:spPr>
      </p:pic>
      <p:pic>
        <p:nvPicPr>
          <p:cNvPr id="9" name="Picture 8" descr="forecast_hol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2611" y="3977639"/>
            <a:ext cx="4652777" cy="2057400"/>
          </a:xfrm>
          <a:prstGeom prst="rect">
            <a:avLst/>
          </a:prstGeom>
          <a:ln w="9525">
            <a:solidFill>
              <a:srgbClr val="C5D2DA"/>
            </a:solidFill>
          </a:ln>
        </p:spPr>
      </p:pic>
      <p:sp>
        <p:nvSpPr>
          <p:cNvPr id="10" name="TextBox 9"/>
          <p:cNvSpPr txBox="1"/>
          <p:nvPr/>
        </p:nvSpPr>
        <p:spPr>
          <a:xfrm>
            <a:off x="6492240" y="1874519"/>
            <a:ext cx="5059375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350" b="1" i="0">
                <a:solidFill>
                  <a:srgbClr val="1C3D5A"/>
                </a:solidFill>
                <a:latin typeface="Microsoft JhengHei"/>
                <a:ea typeface="Microsoft JhengHei"/>
                <a:cs typeface="Microsoft JhengHei"/>
              </a:rPr>
              <a:t>兩種方法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6492240" y="2203703"/>
            <a:ext cx="5059375" cy="0"/>
          </a:xfrm>
          <a:prstGeom prst="bentConnector3">
            <a:avLst/>
          </a:prstGeom>
          <a:ln w="12700">
            <a:solidFill>
              <a:srgbClr val="D7E0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6492240" y="2331719"/>
            <a:ext cx="5059375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300" b="1" i="0">
                <a:solidFill>
                  <a:srgbClr val="C8922E"/>
                </a:solidFill>
                <a:latin typeface="Microsoft JhengHei"/>
                <a:ea typeface="Microsoft JhengHei"/>
                <a:cs typeface="Microsoft JhengHei"/>
              </a:rPr>
              <a:t>▪  </a:t>
            </a:r>
            <a:r>
              <a:rPr sz="1300" b="1" i="0">
                <a:solidFill>
                  <a:srgbClr val="1C3D5A"/>
                </a:solidFill>
                <a:latin typeface="Microsoft JhengHei"/>
                <a:ea typeface="Microsoft JhengHei"/>
                <a:cs typeface="Microsoft JhengHei"/>
              </a:rPr>
              <a:t>線性外推（上）</a:t>
            </a:r>
          </a:p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050" b="1" i="0">
                <a:solidFill>
                  <a:srgbClr val="C5D2DA"/>
                </a:solidFill>
                <a:latin typeface="Microsoft JhengHei"/>
                <a:ea typeface="Microsoft JhengHei"/>
                <a:cs typeface="Microsoft JhengHei"/>
              </a:rPr>
              <a:t>–  </a:t>
            </a:r>
            <a:r>
              <a:rPr sz="1050" b="0" i="0">
                <a:solidFill>
                  <a:srgbClr val="7C8B97"/>
                </a:solidFill>
                <a:latin typeface="Microsoft JhengHei"/>
                <a:ea typeface="Microsoft JhengHei"/>
                <a:cs typeface="Microsoft JhengHei"/>
              </a:rPr>
              <a:t>依趨勢線性延伸預測</a:t>
            </a:r>
          </a:p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050" b="1" i="0">
                <a:solidFill>
                  <a:srgbClr val="C5D2DA"/>
                </a:solidFill>
                <a:latin typeface="Microsoft JhengHei"/>
                <a:ea typeface="Microsoft JhengHei"/>
                <a:cs typeface="Microsoft JhengHei"/>
              </a:rPr>
              <a:t>–  </a:t>
            </a:r>
            <a:r>
              <a:rPr sz="1050" b="0" i="0">
                <a:solidFill>
                  <a:srgbClr val="7C8B97"/>
                </a:solidFill>
                <a:latin typeface="Microsoft JhengHei"/>
                <a:ea typeface="Microsoft JhengHei"/>
                <a:cs typeface="Microsoft JhengHei"/>
              </a:rPr>
              <a:t>含 95% 信賴區間帶</a:t>
            </a:r>
          </a:p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300" b="1" i="0">
                <a:solidFill>
                  <a:srgbClr val="C8922E"/>
                </a:solidFill>
                <a:latin typeface="Microsoft JhengHei"/>
                <a:ea typeface="Microsoft JhengHei"/>
                <a:cs typeface="Microsoft JhengHei"/>
              </a:rPr>
              <a:t>▪  </a:t>
            </a:r>
            <a:r>
              <a:rPr sz="1300" b="1" i="0">
                <a:solidFill>
                  <a:srgbClr val="1C3D5A"/>
                </a:solidFill>
                <a:latin typeface="Microsoft JhengHei"/>
                <a:ea typeface="Microsoft JhengHei"/>
                <a:cs typeface="Microsoft JhengHei"/>
              </a:rPr>
              <a:t>Holt 雙指數平滑（下）</a:t>
            </a:r>
          </a:p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050" b="1" i="0">
                <a:solidFill>
                  <a:srgbClr val="C5D2DA"/>
                </a:solidFill>
                <a:latin typeface="Microsoft JhengHei"/>
                <a:ea typeface="Microsoft JhengHei"/>
                <a:cs typeface="Microsoft JhengHei"/>
              </a:rPr>
              <a:t>–  </a:t>
            </a:r>
            <a:r>
              <a:rPr sz="1050" b="0" i="0">
                <a:solidFill>
                  <a:srgbClr val="7C8B97"/>
                </a:solidFill>
                <a:latin typeface="Microsoft JhengHei"/>
                <a:ea typeface="Microsoft JhengHei"/>
                <a:cs typeface="Microsoft JhengHei"/>
              </a:rPr>
              <a:t>同時追蹤水準 + 趨勢分量</a:t>
            </a:r>
          </a:p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050" b="1" i="0">
                <a:solidFill>
                  <a:srgbClr val="C5D2DA"/>
                </a:solidFill>
                <a:latin typeface="Microsoft JhengHei"/>
                <a:ea typeface="Microsoft JhengHei"/>
                <a:cs typeface="Microsoft JhengHei"/>
              </a:rPr>
              <a:t>–  </a:t>
            </a:r>
            <a:r>
              <a:rPr sz="1050" b="0" i="0">
                <a:solidFill>
                  <a:srgbClr val="7C8B97"/>
                </a:solidFill>
                <a:latin typeface="Microsoft JhengHei"/>
                <a:ea typeface="Microsoft JhengHei"/>
                <a:cs typeface="Microsoft JhengHei"/>
              </a:rPr>
              <a:t>以純 NumPy 自行實作</a:t>
            </a:r>
          </a:p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050" b="1" i="0">
                <a:solidFill>
                  <a:srgbClr val="C5D2DA"/>
                </a:solidFill>
                <a:latin typeface="Microsoft JhengHei"/>
                <a:ea typeface="Microsoft JhengHei"/>
                <a:cs typeface="Microsoft JhengHei"/>
              </a:rPr>
              <a:t>–  </a:t>
            </a:r>
            <a:r>
              <a:rPr sz="1050" b="0" i="0">
                <a:solidFill>
                  <a:srgbClr val="7C8B97"/>
                </a:solidFill>
                <a:latin typeface="Microsoft JhengHei"/>
                <a:ea typeface="Microsoft JhengHei"/>
                <a:cs typeface="Microsoft JhengHei"/>
              </a:rPr>
              <a:t>對近期資料給予更高權重</a:t>
            </a:r>
          </a:p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300" b="1" i="0">
                <a:solidFill>
                  <a:srgbClr val="4E8C8A"/>
                </a:solidFill>
                <a:latin typeface="Microsoft JhengHei"/>
                <a:ea typeface="Microsoft JhengHei"/>
                <a:cs typeface="Microsoft JhengHei"/>
              </a:rPr>
              <a:t>▪  </a:t>
            </a:r>
            <a:r>
              <a:rPr sz="1300" b="1" i="0">
                <a:solidFill>
                  <a:srgbClr val="4E8C8A"/>
                </a:solidFill>
                <a:latin typeface="Microsoft JhengHei"/>
                <a:ea typeface="Microsoft JhengHei"/>
                <a:cs typeface="Microsoft JhengHei"/>
              </a:rPr>
              <a:t>兩模型並排</a:t>
            </a:r>
          </a:p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050" b="1" i="0">
                <a:solidFill>
                  <a:srgbClr val="C5D2DA"/>
                </a:solidFill>
                <a:latin typeface="Microsoft JhengHei"/>
                <a:ea typeface="Microsoft JhengHei"/>
                <a:cs typeface="Microsoft JhengHei"/>
              </a:rPr>
              <a:t>–  </a:t>
            </a:r>
            <a:r>
              <a:rPr sz="1050" b="0" i="0">
                <a:solidFill>
                  <a:srgbClr val="7C8B97"/>
                </a:solidFill>
                <a:latin typeface="Microsoft JhengHei"/>
                <a:ea typeface="Microsoft JhengHei"/>
                <a:cs typeface="Microsoft JhengHei"/>
              </a:rPr>
              <a:t>比較預測差異，增加可信度</a:t>
            </a:r>
          </a:p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050" b="1" i="0">
                <a:solidFill>
                  <a:srgbClr val="C5D2DA"/>
                </a:solidFill>
                <a:latin typeface="Microsoft JhengHei"/>
                <a:ea typeface="Microsoft JhengHei"/>
                <a:cs typeface="Microsoft JhengHei"/>
              </a:rPr>
              <a:t>–  </a:t>
            </a:r>
            <a:r>
              <a:rPr sz="1050" b="0" i="0">
                <a:solidFill>
                  <a:srgbClr val="7C8B97"/>
                </a:solidFill>
                <a:latin typeface="Microsoft JhengHei"/>
                <a:ea typeface="Microsoft JhengHei"/>
                <a:cs typeface="Microsoft JhengHei"/>
              </a:rPr>
              <a:t>趨勢方向一致即為穩健預測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20624"/>
            <a:ext cx="109115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200" b="1" i="0">
                <a:solidFill>
                  <a:srgbClr val="C8922E"/>
                </a:solidFill>
                <a:latin typeface="Microsoft JhengHei"/>
                <a:ea typeface="Microsoft JhengHei"/>
                <a:cs typeface="Microsoft JhengHei"/>
              </a:rPr>
              <a:t>機器學習 · RANDOMFOREST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76656"/>
            <a:ext cx="10911535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2500" b="1" i="0">
                <a:solidFill>
                  <a:srgbClr val="1C3D5A"/>
                </a:solidFill>
                <a:latin typeface="Microsoft JhengHei"/>
                <a:ea typeface="Microsoft JhengHei"/>
                <a:cs typeface="Microsoft JhengHei"/>
              </a:rPr>
              <a:t>AUC = 0.811：用 TimeSeriesSplit 避免未來洩漏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40080" y="1417320"/>
            <a:ext cx="566928" cy="0"/>
          </a:xfrm>
          <a:prstGeom prst="bentConnector3">
            <a:avLst/>
          </a:prstGeom>
          <a:ln w="30480">
            <a:solidFill>
              <a:srgbClr val="C892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640080" y="6455664"/>
            <a:ext cx="10911535" cy="0"/>
          </a:xfrm>
          <a:prstGeom prst="bentConnector3">
            <a:avLst/>
          </a:prstGeom>
          <a:ln w="9525">
            <a:solidFill>
              <a:srgbClr val="D7E0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40080" y="651052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950" b="0" i="0">
                <a:solidFill>
                  <a:srgbClr val="7C8B97"/>
                </a:solidFill>
                <a:latin typeface="Microsoft JhengHei"/>
                <a:ea typeface="Microsoft JhengHei"/>
                <a:cs typeface="Microsoft JhengHei"/>
              </a:rPr>
              <a:t>海勤人力資源與作業安全決策系統  ·  114-2 巨量資料與雲端運算  第 2 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54335" y="6510528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500"/>
              </a:spcAft>
            </a:pPr>
            <a:r>
              <a:rPr sz="950" b="0" i="0">
                <a:solidFill>
                  <a:srgbClr val="7C8B97"/>
                </a:solidFill>
                <a:latin typeface="Consolas"/>
                <a:ea typeface="Microsoft JhengHei"/>
                <a:cs typeface="Consolas"/>
              </a:rPr>
              <a:t>30</a:t>
            </a:r>
          </a:p>
        </p:txBody>
      </p:sp>
      <p:pic>
        <p:nvPicPr>
          <p:cNvPr id="8" name="Picture 7" descr="feature_importa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2008445"/>
            <a:ext cx="6766560" cy="3755507"/>
          </a:xfrm>
          <a:prstGeom prst="rect">
            <a:avLst/>
          </a:prstGeom>
          <a:ln w="9525">
            <a:solidFill>
              <a:srgbClr val="C5D2DA"/>
            </a:solidFill>
          </a:ln>
        </p:spPr>
      </p:pic>
      <p:sp>
        <p:nvSpPr>
          <p:cNvPr id="9" name="TextBox 8"/>
          <p:cNvSpPr txBox="1"/>
          <p:nvPr/>
        </p:nvSpPr>
        <p:spPr>
          <a:xfrm>
            <a:off x="7680960" y="1874519"/>
            <a:ext cx="3870655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350" b="1" i="0">
                <a:solidFill>
                  <a:srgbClr val="1C3D5A"/>
                </a:solidFill>
                <a:latin typeface="Microsoft JhengHei"/>
                <a:ea typeface="Microsoft JhengHei"/>
                <a:cs typeface="Microsoft JhengHei"/>
              </a:rPr>
              <a:t>ML 設計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680960" y="2203703"/>
            <a:ext cx="3870655" cy="0"/>
          </a:xfrm>
          <a:prstGeom prst="bentConnector3">
            <a:avLst/>
          </a:prstGeom>
          <a:ln w="12700">
            <a:solidFill>
              <a:srgbClr val="D7E0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7680960" y="2331719"/>
            <a:ext cx="3870655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300" b="1" i="0">
                <a:solidFill>
                  <a:srgbClr val="C8922E"/>
                </a:solidFill>
                <a:latin typeface="Microsoft JhengHei"/>
                <a:ea typeface="Microsoft JhengHei"/>
                <a:cs typeface="Microsoft JhengHei"/>
              </a:rPr>
              <a:t>▪  </a:t>
            </a:r>
            <a:r>
              <a:rPr sz="1300" b="1" i="0">
                <a:solidFill>
                  <a:srgbClr val="1C3D5A"/>
                </a:solidFill>
                <a:latin typeface="Microsoft JhengHei"/>
                <a:ea typeface="Microsoft JhengHei"/>
                <a:cs typeface="Microsoft JhengHei"/>
              </a:rPr>
              <a:t>目標變數設計</a:t>
            </a:r>
          </a:p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050" b="1" i="0">
                <a:solidFill>
                  <a:srgbClr val="C5D2DA"/>
                </a:solidFill>
                <a:latin typeface="Microsoft JhengHei"/>
                <a:ea typeface="Microsoft JhengHei"/>
                <a:cs typeface="Microsoft JhengHei"/>
              </a:rPr>
              <a:t>–  </a:t>
            </a:r>
            <a:r>
              <a:rPr sz="1050" b="0" i="0">
                <a:solidFill>
                  <a:srgbClr val="7C8B97"/>
                </a:solidFill>
                <a:latin typeface="Microsoft JhengHei"/>
                <a:ea typeface="Microsoft JhengHei"/>
                <a:cs typeface="Microsoft JhengHei"/>
              </a:rPr>
              <a:t>mid_share = 當日中浪以上比例</a:t>
            </a:r>
          </a:p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050" b="1" i="0">
                <a:solidFill>
                  <a:srgbClr val="C5D2DA"/>
                </a:solidFill>
                <a:latin typeface="Microsoft JhengHei"/>
                <a:ea typeface="Microsoft JhengHei"/>
                <a:cs typeface="Microsoft JhengHei"/>
              </a:rPr>
              <a:t>–  </a:t>
            </a:r>
            <a:r>
              <a:rPr sz="1050" b="0" i="0">
                <a:solidFill>
                  <a:srgbClr val="7C8B97"/>
                </a:solidFill>
                <a:latin typeface="Microsoft JhengHei"/>
                <a:ea typeface="Microsoft JhengHei"/>
                <a:cs typeface="Microsoft JhengHei"/>
              </a:rPr>
              <a:t>rough = (mid_share ≥ 0.35)</a:t>
            </a:r>
          </a:p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050" b="1" i="0">
                <a:solidFill>
                  <a:srgbClr val="C5D2DA"/>
                </a:solidFill>
                <a:latin typeface="Microsoft JhengHei"/>
                <a:ea typeface="Microsoft JhengHei"/>
                <a:cs typeface="Microsoft JhengHei"/>
              </a:rPr>
              <a:t>–  </a:t>
            </a:r>
            <a:r>
              <a:rPr sz="1050" b="0" i="0">
                <a:solidFill>
                  <a:srgbClr val="7C8B97"/>
                </a:solidFill>
                <a:latin typeface="Microsoft JhengHei"/>
                <a:ea typeface="Microsoft JhengHei"/>
                <a:cs typeface="Microsoft JhengHei"/>
              </a:rPr>
              <a:t>正例率 ~25%（原始僅 4%）</a:t>
            </a:r>
          </a:p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300" b="1" i="0">
                <a:solidFill>
                  <a:srgbClr val="C8922E"/>
                </a:solidFill>
                <a:latin typeface="Microsoft JhengHei"/>
                <a:ea typeface="Microsoft JhengHei"/>
                <a:cs typeface="Microsoft JhengHei"/>
              </a:rPr>
              <a:t>▪  </a:t>
            </a:r>
            <a:r>
              <a:rPr sz="1300" b="1" i="0">
                <a:solidFill>
                  <a:srgbClr val="1C3D5A"/>
                </a:solidFill>
                <a:latin typeface="Microsoft JhengHei"/>
                <a:ea typeface="Microsoft JhengHei"/>
                <a:cs typeface="Microsoft JhengHei"/>
              </a:rPr>
              <a:t>訓練配置</a:t>
            </a:r>
          </a:p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050" b="1" i="0">
                <a:solidFill>
                  <a:srgbClr val="C5D2DA"/>
                </a:solidFill>
                <a:latin typeface="Microsoft JhengHei"/>
                <a:ea typeface="Microsoft JhengHei"/>
                <a:cs typeface="Microsoft JhengHei"/>
              </a:rPr>
              <a:t>–  </a:t>
            </a:r>
            <a:r>
              <a:rPr sz="1050" b="0" i="0">
                <a:solidFill>
                  <a:srgbClr val="7C8B97"/>
                </a:solidFill>
                <a:latin typeface="Microsoft JhengHei"/>
                <a:ea typeface="Microsoft JhengHei"/>
                <a:cs typeface="Microsoft JhengHei"/>
              </a:rPr>
              <a:t>GridSearchCV 超參數搜尋</a:t>
            </a:r>
          </a:p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050" b="1" i="0">
                <a:solidFill>
                  <a:srgbClr val="C5D2DA"/>
                </a:solidFill>
                <a:latin typeface="Microsoft JhengHei"/>
                <a:ea typeface="Microsoft JhengHei"/>
                <a:cs typeface="Microsoft JhengHei"/>
              </a:rPr>
              <a:t>–  </a:t>
            </a:r>
            <a:r>
              <a:rPr sz="1050" b="0" i="0">
                <a:solidFill>
                  <a:srgbClr val="7C8B97"/>
                </a:solidFill>
                <a:latin typeface="Microsoft JhengHei"/>
                <a:ea typeface="Microsoft JhengHei"/>
                <a:cs typeface="Microsoft JhengHei"/>
              </a:rPr>
              <a:t>class_weight = balanced</a:t>
            </a:r>
          </a:p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050" b="1" i="0">
                <a:solidFill>
                  <a:srgbClr val="C5D2DA"/>
                </a:solidFill>
                <a:latin typeface="Microsoft JhengHei"/>
                <a:ea typeface="Microsoft JhengHei"/>
                <a:cs typeface="Microsoft JhengHei"/>
              </a:rPr>
              <a:t>–  </a:t>
            </a:r>
            <a:r>
              <a:rPr sz="1050" b="0" i="0">
                <a:solidFill>
                  <a:srgbClr val="7C8B97"/>
                </a:solidFill>
                <a:latin typeface="Microsoft JhengHei"/>
                <a:ea typeface="Microsoft JhengHei"/>
                <a:cs typeface="Microsoft JhengHei"/>
              </a:rPr>
              <a:t>TimeSeriesSplit(5) 防未來洩漏</a:t>
            </a:r>
          </a:p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300" b="1" i="0">
                <a:solidFill>
                  <a:srgbClr val="4E8C8A"/>
                </a:solidFill>
                <a:latin typeface="Microsoft JhengHei"/>
                <a:ea typeface="Microsoft JhengHei"/>
                <a:cs typeface="Microsoft JhengHei"/>
              </a:rPr>
              <a:t>▪  </a:t>
            </a:r>
            <a:r>
              <a:rPr sz="1300" b="1" i="0">
                <a:solidFill>
                  <a:srgbClr val="4E8C8A"/>
                </a:solidFill>
                <a:latin typeface="Microsoft JhengHei"/>
                <a:ea typeface="Microsoft JhengHei"/>
                <a:cs typeface="Microsoft JhengHei"/>
              </a:rPr>
              <a:t>結果</a:t>
            </a:r>
          </a:p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050" b="1" i="0">
                <a:solidFill>
                  <a:srgbClr val="C5D2DA"/>
                </a:solidFill>
                <a:latin typeface="Microsoft JhengHei"/>
                <a:ea typeface="Microsoft JhengHei"/>
                <a:cs typeface="Microsoft JhengHei"/>
              </a:rPr>
              <a:t>–  </a:t>
            </a:r>
            <a:r>
              <a:rPr sz="1050" b="0" i="0">
                <a:solidFill>
                  <a:srgbClr val="7C8B97"/>
                </a:solidFill>
                <a:latin typeface="Microsoft JhengHei"/>
                <a:ea typeface="Microsoft JhengHei"/>
                <a:cs typeface="Microsoft JhengHei"/>
              </a:rPr>
              <a:t>測試集 acc 0.949 / AUC 0.811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20624"/>
            <a:ext cx="109115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200" b="1" i="0">
                <a:solidFill>
                  <a:srgbClr val="C8922E"/>
                </a:solidFill>
                <a:latin typeface="Microsoft JhengHei"/>
                <a:ea typeface="Microsoft JhengHei"/>
                <a:cs typeface="Microsoft JhengHei"/>
              </a:rPr>
              <a:t>預測 · MARKOV 轉移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76656"/>
            <a:ext cx="10911535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2500" b="1" i="0">
                <a:solidFill>
                  <a:srgbClr val="1C3D5A"/>
                </a:solidFill>
                <a:latin typeface="Microsoft JhengHei"/>
                <a:ea typeface="Microsoft JhengHei"/>
                <a:cs typeface="Microsoft JhengHei"/>
              </a:rPr>
              <a:t>海況具狀態惰性，可外推未來 7 天惡劣機率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40080" y="1417320"/>
            <a:ext cx="566928" cy="0"/>
          </a:xfrm>
          <a:prstGeom prst="bentConnector3">
            <a:avLst/>
          </a:prstGeom>
          <a:ln w="30480">
            <a:solidFill>
              <a:srgbClr val="C892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640080" y="6455664"/>
            <a:ext cx="10911535" cy="0"/>
          </a:xfrm>
          <a:prstGeom prst="bentConnector3">
            <a:avLst/>
          </a:prstGeom>
          <a:ln w="9525">
            <a:solidFill>
              <a:srgbClr val="D7E0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40080" y="651052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950" b="0" i="0">
                <a:solidFill>
                  <a:srgbClr val="7C8B97"/>
                </a:solidFill>
                <a:latin typeface="Microsoft JhengHei"/>
                <a:ea typeface="Microsoft JhengHei"/>
                <a:cs typeface="Microsoft JhengHei"/>
              </a:rPr>
              <a:t>海勤人力資源與作業安全決策系統  ·  114-2 巨量資料與雲端運算  第 2 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54335" y="6510528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500"/>
              </a:spcAft>
            </a:pPr>
            <a:r>
              <a:rPr sz="950" b="0" i="0">
                <a:solidFill>
                  <a:srgbClr val="7C8B97"/>
                </a:solidFill>
                <a:latin typeface="Consolas"/>
                <a:ea typeface="Microsoft JhengHei"/>
                <a:cs typeface="Consolas"/>
              </a:rPr>
              <a:t>31</a:t>
            </a:r>
          </a:p>
        </p:txBody>
      </p:sp>
      <p:pic>
        <p:nvPicPr>
          <p:cNvPr id="8" name="Picture 7" descr="markov_heat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9229" y="1920240"/>
            <a:ext cx="9533235" cy="3383280"/>
          </a:xfrm>
          <a:prstGeom prst="rect">
            <a:avLst/>
          </a:prstGeom>
          <a:ln w="9525">
            <a:solidFill>
              <a:srgbClr val="C5D2DA"/>
            </a:solidFill>
          </a:ln>
        </p:spPr>
      </p:pic>
      <p:sp>
        <p:nvSpPr>
          <p:cNvPr id="9" name="Rounded Rectangle 8"/>
          <p:cNvSpPr/>
          <p:nvPr/>
        </p:nvSpPr>
        <p:spPr>
          <a:xfrm>
            <a:off x="640080" y="5650992"/>
            <a:ext cx="10911535" cy="566928"/>
          </a:xfrm>
          <a:prstGeom prst="roundRect">
            <a:avLst>
              <a:gd name="adj" fmla="val 10000"/>
            </a:avLst>
          </a:prstGeom>
          <a:solidFill>
            <a:srgbClr val="FBF4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" y="5650992"/>
            <a:ext cx="82296" cy="566928"/>
          </a:xfrm>
          <a:prstGeom prst="rect">
            <a:avLst/>
          </a:prstGeom>
          <a:solidFill>
            <a:srgbClr val="C892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6112" y="5650992"/>
            <a:ext cx="137160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200" b="1" i="0">
                <a:solidFill>
                  <a:srgbClr val="C8922E"/>
                </a:solidFill>
                <a:latin typeface="Microsoft JhengHei"/>
                <a:ea typeface="Microsoft JhengHei"/>
                <a:cs typeface="Microsoft JhengHei"/>
              </a:rPr>
              <a:t>預警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31720" y="5650992"/>
            <a:ext cx="8991295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300" b="0" i="0">
                <a:solidFill>
                  <a:srgbClr val="1C3D5A"/>
                </a:solidFill>
                <a:latin typeface="Microsoft JhengHei"/>
                <a:ea typeface="Microsoft JhengHei"/>
                <a:cs typeface="Microsoft JhengHei"/>
              </a:rPr>
              <a:t>純 NumPy 矩陣連乘外推 7 天；本次大浪期望機率 7.1%，超過 15% 即自動觸發排班預警。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20624"/>
            <a:ext cx="109115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200" b="1" i="0">
                <a:solidFill>
                  <a:srgbClr val="C8922E"/>
                </a:solidFill>
                <a:latin typeface="Microsoft JhengHei"/>
                <a:ea typeface="Microsoft JhengHei"/>
                <a:cs typeface="Microsoft JhengHei"/>
              </a:rPr>
              <a:t>異常偵測 · ISOLATION FOREST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76656"/>
            <a:ext cx="10911535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2500" b="1" i="0">
                <a:solidFill>
                  <a:srgbClr val="1C3D5A"/>
                </a:solidFill>
                <a:latin typeface="Microsoft JhengHei"/>
                <a:ea typeface="Microsoft JhengHei"/>
                <a:cs typeface="Microsoft JhengHei"/>
              </a:rPr>
              <a:t>單維 Z-score + 五維 Isolation Forest 互補偵測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40080" y="1417320"/>
            <a:ext cx="566928" cy="0"/>
          </a:xfrm>
          <a:prstGeom prst="bentConnector3">
            <a:avLst/>
          </a:prstGeom>
          <a:ln w="30480">
            <a:solidFill>
              <a:srgbClr val="C892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640080" y="6455664"/>
            <a:ext cx="10911535" cy="0"/>
          </a:xfrm>
          <a:prstGeom prst="bentConnector3">
            <a:avLst/>
          </a:prstGeom>
          <a:ln w="9525">
            <a:solidFill>
              <a:srgbClr val="D7E0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40080" y="651052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950" b="0" i="0">
                <a:solidFill>
                  <a:srgbClr val="7C8B97"/>
                </a:solidFill>
                <a:latin typeface="Microsoft JhengHei"/>
                <a:ea typeface="Microsoft JhengHei"/>
                <a:cs typeface="Microsoft JhengHei"/>
              </a:rPr>
              <a:t>海勤人力資源與作業安全決策系統  ·  114-2 巨量資料與雲端運算  第 2 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54335" y="6510528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500"/>
              </a:spcAft>
            </a:pPr>
            <a:r>
              <a:rPr sz="950" b="0" i="0">
                <a:solidFill>
                  <a:srgbClr val="7C8B97"/>
                </a:solidFill>
                <a:latin typeface="Consolas"/>
                <a:ea typeface="Microsoft JhengHei"/>
                <a:cs typeface="Consolas"/>
              </a:rPr>
              <a:t>32</a:t>
            </a:r>
          </a:p>
        </p:txBody>
      </p:sp>
      <p:pic>
        <p:nvPicPr>
          <p:cNvPr id="8" name="Picture 7" descr="anomaly_isofore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2243850"/>
            <a:ext cx="6949440" cy="3284696"/>
          </a:xfrm>
          <a:prstGeom prst="rect">
            <a:avLst/>
          </a:prstGeom>
          <a:ln w="9525">
            <a:solidFill>
              <a:srgbClr val="C5D2DA"/>
            </a:solidFill>
          </a:ln>
        </p:spPr>
      </p:pic>
      <p:sp>
        <p:nvSpPr>
          <p:cNvPr id="9" name="TextBox 8"/>
          <p:cNvSpPr txBox="1"/>
          <p:nvPr/>
        </p:nvSpPr>
        <p:spPr>
          <a:xfrm>
            <a:off x="7863840" y="1874519"/>
            <a:ext cx="3687775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350" b="1" i="0">
                <a:solidFill>
                  <a:srgbClr val="1C3D5A"/>
                </a:solidFill>
                <a:latin typeface="Microsoft JhengHei"/>
                <a:ea typeface="Microsoft JhengHei"/>
                <a:cs typeface="Microsoft JhengHei"/>
              </a:rPr>
              <a:t>兩法比較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863840" y="2203703"/>
            <a:ext cx="3687775" cy="0"/>
          </a:xfrm>
          <a:prstGeom prst="bentConnector3">
            <a:avLst/>
          </a:prstGeom>
          <a:ln w="12700">
            <a:solidFill>
              <a:srgbClr val="D7E0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7863840" y="2331719"/>
            <a:ext cx="3687775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300" b="1" i="0">
                <a:solidFill>
                  <a:srgbClr val="C8922E"/>
                </a:solidFill>
                <a:latin typeface="Microsoft JhengHei"/>
                <a:ea typeface="Microsoft JhengHei"/>
                <a:cs typeface="Microsoft JhengHei"/>
              </a:rPr>
              <a:t>▪  </a:t>
            </a:r>
            <a:r>
              <a:rPr sz="1300" b="1" i="0">
                <a:solidFill>
                  <a:srgbClr val="1C3D5A"/>
                </a:solidFill>
                <a:latin typeface="Microsoft JhengHei"/>
                <a:ea typeface="Microsoft JhengHei"/>
                <a:cs typeface="Microsoft JhengHei"/>
              </a:rPr>
              <a:t>Z-score（工時單維）</a:t>
            </a:r>
          </a:p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050" b="1" i="0">
                <a:solidFill>
                  <a:srgbClr val="C5D2DA"/>
                </a:solidFill>
                <a:latin typeface="Microsoft JhengHei"/>
                <a:ea typeface="Microsoft JhengHei"/>
                <a:cs typeface="Microsoft JhengHei"/>
              </a:rPr>
              <a:t>–  </a:t>
            </a:r>
            <a:r>
              <a:rPr sz="1050" b="0" i="0">
                <a:solidFill>
                  <a:srgbClr val="7C8B97"/>
                </a:solidFill>
                <a:latin typeface="Microsoft JhengHei"/>
                <a:ea typeface="Microsoft JhengHei"/>
                <a:cs typeface="Microsoft JhengHei"/>
              </a:rPr>
              <a:t>工時超出 ±2σ 範圍</a:t>
            </a:r>
          </a:p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050" b="1" i="0">
                <a:solidFill>
                  <a:srgbClr val="C5D2DA"/>
                </a:solidFill>
                <a:latin typeface="Microsoft JhengHei"/>
                <a:ea typeface="Microsoft JhengHei"/>
                <a:cs typeface="Microsoft JhengHei"/>
              </a:rPr>
              <a:t>–  </a:t>
            </a:r>
            <a:r>
              <a:rPr sz="1050" b="0" i="0">
                <a:solidFill>
                  <a:srgbClr val="7C8B97"/>
                </a:solidFill>
                <a:latin typeface="Microsoft JhengHei"/>
                <a:ea typeface="Microsoft JhengHei"/>
                <a:cs typeface="Microsoft JhengHei"/>
              </a:rPr>
              <a:t>識別工時過長 / 過短的紀錄</a:t>
            </a:r>
          </a:p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300" b="1" i="0">
                <a:solidFill>
                  <a:srgbClr val="C8922E"/>
                </a:solidFill>
                <a:latin typeface="Microsoft JhengHei"/>
                <a:ea typeface="Microsoft JhengHei"/>
                <a:cs typeface="Microsoft JhengHei"/>
              </a:rPr>
              <a:t>▪  </a:t>
            </a:r>
            <a:r>
              <a:rPr sz="1300" b="1" i="0">
                <a:solidFill>
                  <a:srgbClr val="1C3D5A"/>
                </a:solidFill>
                <a:latin typeface="Microsoft JhengHei"/>
                <a:ea typeface="Microsoft JhengHei"/>
                <a:cs typeface="Microsoft JhengHei"/>
              </a:rPr>
              <a:t>Isolation Forest（五維聯合）</a:t>
            </a:r>
          </a:p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050" b="1" i="0">
                <a:solidFill>
                  <a:srgbClr val="C5D2DA"/>
                </a:solidFill>
                <a:latin typeface="Microsoft JhengHei"/>
                <a:ea typeface="Microsoft JhengHei"/>
                <a:cs typeface="Microsoft JhengHei"/>
              </a:rPr>
              <a:t>–  </a:t>
            </a:r>
            <a:r>
              <a:rPr sz="1050" b="0" i="0">
                <a:solidFill>
                  <a:srgbClr val="7C8B97"/>
                </a:solidFill>
                <a:latin typeface="Microsoft JhengHei"/>
                <a:ea typeface="Microsoft JhengHei"/>
                <a:cs typeface="Microsoft JhengHei"/>
              </a:rPr>
              <a:t>同時考慮工時、海況、海域、</a:t>
            </a:r>
          </a:p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200" b="1" i="0">
                <a:solidFill>
                  <a:srgbClr val="C8922E"/>
                </a:solidFill>
                <a:latin typeface="Microsoft JhengHei"/>
                <a:ea typeface="Microsoft JhengHei"/>
                <a:cs typeface="Microsoft JhengHei"/>
              </a:rPr>
              <a:t>▪  </a:t>
            </a:r>
            <a:r>
              <a:rPr sz="1200" b="0" i="0">
                <a:solidFill>
                  <a:srgbClr val="3D4D5A"/>
                </a:solidFill>
                <a:latin typeface="Microsoft JhengHei"/>
                <a:ea typeface="Microsoft JhengHei"/>
                <a:cs typeface="Microsoft JhengHei"/>
              </a:rPr>
              <a:t>  打卡時刻、星期五個維度</a:t>
            </a:r>
          </a:p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050" b="1" i="0">
                <a:solidFill>
                  <a:srgbClr val="C5D2DA"/>
                </a:solidFill>
                <a:latin typeface="Microsoft JhengHei"/>
                <a:ea typeface="Microsoft JhengHei"/>
                <a:cs typeface="Microsoft JhengHei"/>
              </a:rPr>
              <a:t>–  </a:t>
            </a:r>
            <a:r>
              <a:rPr sz="1050" b="0" i="0">
                <a:solidFill>
                  <a:srgbClr val="7C8B97"/>
                </a:solidFill>
                <a:latin typeface="Microsoft JhengHei"/>
                <a:ea typeface="Microsoft JhengHei"/>
                <a:cs typeface="Microsoft JhengHei"/>
              </a:rPr>
              <a:t>偵測「情境型異常」</a:t>
            </a:r>
          </a:p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300" b="1" i="0">
                <a:solidFill>
                  <a:srgbClr val="4E8C8A"/>
                </a:solidFill>
                <a:latin typeface="Microsoft JhengHei"/>
                <a:ea typeface="Microsoft JhengHei"/>
                <a:cs typeface="Microsoft JhengHei"/>
              </a:rPr>
              <a:t>▪  </a:t>
            </a:r>
            <a:r>
              <a:rPr sz="1300" b="1" i="0">
                <a:solidFill>
                  <a:srgbClr val="4E8C8A"/>
                </a:solidFill>
                <a:latin typeface="Microsoft JhengHei"/>
                <a:ea typeface="Microsoft JhengHei"/>
                <a:cs typeface="Microsoft JhengHei"/>
              </a:rPr>
              <a:t>互補效果</a:t>
            </a:r>
          </a:p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050" b="1" i="0">
                <a:solidFill>
                  <a:srgbClr val="C5D2DA"/>
                </a:solidFill>
                <a:latin typeface="Microsoft JhengHei"/>
                <a:ea typeface="Microsoft JhengHei"/>
                <a:cs typeface="Microsoft JhengHei"/>
              </a:rPr>
              <a:t>–  </a:t>
            </a:r>
            <a:r>
              <a:rPr sz="1050" b="0" i="0">
                <a:solidFill>
                  <a:srgbClr val="7C8B97"/>
                </a:solidFill>
                <a:latin typeface="Microsoft JhengHei"/>
                <a:ea typeface="Microsoft JhengHei"/>
                <a:cs typeface="Microsoft JhengHei"/>
              </a:rPr>
              <a:t>兩法聯用：工時正常但情境異常</a:t>
            </a:r>
          </a:p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050" b="1" i="0">
                <a:solidFill>
                  <a:srgbClr val="C5D2DA"/>
                </a:solidFill>
                <a:latin typeface="Microsoft JhengHei"/>
                <a:ea typeface="Microsoft JhengHei"/>
                <a:cs typeface="Microsoft JhengHei"/>
              </a:rPr>
              <a:t>–  </a:t>
            </a:r>
            <a:r>
              <a:rPr sz="1050" b="0" i="0">
                <a:solidFill>
                  <a:srgbClr val="7C8B97"/>
                </a:solidFill>
                <a:latin typeface="Microsoft JhengHei"/>
                <a:ea typeface="Microsoft JhengHei"/>
                <a:cs typeface="Microsoft JhengHei"/>
              </a:rPr>
              <a:t>的紀錄，Z-score 看不到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C3D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822960"/>
            <a:ext cx="4572000" cy="2926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20000" b="1" i="0">
                <a:solidFill>
                  <a:srgbClr val="E9F0F4"/>
                </a:solidFill>
                <a:latin typeface="Consolas"/>
                <a:ea typeface="Microsoft JhengHei"/>
                <a:cs typeface="Consolas"/>
              </a:rPr>
              <a:t>08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2788920"/>
            <a:ext cx="64008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300" b="1" i="0">
                <a:solidFill>
                  <a:srgbClr val="C8922E"/>
                </a:solidFill>
                <a:latin typeface="Consolas"/>
                <a:ea typeface="Microsoft JhengHei"/>
                <a:cs typeface="Consolas"/>
              </a:rPr>
              <a:t>SECTION 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3108960"/>
            <a:ext cx="77724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3600" b="1" i="0">
                <a:solidFill>
                  <a:srgbClr val="1C3D5A"/>
                </a:solidFill>
                <a:latin typeface="Microsoft JhengHei"/>
                <a:ea typeface="Microsoft JhengHei"/>
                <a:cs typeface="Microsoft JhengHei"/>
              </a:rPr>
              <a:t>人力資源決策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4069080"/>
            <a:ext cx="7772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500" b="0" i="0">
                <a:solidFill>
                  <a:srgbClr val="7C8B97"/>
                </a:solidFill>
                <a:latin typeface="Consolas"/>
                <a:ea typeface="Microsoft JhengHei"/>
                <a:cs typeface="Consolas"/>
              </a:rPr>
              <a:t>Workforce Decision Analytics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886968" y="3931920"/>
            <a:ext cx="2743200" cy="0"/>
          </a:xfrm>
          <a:prstGeom prst="bentConnector3">
            <a:avLst/>
          </a:prstGeom>
          <a:ln w="30480">
            <a:solidFill>
              <a:srgbClr val="C892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7955279" y="1371600"/>
            <a:ext cx="36576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200" b="1" i="0">
                <a:solidFill>
                  <a:srgbClr val="C8922E"/>
                </a:solidFill>
                <a:latin typeface="Microsoft JhengHei"/>
                <a:ea typeface="Microsoft JhengHei"/>
                <a:cs typeface="Microsoft JhengHei"/>
              </a:rPr>
              <a:t>本章內容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955279" y="1700784"/>
            <a:ext cx="3657600" cy="0"/>
          </a:xfrm>
          <a:prstGeom prst="bentConnector3">
            <a:avLst/>
          </a:prstGeom>
          <a:ln w="12700">
            <a:solidFill>
              <a:srgbClr val="D7E0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7955279" y="1865376"/>
            <a:ext cx="3657600" cy="4114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1100"/>
              </a:spcAft>
            </a:pPr>
            <a:r>
              <a:rPr sz="1300" b="1" i="0">
                <a:solidFill>
                  <a:srgbClr val="C8922E"/>
                </a:solidFill>
                <a:latin typeface="Microsoft JhengHei"/>
                <a:ea typeface="Microsoft JhengHei"/>
                <a:cs typeface="Microsoft JhengHei"/>
              </a:rPr>
              <a:t>▪  </a:t>
            </a:r>
            <a:r>
              <a:rPr sz="1300" b="0" i="0">
                <a:solidFill>
                  <a:srgbClr val="3D4D5A"/>
                </a:solidFill>
                <a:latin typeface="Microsoft JhengHei"/>
                <a:ea typeface="Microsoft JhengHei"/>
                <a:cs typeface="Microsoft JhengHei"/>
              </a:rPr>
              <a:t>人員疲勞指數</a:t>
            </a:r>
          </a:p>
          <a:p>
            <a:pPr algn="l">
              <a:lnSpc>
                <a:spcPct val="120000"/>
              </a:lnSpc>
              <a:spcAft>
                <a:spcPts val="1100"/>
              </a:spcAft>
            </a:pPr>
            <a:r>
              <a:rPr sz="1300" b="1" i="0">
                <a:solidFill>
                  <a:srgbClr val="C8922E"/>
                </a:solidFill>
                <a:latin typeface="Microsoft JhengHei"/>
                <a:ea typeface="Microsoft JhengHei"/>
                <a:cs typeface="Microsoft JhengHei"/>
              </a:rPr>
              <a:t>▪  </a:t>
            </a:r>
            <a:r>
              <a:rPr sz="1300" b="0" i="0">
                <a:solidFill>
                  <a:srgbClr val="3D4D5A"/>
                </a:solidFill>
                <a:latin typeface="Microsoft JhengHei"/>
                <a:ea typeface="Microsoft JhengHei"/>
                <a:cs typeface="Microsoft JhengHei"/>
              </a:rPr>
              <a:t>工時公平性 Lorenz</a:t>
            </a:r>
          </a:p>
          <a:p>
            <a:pPr algn="l">
              <a:lnSpc>
                <a:spcPct val="120000"/>
              </a:lnSpc>
              <a:spcAft>
                <a:spcPts val="1100"/>
              </a:spcAft>
            </a:pPr>
            <a:r>
              <a:rPr sz="1300" b="1" i="0">
                <a:solidFill>
                  <a:srgbClr val="C8922E"/>
                </a:solidFill>
                <a:latin typeface="Microsoft JhengHei"/>
                <a:ea typeface="Microsoft JhengHei"/>
                <a:cs typeface="Microsoft JhengHei"/>
              </a:rPr>
              <a:t>▪  </a:t>
            </a:r>
            <a:r>
              <a:rPr sz="1300" b="0" i="0">
                <a:solidFill>
                  <a:srgbClr val="3D4D5A"/>
                </a:solidFill>
                <a:latin typeface="Microsoft JhengHei"/>
                <a:ea typeface="Microsoft JhengHei"/>
                <a:cs typeface="Microsoft JhengHei"/>
              </a:rPr>
              <a:t>船艦可用性</a:t>
            </a:r>
          </a:p>
          <a:p>
            <a:pPr algn="l">
              <a:lnSpc>
                <a:spcPct val="120000"/>
              </a:lnSpc>
              <a:spcAft>
                <a:spcPts val="1100"/>
              </a:spcAft>
            </a:pPr>
            <a:r>
              <a:rPr sz="1300" b="1" i="0">
                <a:solidFill>
                  <a:srgbClr val="C8922E"/>
                </a:solidFill>
                <a:latin typeface="Microsoft JhengHei"/>
                <a:ea typeface="Microsoft JhengHei"/>
                <a:cs typeface="Microsoft JhengHei"/>
              </a:rPr>
              <a:t>▪  </a:t>
            </a:r>
            <a:r>
              <a:rPr sz="1300" b="0" i="0">
                <a:solidFill>
                  <a:srgbClr val="3D4D5A"/>
                </a:solidFill>
                <a:latin typeface="Microsoft JhengHei"/>
                <a:ea typeface="Microsoft JhengHei"/>
                <a:cs typeface="Microsoft JhengHei"/>
              </a:rPr>
              <a:t>人員五維雷達圖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640080" y="6455664"/>
            <a:ext cx="10911535" cy="0"/>
          </a:xfrm>
          <a:prstGeom prst="bentConnector3">
            <a:avLst/>
          </a:prstGeom>
          <a:ln w="9525">
            <a:solidFill>
              <a:srgbClr val="D7E0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640080" y="651052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950" b="0" i="0">
                <a:solidFill>
                  <a:srgbClr val="7C8B97"/>
                </a:solidFill>
                <a:latin typeface="Microsoft JhengHei"/>
                <a:ea typeface="Microsoft JhengHei"/>
                <a:cs typeface="Microsoft JhengHei"/>
              </a:rPr>
              <a:t>海勤人力資源與作業安全決策系統  ·  114-2 巨量資料與雲端運算  第 2 組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20624"/>
            <a:ext cx="109115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200" b="1" i="0">
                <a:solidFill>
                  <a:srgbClr val="C8922E"/>
                </a:solidFill>
                <a:latin typeface="Microsoft JhengHei"/>
                <a:ea typeface="Microsoft JhengHei"/>
                <a:cs typeface="Microsoft JhengHei"/>
              </a:rPr>
              <a:t>人資決策 · 疲勞指數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76656"/>
            <a:ext cx="10911535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2500" b="1" i="0">
                <a:solidFill>
                  <a:srgbClr val="1C3D5A"/>
                </a:solidFill>
                <a:latin typeface="Microsoft JhengHei"/>
                <a:ea typeface="Microsoft JhengHei"/>
                <a:cs typeface="Microsoft JhengHei"/>
              </a:rPr>
              <a:t>連續值勤 × 近 7 日工時，量化過勞風險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40080" y="1417320"/>
            <a:ext cx="566928" cy="0"/>
          </a:xfrm>
          <a:prstGeom prst="bentConnector3">
            <a:avLst/>
          </a:prstGeom>
          <a:ln w="30480">
            <a:solidFill>
              <a:srgbClr val="C892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640080" y="6455664"/>
            <a:ext cx="10911535" cy="0"/>
          </a:xfrm>
          <a:prstGeom prst="bentConnector3">
            <a:avLst/>
          </a:prstGeom>
          <a:ln w="9525">
            <a:solidFill>
              <a:srgbClr val="D7E0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40080" y="651052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950" b="0" i="0">
                <a:solidFill>
                  <a:srgbClr val="7C8B97"/>
                </a:solidFill>
                <a:latin typeface="Microsoft JhengHei"/>
                <a:ea typeface="Microsoft JhengHei"/>
                <a:cs typeface="Microsoft JhengHei"/>
              </a:rPr>
              <a:t>海勤人力資源與作業安全決策系統  ·  114-2 巨量資料與雲端運算  第 2 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54335" y="6510528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500"/>
              </a:spcAft>
            </a:pPr>
            <a:r>
              <a:rPr sz="950" b="0" i="0">
                <a:solidFill>
                  <a:srgbClr val="7C8B97"/>
                </a:solidFill>
                <a:latin typeface="Consolas"/>
                <a:ea typeface="Microsoft JhengHei"/>
                <a:cs typeface="Consolas"/>
              </a:rPr>
              <a:t>33</a:t>
            </a:r>
          </a:p>
        </p:txBody>
      </p:sp>
      <p:pic>
        <p:nvPicPr>
          <p:cNvPr id="8" name="Picture 7" descr="fatigu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69" y="1874519"/>
            <a:ext cx="6894460" cy="4023360"/>
          </a:xfrm>
          <a:prstGeom prst="rect">
            <a:avLst/>
          </a:prstGeom>
          <a:ln w="9525">
            <a:solidFill>
              <a:srgbClr val="C5D2DA"/>
            </a:solidFill>
          </a:ln>
        </p:spPr>
      </p:pic>
      <p:sp>
        <p:nvSpPr>
          <p:cNvPr id="9" name="TextBox 8"/>
          <p:cNvSpPr txBox="1"/>
          <p:nvPr/>
        </p:nvSpPr>
        <p:spPr>
          <a:xfrm>
            <a:off x="7863840" y="1874519"/>
            <a:ext cx="3687775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350" b="1" i="0">
                <a:solidFill>
                  <a:srgbClr val="1C3D5A"/>
                </a:solidFill>
                <a:latin typeface="Microsoft JhengHei"/>
                <a:ea typeface="Microsoft JhengHei"/>
                <a:cs typeface="Microsoft JhengHei"/>
              </a:rPr>
              <a:t>計算方式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863840" y="2203703"/>
            <a:ext cx="3687775" cy="0"/>
          </a:xfrm>
          <a:prstGeom prst="bentConnector3">
            <a:avLst/>
          </a:prstGeom>
          <a:ln w="12700">
            <a:solidFill>
              <a:srgbClr val="D7E0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7863840" y="2331719"/>
            <a:ext cx="3687775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300" b="1" i="0">
                <a:solidFill>
                  <a:srgbClr val="C8922E"/>
                </a:solidFill>
                <a:latin typeface="Microsoft JhengHei"/>
                <a:ea typeface="Microsoft JhengHei"/>
                <a:cs typeface="Microsoft JhengHei"/>
              </a:rPr>
              <a:t>▪  </a:t>
            </a:r>
            <a:r>
              <a:rPr sz="1300" b="1" i="0">
                <a:solidFill>
                  <a:srgbClr val="1C3D5A"/>
                </a:solidFill>
                <a:latin typeface="Microsoft JhengHei"/>
                <a:ea typeface="Microsoft JhengHei"/>
                <a:cs typeface="Microsoft JhengHei"/>
              </a:rPr>
              <a:t>合成公式</a:t>
            </a:r>
          </a:p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100" b="1" i="0">
                <a:solidFill>
                  <a:srgbClr val="C5D2DA"/>
                </a:solidFill>
                <a:latin typeface="Microsoft JhengHei"/>
                <a:ea typeface="Microsoft JhengHei"/>
                <a:cs typeface="Microsoft JhengHei"/>
              </a:rPr>
              <a:t>–  </a:t>
            </a:r>
            <a:r>
              <a:rPr sz="1100" b="0" i="0">
                <a:solidFill>
                  <a:srgbClr val="7C8B97"/>
                </a:solidFill>
                <a:latin typeface="Microsoft JhengHei"/>
                <a:ea typeface="Microsoft JhengHei"/>
                <a:cs typeface="Microsoft JhengHei"/>
              </a:rPr>
              <a:t>連續值勤天數 權重 60%</a:t>
            </a:r>
          </a:p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100" b="1" i="0">
                <a:solidFill>
                  <a:srgbClr val="C5D2DA"/>
                </a:solidFill>
                <a:latin typeface="Microsoft JhengHei"/>
                <a:ea typeface="Microsoft JhengHei"/>
                <a:cs typeface="Microsoft JhengHei"/>
              </a:rPr>
              <a:t>–  </a:t>
            </a:r>
            <a:r>
              <a:rPr sz="1100" b="0" i="0">
                <a:solidFill>
                  <a:srgbClr val="7C8B97"/>
                </a:solidFill>
                <a:latin typeface="Microsoft JhengHei"/>
                <a:ea typeface="Microsoft JhengHei"/>
                <a:cs typeface="Microsoft JhengHei"/>
              </a:rPr>
              <a:t>近 7 日累計工時 權重 40%</a:t>
            </a:r>
          </a:p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100" b="1" i="0">
                <a:solidFill>
                  <a:srgbClr val="C5D2DA"/>
                </a:solidFill>
                <a:latin typeface="Microsoft JhengHei"/>
                <a:ea typeface="Microsoft JhengHei"/>
                <a:cs typeface="Microsoft JhengHei"/>
              </a:rPr>
              <a:t>–  </a:t>
            </a:r>
            <a:r>
              <a:rPr sz="1100" b="0" i="0">
                <a:solidFill>
                  <a:srgbClr val="7C8B97"/>
                </a:solidFill>
                <a:latin typeface="Microsoft JhengHei"/>
                <a:ea typeface="Microsoft JhengHei"/>
                <a:cs typeface="Microsoft JhengHei"/>
              </a:rPr>
              <a:t>合成為 0–100 分</a:t>
            </a:r>
          </a:p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300" b="1" i="0">
                <a:solidFill>
                  <a:srgbClr val="C8922E"/>
                </a:solidFill>
                <a:latin typeface="Microsoft JhengHei"/>
                <a:ea typeface="Microsoft JhengHei"/>
                <a:cs typeface="Microsoft JhengHei"/>
              </a:rPr>
              <a:t>▪  </a:t>
            </a:r>
            <a:r>
              <a:rPr sz="1300" b="1" i="0">
                <a:solidFill>
                  <a:srgbClr val="1C3D5A"/>
                </a:solidFill>
                <a:latin typeface="Microsoft JhengHei"/>
                <a:ea typeface="Microsoft JhengHei"/>
                <a:cs typeface="Microsoft JhengHei"/>
              </a:rPr>
              <a:t>分級</a:t>
            </a:r>
          </a:p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100" b="1" i="0">
                <a:solidFill>
                  <a:srgbClr val="C5D2DA"/>
                </a:solidFill>
                <a:latin typeface="Microsoft JhengHei"/>
                <a:ea typeface="Microsoft JhengHei"/>
                <a:cs typeface="Microsoft JhengHei"/>
              </a:rPr>
              <a:t>–  </a:t>
            </a:r>
            <a:r>
              <a:rPr sz="1100" b="0" i="0">
                <a:solidFill>
                  <a:srgbClr val="7C8B97"/>
                </a:solidFill>
                <a:latin typeface="Microsoft JhengHei"/>
                <a:ea typeface="Microsoft JhengHei"/>
                <a:cs typeface="Microsoft JhengHei"/>
              </a:rPr>
              <a:t>low &lt; 40（綠）</a:t>
            </a:r>
          </a:p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100" b="1" i="0">
                <a:solidFill>
                  <a:srgbClr val="C5D2DA"/>
                </a:solidFill>
                <a:latin typeface="Microsoft JhengHei"/>
                <a:ea typeface="Microsoft JhengHei"/>
                <a:cs typeface="Microsoft JhengHei"/>
              </a:rPr>
              <a:t>–  </a:t>
            </a:r>
            <a:r>
              <a:rPr sz="1100" b="0" i="0">
                <a:solidFill>
                  <a:srgbClr val="7C8B97"/>
                </a:solidFill>
                <a:latin typeface="Microsoft JhengHei"/>
                <a:ea typeface="Microsoft JhengHei"/>
                <a:cs typeface="Microsoft JhengHei"/>
              </a:rPr>
              <a:t>mid 40–65（橘）</a:t>
            </a:r>
          </a:p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100" b="1" i="0">
                <a:solidFill>
                  <a:srgbClr val="C5D2DA"/>
                </a:solidFill>
                <a:latin typeface="Microsoft JhengHei"/>
                <a:ea typeface="Microsoft JhengHei"/>
                <a:cs typeface="Microsoft JhengHei"/>
              </a:rPr>
              <a:t>–  </a:t>
            </a:r>
            <a:r>
              <a:rPr sz="1100" b="0" i="0">
                <a:solidFill>
                  <a:srgbClr val="7C8B97"/>
                </a:solidFill>
                <a:latin typeface="Microsoft JhengHei"/>
                <a:ea typeface="Microsoft JhengHei"/>
                <a:cs typeface="Microsoft JhengHei"/>
              </a:rPr>
              <a:t>high ≥ 65（紅）→ 建議輪休</a:t>
            </a:r>
          </a:p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250" b="1" i="0">
                <a:solidFill>
                  <a:srgbClr val="C8922E"/>
                </a:solidFill>
                <a:latin typeface="Microsoft JhengHei"/>
                <a:ea typeface="Microsoft JhengHei"/>
                <a:cs typeface="Microsoft JhengHei"/>
              </a:rPr>
              <a:t>▪  </a:t>
            </a:r>
            <a:r>
              <a:rPr sz="1250" b="0" i="0">
                <a:solidFill>
                  <a:srgbClr val="3D4D5A"/>
                </a:solidFill>
                <a:latin typeface="Microsoft JhengHei"/>
                <a:ea typeface="Microsoft JhengHei"/>
                <a:cs typeface="Microsoft JhengHei"/>
              </a:rPr>
              <a:t>高疲勞者由排班引擎自動避開高負荷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20624"/>
            <a:ext cx="109115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200" b="1" i="0">
                <a:solidFill>
                  <a:srgbClr val="C8922E"/>
                </a:solidFill>
                <a:latin typeface="Microsoft JhengHei"/>
                <a:ea typeface="Microsoft JhengHei"/>
                <a:cs typeface="Microsoft JhengHei"/>
              </a:rPr>
              <a:t>人資決策 · 工時公平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76656"/>
            <a:ext cx="10911535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2500" b="1" i="0">
                <a:solidFill>
                  <a:srgbClr val="1C3D5A"/>
                </a:solidFill>
                <a:latin typeface="Microsoft JhengHei"/>
                <a:ea typeface="Microsoft JhengHei"/>
                <a:cs typeface="Microsoft JhengHei"/>
              </a:rPr>
              <a:t>Gini = 0.042：工時分配近乎完全均等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40080" y="1417320"/>
            <a:ext cx="566928" cy="0"/>
          </a:xfrm>
          <a:prstGeom prst="bentConnector3">
            <a:avLst/>
          </a:prstGeom>
          <a:ln w="30480">
            <a:solidFill>
              <a:srgbClr val="C892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640080" y="6455664"/>
            <a:ext cx="10911535" cy="0"/>
          </a:xfrm>
          <a:prstGeom prst="bentConnector3">
            <a:avLst/>
          </a:prstGeom>
          <a:ln w="9525">
            <a:solidFill>
              <a:srgbClr val="D7E0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40080" y="651052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950" b="0" i="0">
                <a:solidFill>
                  <a:srgbClr val="7C8B97"/>
                </a:solidFill>
                <a:latin typeface="Microsoft JhengHei"/>
                <a:ea typeface="Microsoft JhengHei"/>
                <a:cs typeface="Microsoft JhengHei"/>
              </a:rPr>
              <a:t>海勤人力資源與作業安全決策系統  ·  114-2 巨量資料與雲端運算  第 2 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54335" y="6510528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500"/>
              </a:spcAft>
            </a:pPr>
            <a:r>
              <a:rPr sz="950" b="0" i="0">
                <a:solidFill>
                  <a:srgbClr val="7C8B97"/>
                </a:solidFill>
                <a:latin typeface="Consolas"/>
                <a:ea typeface="Microsoft JhengHei"/>
                <a:cs typeface="Consolas"/>
              </a:rPr>
              <a:t>34</a:t>
            </a:r>
          </a:p>
        </p:txBody>
      </p:sp>
      <p:pic>
        <p:nvPicPr>
          <p:cNvPr id="8" name="Picture 7" descr="fairness_lorenz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3680" y="1874519"/>
            <a:ext cx="4699200" cy="4023360"/>
          </a:xfrm>
          <a:prstGeom prst="rect">
            <a:avLst/>
          </a:prstGeom>
          <a:ln w="9525">
            <a:solidFill>
              <a:srgbClr val="C5D2DA"/>
            </a:solidFill>
          </a:ln>
        </p:spPr>
      </p:pic>
      <p:sp>
        <p:nvSpPr>
          <p:cNvPr id="9" name="TextBox 8"/>
          <p:cNvSpPr txBox="1"/>
          <p:nvPr/>
        </p:nvSpPr>
        <p:spPr>
          <a:xfrm>
            <a:off x="6446520" y="1874519"/>
            <a:ext cx="5105095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350" b="1" i="0">
                <a:solidFill>
                  <a:srgbClr val="1C3D5A"/>
                </a:solidFill>
                <a:latin typeface="Microsoft JhengHei"/>
                <a:ea typeface="Microsoft JhengHei"/>
                <a:cs typeface="Microsoft JhengHei"/>
              </a:rPr>
              <a:t>Lorenz / Gini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6446520" y="2203703"/>
            <a:ext cx="5105095" cy="0"/>
          </a:xfrm>
          <a:prstGeom prst="bentConnector3">
            <a:avLst/>
          </a:prstGeom>
          <a:ln w="12700">
            <a:solidFill>
              <a:srgbClr val="D7E0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6446520" y="2331719"/>
            <a:ext cx="5105095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200" b="1" i="0">
                <a:solidFill>
                  <a:srgbClr val="C8922E"/>
                </a:solidFill>
                <a:latin typeface="Microsoft JhengHei"/>
                <a:ea typeface="Microsoft JhengHei"/>
                <a:cs typeface="Microsoft JhengHei"/>
              </a:rPr>
              <a:t>▪  </a:t>
            </a:r>
            <a:r>
              <a:rPr sz="1200" b="0" i="0">
                <a:solidFill>
                  <a:srgbClr val="3D4D5A"/>
                </a:solidFill>
                <a:latin typeface="Microsoft JhengHei"/>
                <a:ea typeface="Microsoft JhengHei"/>
                <a:cs typeface="Microsoft JhengHei"/>
              </a:rPr>
              <a:t>Gini 係數移植自經濟學分配理論</a:t>
            </a:r>
          </a:p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200" b="1" i="0">
                <a:solidFill>
                  <a:srgbClr val="C8922E"/>
                </a:solidFill>
                <a:latin typeface="Microsoft JhengHei"/>
                <a:ea typeface="Microsoft JhengHei"/>
                <a:cs typeface="Microsoft JhengHei"/>
              </a:rPr>
              <a:t>▪  </a:t>
            </a:r>
            <a:r>
              <a:rPr sz="1200" b="0" i="0">
                <a:solidFill>
                  <a:srgbClr val="3D4D5A"/>
                </a:solidFill>
                <a:latin typeface="Microsoft JhengHei"/>
                <a:ea typeface="Microsoft JhengHei"/>
                <a:cs typeface="Microsoft JhengHei"/>
              </a:rPr>
              <a:t>0 = 完全平均，1 = 極度集中</a:t>
            </a:r>
          </a:p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200" b="1" i="0">
                <a:solidFill>
                  <a:srgbClr val="C8922E"/>
                </a:solidFill>
                <a:latin typeface="Microsoft JhengHei"/>
                <a:ea typeface="Microsoft JhengHei"/>
                <a:cs typeface="Microsoft JhengHei"/>
              </a:rPr>
              <a:t>▪  </a:t>
            </a:r>
            <a:r>
              <a:rPr sz="1200" b="0" i="0">
                <a:solidFill>
                  <a:srgbClr val="3D4D5A"/>
                </a:solidFill>
                <a:latin typeface="Microsoft JhengHei"/>
                <a:ea typeface="Microsoft JhengHei"/>
                <a:cs typeface="Microsoft JhengHei"/>
              </a:rPr>
              <a:t>本系統 Gini = 0.042 → 高度均等</a:t>
            </a:r>
          </a:p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200" b="1" i="0">
                <a:solidFill>
                  <a:srgbClr val="C8922E"/>
                </a:solidFill>
                <a:latin typeface="Microsoft JhengHei"/>
                <a:ea typeface="Microsoft JhengHei"/>
                <a:cs typeface="Microsoft JhengHei"/>
              </a:rPr>
              <a:t>▪  </a:t>
            </a:r>
            <a:r>
              <a:rPr sz="1200" b="0" i="0">
                <a:solidFill>
                  <a:srgbClr val="3D4D5A"/>
                </a:solidFill>
                <a:latin typeface="Microsoft JhengHei"/>
                <a:ea typeface="Microsoft JhengHei"/>
                <a:cs typeface="Microsoft JhengHei"/>
              </a:rPr>
              <a:t>Lorenz 曲線緊貼對角線</a:t>
            </a:r>
          </a:p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300" b="1" i="0">
                <a:solidFill>
                  <a:srgbClr val="C8922E"/>
                </a:solidFill>
                <a:latin typeface="Microsoft JhengHei"/>
                <a:ea typeface="Microsoft JhengHei"/>
                <a:cs typeface="Microsoft JhengHei"/>
              </a:rPr>
              <a:t>▪  </a:t>
            </a:r>
            <a:r>
              <a:rPr sz="1300" b="1" i="0">
                <a:solidFill>
                  <a:srgbClr val="1C3D5A"/>
                </a:solidFill>
                <a:latin typeface="Microsoft JhengHei"/>
                <a:ea typeface="Microsoft JhengHei"/>
                <a:cs typeface="Microsoft JhengHei"/>
              </a:rPr>
              <a:t>自動標記</a:t>
            </a:r>
          </a:p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050" b="1" i="0">
                <a:solidFill>
                  <a:srgbClr val="C5D2DA"/>
                </a:solidFill>
                <a:latin typeface="Microsoft JhengHei"/>
                <a:ea typeface="Microsoft JhengHei"/>
                <a:cs typeface="Microsoft JhengHei"/>
              </a:rPr>
              <a:t>–  </a:t>
            </a:r>
            <a:r>
              <a:rPr sz="1050" b="0" i="0">
                <a:solidFill>
                  <a:srgbClr val="7C8B97"/>
                </a:solidFill>
                <a:latin typeface="Microsoft JhengHei"/>
                <a:ea typeface="Microsoft JhengHei"/>
                <a:cs typeface="Microsoft JhengHei"/>
              </a:rPr>
              <a:t>過勞：工時 ≥ 中位數 ×1.3</a:t>
            </a:r>
          </a:p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050" b="1" i="0">
                <a:solidFill>
                  <a:srgbClr val="C5D2DA"/>
                </a:solidFill>
                <a:latin typeface="Microsoft JhengHei"/>
                <a:ea typeface="Microsoft JhengHei"/>
                <a:cs typeface="Microsoft JhengHei"/>
              </a:rPr>
              <a:t>–  </a:t>
            </a:r>
            <a:r>
              <a:rPr sz="1050" b="0" i="0">
                <a:solidFill>
                  <a:srgbClr val="7C8B97"/>
                </a:solidFill>
                <a:latin typeface="Microsoft JhengHei"/>
                <a:ea typeface="Microsoft JhengHei"/>
                <a:cs typeface="Microsoft JhengHei"/>
              </a:rPr>
              <a:t>閒置：工時 ≤ 中位數 ×0.7</a:t>
            </a:r>
          </a:p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200" b="1" i="0">
                <a:solidFill>
                  <a:srgbClr val="C8922E"/>
                </a:solidFill>
                <a:latin typeface="Microsoft JhengHei"/>
                <a:ea typeface="Microsoft JhengHei"/>
                <a:cs typeface="Microsoft JhengHei"/>
              </a:rPr>
              <a:t>▪  </a:t>
            </a:r>
            <a:r>
              <a:rPr sz="1200" b="0" i="0">
                <a:solidFill>
                  <a:srgbClr val="3D4D5A"/>
                </a:solidFill>
                <a:latin typeface="Microsoft JhengHei"/>
                <a:ea typeface="Microsoft JhengHei"/>
                <a:cs typeface="Microsoft JhengHei"/>
              </a:rPr>
              <a:t>本次無人員達門檻 → 輪班執行均勻</a:t>
            </a:r>
          </a:p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200" b="1" i="0">
                <a:solidFill>
                  <a:srgbClr val="C8922E"/>
                </a:solidFill>
                <a:latin typeface="Microsoft JhengHei"/>
                <a:ea typeface="Microsoft JhengHei"/>
                <a:cs typeface="Microsoft JhengHei"/>
              </a:rPr>
              <a:t>▪  </a:t>
            </a:r>
            <a:r>
              <a:rPr sz="1200" b="0" i="0">
                <a:solidFill>
                  <a:srgbClr val="3D4D5A"/>
                </a:solidFill>
                <a:latin typeface="Microsoft JhengHei"/>
                <a:ea typeface="Microsoft JhengHei"/>
                <a:cs typeface="Microsoft JhengHei"/>
              </a:rPr>
              <a:t>此維度純海象系統無法產出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20624"/>
            <a:ext cx="109115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200" b="1" i="0">
                <a:solidFill>
                  <a:srgbClr val="C8922E"/>
                </a:solidFill>
                <a:latin typeface="Microsoft JhengHei"/>
                <a:ea typeface="Microsoft JhengHei"/>
                <a:cs typeface="Microsoft JhengHei"/>
              </a:rPr>
              <a:t>人資決策 · 船艦可用性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76656"/>
            <a:ext cx="10911535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2500" b="1" i="0">
                <a:solidFill>
                  <a:srgbClr val="1C3D5A"/>
                </a:solidFill>
                <a:latin typeface="Microsoft JhengHei"/>
                <a:ea typeface="Microsoft JhengHei"/>
                <a:cs typeface="Microsoft JhengHei"/>
              </a:rPr>
              <a:t>維護里程推估，需維護船艦自動排除於排班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40080" y="1417320"/>
            <a:ext cx="566928" cy="0"/>
          </a:xfrm>
          <a:prstGeom prst="bentConnector3">
            <a:avLst/>
          </a:prstGeom>
          <a:ln w="30480">
            <a:solidFill>
              <a:srgbClr val="C892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640080" y="6455664"/>
            <a:ext cx="10911535" cy="0"/>
          </a:xfrm>
          <a:prstGeom prst="bentConnector3">
            <a:avLst/>
          </a:prstGeom>
          <a:ln w="9525">
            <a:solidFill>
              <a:srgbClr val="D7E0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40080" y="651052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950" b="0" i="0">
                <a:solidFill>
                  <a:srgbClr val="7C8B97"/>
                </a:solidFill>
                <a:latin typeface="Microsoft JhengHei"/>
                <a:ea typeface="Microsoft JhengHei"/>
                <a:cs typeface="Microsoft JhengHei"/>
              </a:rPr>
              <a:t>海勤人力資源與作業安全決策系統  ·  114-2 巨量資料與雲端運算  第 2 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54335" y="6510528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500"/>
              </a:spcAft>
            </a:pPr>
            <a:r>
              <a:rPr sz="950" b="0" i="0">
                <a:solidFill>
                  <a:srgbClr val="7C8B97"/>
                </a:solidFill>
                <a:latin typeface="Consolas"/>
                <a:ea typeface="Microsoft JhengHei"/>
                <a:cs typeface="Consolas"/>
              </a:rPr>
              <a:t>35</a:t>
            </a:r>
          </a:p>
        </p:txBody>
      </p:sp>
      <p:pic>
        <p:nvPicPr>
          <p:cNvPr id="8" name="Picture 7" descr="vessel_availabil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977975"/>
            <a:ext cx="6949440" cy="3816446"/>
          </a:xfrm>
          <a:prstGeom prst="rect">
            <a:avLst/>
          </a:prstGeom>
          <a:ln w="9525">
            <a:solidFill>
              <a:srgbClr val="C5D2DA"/>
            </a:solidFill>
          </a:ln>
        </p:spPr>
      </p:pic>
      <p:sp>
        <p:nvSpPr>
          <p:cNvPr id="9" name="TextBox 8"/>
          <p:cNvSpPr txBox="1"/>
          <p:nvPr/>
        </p:nvSpPr>
        <p:spPr>
          <a:xfrm>
            <a:off x="7863840" y="1874519"/>
            <a:ext cx="3687775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350" b="1" i="0">
                <a:solidFill>
                  <a:srgbClr val="1C3D5A"/>
                </a:solidFill>
                <a:latin typeface="Microsoft JhengHei"/>
                <a:ea typeface="Microsoft JhengHei"/>
                <a:cs typeface="Microsoft JhengHei"/>
              </a:rPr>
              <a:t>可用度模型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863840" y="2203703"/>
            <a:ext cx="3687775" cy="0"/>
          </a:xfrm>
          <a:prstGeom prst="bentConnector3">
            <a:avLst/>
          </a:prstGeom>
          <a:ln w="12700">
            <a:solidFill>
              <a:srgbClr val="D7E0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7863840" y="2331719"/>
            <a:ext cx="3687775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250" b="1" i="0">
                <a:solidFill>
                  <a:srgbClr val="C8922E"/>
                </a:solidFill>
                <a:latin typeface="Microsoft JhengHei"/>
                <a:ea typeface="Microsoft JhengHei"/>
                <a:cs typeface="Microsoft JhengHei"/>
              </a:rPr>
              <a:t>▪  </a:t>
            </a:r>
            <a:r>
              <a:rPr sz="1250" b="0" i="0">
                <a:solidFill>
                  <a:srgbClr val="3D4D5A"/>
                </a:solidFill>
                <a:latin typeface="Microsoft JhengHei"/>
                <a:ea typeface="Microsoft JhengHei"/>
                <a:cs typeface="Microsoft JhengHei"/>
              </a:rPr>
              <a:t>可用度 = f(累計趟次 mod 45)</a:t>
            </a:r>
          </a:p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250" b="1" i="0">
                <a:solidFill>
                  <a:srgbClr val="C8922E"/>
                </a:solidFill>
                <a:latin typeface="Microsoft JhengHei"/>
                <a:ea typeface="Microsoft JhengHei"/>
                <a:cs typeface="Microsoft JhengHei"/>
              </a:rPr>
              <a:t>▪  </a:t>
            </a:r>
            <a:r>
              <a:rPr sz="1250" b="0" i="0">
                <a:solidFill>
                  <a:srgbClr val="3D4D5A"/>
                </a:solidFill>
                <a:latin typeface="Microsoft JhengHei"/>
                <a:ea typeface="Microsoft JhengHei"/>
                <a:cs typeface="Microsoft JhengHei"/>
              </a:rPr>
              <a:t>MAINT_INTERVAL = 45 趟</a:t>
            </a:r>
          </a:p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250" b="1" i="0">
                <a:solidFill>
                  <a:srgbClr val="C8922E"/>
                </a:solidFill>
                <a:latin typeface="Microsoft JhengHei"/>
                <a:ea typeface="Microsoft JhengHei"/>
                <a:cs typeface="Microsoft JhengHei"/>
              </a:rPr>
              <a:t>▪  </a:t>
            </a:r>
            <a:r>
              <a:rPr sz="1250" b="0" i="0">
                <a:solidFill>
                  <a:srgbClr val="3D4D5A"/>
                </a:solidFill>
                <a:latin typeface="Microsoft JhengHei"/>
                <a:ea typeface="Microsoft JhengHei"/>
                <a:cs typeface="Microsoft JhengHei"/>
              </a:rPr>
              <a:t>可用度 &lt; 30% → 標記「需維護」</a:t>
            </a:r>
          </a:p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250" b="1" i="0">
                <a:solidFill>
                  <a:srgbClr val="C8922E"/>
                </a:solidFill>
                <a:latin typeface="Microsoft JhengHei"/>
                <a:ea typeface="Microsoft JhengHei"/>
                <a:cs typeface="Microsoft JhengHei"/>
              </a:rPr>
              <a:t>▪  </a:t>
            </a:r>
            <a:r>
              <a:rPr sz="1250" b="0" i="0">
                <a:solidFill>
                  <a:srgbClr val="3D4D5A"/>
                </a:solidFill>
                <a:latin typeface="Microsoft JhengHei"/>
                <a:ea typeface="Microsoft JhengHei"/>
                <a:cs typeface="Microsoft JhengHei"/>
              </a:rPr>
              <a:t>需維護船艦不進入排班候選池</a:t>
            </a:r>
          </a:p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250" b="1" i="0">
                <a:solidFill>
                  <a:srgbClr val="C8922E"/>
                </a:solidFill>
                <a:latin typeface="Microsoft JhengHei"/>
                <a:ea typeface="Microsoft JhengHei"/>
                <a:cs typeface="Microsoft JhengHei"/>
              </a:rPr>
              <a:t>▪  </a:t>
            </a:r>
            <a:r>
              <a:rPr sz="1250" b="0" i="0">
                <a:solidFill>
                  <a:srgbClr val="3D4D5A"/>
                </a:solidFill>
                <a:latin typeface="Microsoft JhengHei"/>
                <a:ea typeface="Microsoft JhengHei"/>
                <a:cs typeface="Microsoft JhengHei"/>
              </a:rPr>
              <a:t>與疲勞 / 暴露聯動，避免高風險組合</a:t>
            </a:r>
          </a:p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250" b="1" i="0">
                <a:solidFill>
                  <a:srgbClr val="C8922E"/>
                </a:solidFill>
                <a:latin typeface="Microsoft JhengHei"/>
                <a:ea typeface="Microsoft JhengHei"/>
                <a:cs typeface="Microsoft JhengHei"/>
              </a:rPr>
              <a:t>▪  </a:t>
            </a:r>
            <a:r>
              <a:rPr sz="1250" b="0" i="0">
                <a:solidFill>
                  <a:srgbClr val="3D4D5A"/>
                </a:solidFill>
                <a:latin typeface="Microsoft JhengHei"/>
                <a:ea typeface="Microsoft JhengHei"/>
                <a:cs typeface="Microsoft JhengHei"/>
              </a:rPr>
              <a:t>本次：所有船艦可用、無需維護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20624"/>
            <a:ext cx="109115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200" b="1" i="0">
                <a:solidFill>
                  <a:srgbClr val="C8922E"/>
                </a:solidFill>
                <a:latin typeface="Microsoft JhengHei"/>
                <a:ea typeface="Microsoft JhengHei"/>
                <a:cs typeface="Microsoft JhengHei"/>
              </a:rPr>
              <a:t>人資決策 · 人員雷達圖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76656"/>
            <a:ext cx="10911535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2500" b="1" i="0">
                <a:solidFill>
                  <a:srgbClr val="1C3D5A"/>
                </a:solidFill>
                <a:latin typeface="Microsoft JhengHei"/>
                <a:ea typeface="Microsoft JhengHei"/>
                <a:cs typeface="Microsoft JhengHei"/>
              </a:rPr>
              <a:t>五維能力輪廓，支援精準調度決策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40080" y="1417320"/>
            <a:ext cx="566928" cy="0"/>
          </a:xfrm>
          <a:prstGeom prst="bentConnector3">
            <a:avLst/>
          </a:prstGeom>
          <a:ln w="30480">
            <a:solidFill>
              <a:srgbClr val="C892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640080" y="6455664"/>
            <a:ext cx="10911535" cy="0"/>
          </a:xfrm>
          <a:prstGeom prst="bentConnector3">
            <a:avLst/>
          </a:prstGeom>
          <a:ln w="9525">
            <a:solidFill>
              <a:srgbClr val="D7E0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40080" y="651052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950" b="0" i="0">
                <a:solidFill>
                  <a:srgbClr val="7C8B97"/>
                </a:solidFill>
                <a:latin typeface="Microsoft JhengHei"/>
                <a:ea typeface="Microsoft JhengHei"/>
                <a:cs typeface="Microsoft JhengHei"/>
              </a:rPr>
              <a:t>海勤人力資源與作業安全決策系統  ·  114-2 巨量資料與雲端運算  第 2 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54335" y="6510528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500"/>
              </a:spcAft>
            </a:pPr>
            <a:r>
              <a:rPr sz="950" b="0" i="0">
                <a:solidFill>
                  <a:srgbClr val="7C8B97"/>
                </a:solidFill>
                <a:latin typeface="Consolas"/>
                <a:ea typeface="Microsoft JhengHei"/>
                <a:cs typeface="Consolas"/>
              </a:rPr>
              <a:t>36</a:t>
            </a:r>
          </a:p>
        </p:txBody>
      </p:sp>
      <p:pic>
        <p:nvPicPr>
          <p:cNvPr id="8" name="Picture 7" descr="crew_rad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9200" y="1874519"/>
            <a:ext cx="4693920" cy="4023360"/>
          </a:xfrm>
          <a:prstGeom prst="rect">
            <a:avLst/>
          </a:prstGeom>
          <a:ln w="9525">
            <a:solidFill>
              <a:srgbClr val="C5D2DA"/>
            </a:solidFill>
          </a:ln>
        </p:spPr>
      </p:pic>
      <p:sp>
        <p:nvSpPr>
          <p:cNvPr id="9" name="TextBox 8"/>
          <p:cNvSpPr txBox="1"/>
          <p:nvPr/>
        </p:nvSpPr>
        <p:spPr>
          <a:xfrm>
            <a:off x="6812280" y="1874519"/>
            <a:ext cx="4739335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350" b="1" i="0">
                <a:solidFill>
                  <a:srgbClr val="1C3D5A"/>
                </a:solidFill>
                <a:latin typeface="Microsoft JhengHei"/>
                <a:ea typeface="Microsoft JhengHei"/>
                <a:cs typeface="Microsoft JhengHei"/>
              </a:rPr>
              <a:t>維度與應用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6812280" y="2203703"/>
            <a:ext cx="4739335" cy="0"/>
          </a:xfrm>
          <a:prstGeom prst="bentConnector3">
            <a:avLst/>
          </a:prstGeom>
          <a:ln w="12700">
            <a:solidFill>
              <a:srgbClr val="D7E0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6812280" y="2331719"/>
            <a:ext cx="4739335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200" b="1" i="0">
                <a:solidFill>
                  <a:srgbClr val="C8922E"/>
                </a:solidFill>
                <a:latin typeface="Microsoft JhengHei"/>
                <a:ea typeface="Microsoft JhengHei"/>
                <a:cs typeface="Microsoft JhengHei"/>
              </a:rPr>
              <a:t>▪  </a:t>
            </a:r>
            <a:r>
              <a:rPr sz="1200" b="0" i="0">
                <a:solidFill>
                  <a:srgbClr val="3D4D5A"/>
                </a:solidFill>
                <a:latin typeface="Microsoft JhengHei"/>
                <a:ea typeface="Microsoft JhengHei"/>
                <a:cs typeface="Microsoft JhengHei"/>
              </a:rPr>
              <a:t>五維：出勤次數 / 總工時 / 平均工時</a:t>
            </a:r>
          </a:p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200" b="1" i="0">
                <a:solidFill>
                  <a:srgbClr val="C8922E"/>
                </a:solidFill>
                <a:latin typeface="Microsoft JhengHei"/>
                <a:ea typeface="Microsoft JhengHei"/>
                <a:cs typeface="Microsoft JhengHei"/>
              </a:rPr>
              <a:t>▪  </a:t>
            </a:r>
            <a:r>
              <a:rPr sz="1200" b="0" i="0">
                <a:solidFill>
                  <a:srgbClr val="3D4D5A"/>
                </a:solidFill>
                <a:latin typeface="Microsoft JhengHei"/>
                <a:ea typeface="Microsoft JhengHei"/>
                <a:cs typeface="Microsoft JhengHei"/>
              </a:rPr>
              <a:t>　　　/ 外海暴露率 / 大浪暴露率</a:t>
            </a:r>
          </a:p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200" b="1" i="0">
                <a:solidFill>
                  <a:srgbClr val="C8922E"/>
                </a:solidFill>
                <a:latin typeface="Microsoft JhengHei"/>
                <a:ea typeface="Microsoft JhengHei"/>
                <a:cs typeface="Microsoft JhengHei"/>
              </a:rPr>
              <a:t>▪  </a:t>
            </a:r>
            <a:r>
              <a:rPr sz="1200" b="0" i="0">
                <a:solidFill>
                  <a:srgbClr val="3D4D5A"/>
                </a:solidFill>
                <a:latin typeface="Microsoft JhengHei"/>
                <a:ea typeface="Microsoft JhengHei"/>
                <a:cs typeface="Microsoft JhengHei"/>
              </a:rPr>
              <a:t>最大值歸一化，取前 6 名人員</a:t>
            </a:r>
          </a:p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300" b="1" i="0">
                <a:solidFill>
                  <a:srgbClr val="C8922E"/>
                </a:solidFill>
                <a:latin typeface="Microsoft JhengHei"/>
                <a:ea typeface="Microsoft JhengHei"/>
                <a:cs typeface="Microsoft JhengHei"/>
              </a:rPr>
              <a:t>▪  </a:t>
            </a:r>
            <a:r>
              <a:rPr sz="1300" b="1" i="0">
                <a:solidFill>
                  <a:srgbClr val="1C3D5A"/>
                </a:solidFill>
                <a:latin typeface="Microsoft JhengHei"/>
                <a:ea typeface="Microsoft JhengHei"/>
                <a:cs typeface="Microsoft JhengHei"/>
              </a:rPr>
              <a:t>如何輔助排班</a:t>
            </a:r>
          </a:p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050" b="1" i="0">
                <a:solidFill>
                  <a:srgbClr val="C5D2DA"/>
                </a:solidFill>
                <a:latin typeface="Microsoft JhengHei"/>
                <a:ea typeface="Microsoft JhengHei"/>
                <a:cs typeface="Microsoft JhengHei"/>
              </a:rPr>
              <a:t>–  </a:t>
            </a:r>
            <a:r>
              <a:rPr sz="1050" b="0" i="0">
                <a:solidFill>
                  <a:srgbClr val="7C8B97"/>
                </a:solidFill>
                <a:latin typeface="Microsoft JhengHei"/>
                <a:ea typeface="Microsoft JhengHei"/>
                <a:cs typeface="Microsoft JhengHei"/>
              </a:rPr>
              <a:t>外海+大浪暴露高 → 換至近海/港口</a:t>
            </a:r>
          </a:p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050" b="1" i="0">
                <a:solidFill>
                  <a:srgbClr val="C5D2DA"/>
                </a:solidFill>
                <a:latin typeface="Microsoft JhengHei"/>
                <a:ea typeface="Microsoft JhengHei"/>
                <a:cs typeface="Microsoft JhengHei"/>
              </a:rPr>
              <a:t>–  </a:t>
            </a:r>
            <a:r>
              <a:rPr sz="1050" b="0" i="0">
                <a:solidFill>
                  <a:srgbClr val="7C8B97"/>
                </a:solidFill>
                <a:latin typeface="Microsoft JhengHei"/>
                <a:ea typeface="Microsoft JhengHei"/>
                <a:cs typeface="Microsoft JhengHei"/>
              </a:rPr>
              <a:t>暴露低+疲勞低 → 外海最佳候選</a:t>
            </a:r>
          </a:p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050" b="1" i="0">
                <a:solidFill>
                  <a:srgbClr val="C5D2DA"/>
                </a:solidFill>
                <a:latin typeface="Microsoft JhengHei"/>
                <a:ea typeface="Microsoft JhengHei"/>
                <a:cs typeface="Microsoft JhengHei"/>
              </a:rPr>
              <a:t>–  </a:t>
            </a:r>
            <a:r>
              <a:rPr sz="1050" b="0" i="0">
                <a:solidFill>
                  <a:srgbClr val="7C8B97"/>
                </a:solidFill>
                <a:latin typeface="Microsoft JhengHei"/>
                <a:ea typeface="Microsoft JhengHei"/>
                <a:cs typeface="Microsoft JhengHei"/>
              </a:rPr>
              <a:t>總工時偏高 → 潛在過勞、建議輪休</a:t>
            </a:r>
          </a:p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200" b="1" i="0">
                <a:solidFill>
                  <a:srgbClr val="C8922E"/>
                </a:solidFill>
                <a:latin typeface="Microsoft JhengHei"/>
                <a:ea typeface="Microsoft JhengHei"/>
                <a:cs typeface="Microsoft JhengHei"/>
              </a:rPr>
              <a:t>▪  </a:t>
            </a:r>
            <a:r>
              <a:rPr sz="1200" b="0" i="0">
                <a:solidFill>
                  <a:srgbClr val="3D4D5A"/>
                </a:solidFill>
                <a:latin typeface="Microsoft JhengHei"/>
                <a:ea typeface="Microsoft JhengHei"/>
                <a:cs typeface="Microsoft JhengHei"/>
              </a:rPr>
              <a:t>補足 Lorenz 只看整體分配的不足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C3D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822960"/>
            <a:ext cx="4572000" cy="2926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20000" b="1" i="0">
                <a:solidFill>
                  <a:srgbClr val="E9F0F4"/>
                </a:solidFill>
                <a:latin typeface="Consolas"/>
                <a:ea typeface="Microsoft JhengHei"/>
                <a:cs typeface="Consolas"/>
              </a:rPr>
              <a:t>09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2788920"/>
            <a:ext cx="64008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300" b="1" i="0">
                <a:solidFill>
                  <a:srgbClr val="C8922E"/>
                </a:solidFill>
                <a:latin typeface="Consolas"/>
                <a:ea typeface="Microsoft JhengHei"/>
                <a:cs typeface="Consolas"/>
              </a:rPr>
              <a:t>SECTION 09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3108960"/>
            <a:ext cx="77724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3600" b="1" i="0">
                <a:solidFill>
                  <a:srgbClr val="1C3D5A"/>
                </a:solidFill>
                <a:latin typeface="Microsoft JhengHei"/>
                <a:ea typeface="Microsoft JhengHei"/>
                <a:cs typeface="Microsoft JhengHei"/>
              </a:rPr>
              <a:t>互動介面與工程品質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4069080"/>
            <a:ext cx="7772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500" b="0" i="0">
                <a:solidFill>
                  <a:srgbClr val="7C8B97"/>
                </a:solidFill>
                <a:latin typeface="Consolas"/>
                <a:ea typeface="Microsoft JhengHei"/>
                <a:cs typeface="Consolas"/>
              </a:rPr>
              <a:t>Interface &amp; Engineering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886968" y="3931920"/>
            <a:ext cx="2743200" cy="0"/>
          </a:xfrm>
          <a:prstGeom prst="bentConnector3">
            <a:avLst/>
          </a:prstGeom>
          <a:ln w="30480">
            <a:solidFill>
              <a:srgbClr val="C892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7955279" y="1371600"/>
            <a:ext cx="36576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200" b="1" i="0">
                <a:solidFill>
                  <a:srgbClr val="C8922E"/>
                </a:solidFill>
                <a:latin typeface="Microsoft JhengHei"/>
                <a:ea typeface="Microsoft JhengHei"/>
                <a:cs typeface="Microsoft JhengHei"/>
              </a:rPr>
              <a:t>本章內容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955279" y="1700784"/>
            <a:ext cx="3657600" cy="0"/>
          </a:xfrm>
          <a:prstGeom prst="bentConnector3">
            <a:avLst/>
          </a:prstGeom>
          <a:ln w="12700">
            <a:solidFill>
              <a:srgbClr val="D7E0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7955279" y="1865376"/>
            <a:ext cx="3657600" cy="4114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1100"/>
              </a:spcAft>
            </a:pPr>
            <a:r>
              <a:rPr sz="1300" b="1" i="0">
                <a:solidFill>
                  <a:srgbClr val="C8922E"/>
                </a:solidFill>
                <a:latin typeface="Microsoft JhengHei"/>
                <a:ea typeface="Microsoft JhengHei"/>
                <a:cs typeface="Microsoft JhengHei"/>
              </a:rPr>
              <a:t>▪  </a:t>
            </a:r>
            <a:r>
              <a:rPr sz="1300" b="0" i="0">
                <a:solidFill>
                  <a:srgbClr val="3D4D5A"/>
                </a:solidFill>
                <a:latin typeface="Microsoft JhengHei"/>
                <a:ea typeface="Microsoft JhengHei"/>
                <a:cs typeface="Microsoft JhengHei"/>
              </a:rPr>
              <a:t>Gradio 互動分析</a:t>
            </a:r>
          </a:p>
          <a:p>
            <a:pPr algn="l">
              <a:lnSpc>
                <a:spcPct val="120000"/>
              </a:lnSpc>
              <a:spcAft>
                <a:spcPts val="1100"/>
              </a:spcAft>
            </a:pPr>
            <a:r>
              <a:rPr sz="1300" b="1" i="0">
                <a:solidFill>
                  <a:srgbClr val="C8922E"/>
                </a:solidFill>
                <a:latin typeface="Microsoft JhengHei"/>
                <a:ea typeface="Microsoft JhengHei"/>
                <a:cs typeface="Microsoft JhengHei"/>
              </a:rPr>
              <a:t>▪  </a:t>
            </a:r>
            <a:r>
              <a:rPr sz="1300" b="0" i="0">
                <a:solidFill>
                  <a:srgbClr val="3D4D5A"/>
                </a:solidFill>
                <a:latin typeface="Microsoft JhengHei"/>
                <a:ea typeface="Microsoft JhengHei"/>
                <a:cs typeface="Microsoft JhengHei"/>
              </a:rPr>
              <a:t>Folium 互動地圖</a:t>
            </a:r>
          </a:p>
          <a:p>
            <a:pPr algn="l">
              <a:lnSpc>
                <a:spcPct val="120000"/>
              </a:lnSpc>
              <a:spcAft>
                <a:spcPts val="1100"/>
              </a:spcAft>
            </a:pPr>
            <a:r>
              <a:rPr sz="1300" b="1" i="0">
                <a:solidFill>
                  <a:srgbClr val="C8922E"/>
                </a:solidFill>
                <a:latin typeface="Microsoft JhengHei"/>
                <a:ea typeface="Microsoft JhengHei"/>
                <a:cs typeface="Microsoft JhengHei"/>
              </a:rPr>
              <a:t>▪  </a:t>
            </a:r>
            <a:r>
              <a:rPr sz="1300" b="0" i="0">
                <a:solidFill>
                  <a:srgbClr val="3D4D5A"/>
                </a:solidFill>
                <a:latin typeface="Microsoft JhengHei"/>
                <a:ea typeface="Microsoft JhengHei"/>
                <a:cs typeface="Microsoft JhengHei"/>
              </a:rPr>
              <a:t>GitHub 管理與 CI</a:t>
            </a:r>
          </a:p>
          <a:p>
            <a:pPr algn="l">
              <a:lnSpc>
                <a:spcPct val="120000"/>
              </a:lnSpc>
              <a:spcAft>
                <a:spcPts val="1100"/>
              </a:spcAft>
            </a:pPr>
            <a:r>
              <a:rPr sz="1300" b="1" i="0">
                <a:solidFill>
                  <a:srgbClr val="C8922E"/>
                </a:solidFill>
                <a:latin typeface="Microsoft JhengHei"/>
                <a:ea typeface="Microsoft JhengHei"/>
                <a:cs typeface="Microsoft JhengHei"/>
              </a:rPr>
              <a:t>▪  </a:t>
            </a:r>
            <a:r>
              <a:rPr sz="1300" b="0" i="0">
                <a:solidFill>
                  <a:srgbClr val="3D4D5A"/>
                </a:solidFill>
                <a:latin typeface="Microsoft JhengHei"/>
                <a:ea typeface="Microsoft JhengHei"/>
                <a:cs typeface="Microsoft JhengHei"/>
              </a:rPr>
              <a:t>技術清單與結語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640080" y="6455664"/>
            <a:ext cx="10911535" cy="0"/>
          </a:xfrm>
          <a:prstGeom prst="bentConnector3">
            <a:avLst/>
          </a:prstGeom>
          <a:ln w="9525">
            <a:solidFill>
              <a:srgbClr val="D7E0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640080" y="651052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950" b="0" i="0">
                <a:solidFill>
                  <a:srgbClr val="7C8B97"/>
                </a:solidFill>
                <a:latin typeface="Microsoft JhengHei"/>
                <a:ea typeface="Microsoft JhengHei"/>
                <a:cs typeface="Microsoft JhengHei"/>
              </a:rPr>
              <a:t>海勤人力資源與作業安全決策系統  ·  114-2 巨量資料與雲端運算  第 2 組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20624"/>
            <a:ext cx="109115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200" b="1" i="0">
                <a:solidFill>
                  <a:srgbClr val="C8922E"/>
                </a:solidFill>
                <a:latin typeface="Microsoft JhengHei"/>
                <a:ea typeface="Microsoft JhengHei"/>
                <a:cs typeface="Microsoft JhengHei"/>
              </a:rPr>
              <a:t>互動介面 · GRADIO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76656"/>
            <a:ext cx="10911535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2500" b="1" i="0">
                <a:solidFill>
                  <a:srgbClr val="1C3D5A"/>
                </a:solidFill>
                <a:latin typeface="Microsoft JhengHei"/>
                <a:ea typeface="Microsoft JhengHei"/>
                <a:cs typeface="Microsoft JhengHei"/>
              </a:rPr>
              <a:t>篩選即時重跑 25 張圖表，七大分頁覆蓋全分析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40080" y="1417320"/>
            <a:ext cx="566928" cy="0"/>
          </a:xfrm>
          <a:prstGeom prst="bentConnector3">
            <a:avLst/>
          </a:prstGeom>
          <a:ln w="30480">
            <a:solidFill>
              <a:srgbClr val="C892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640080" y="6455664"/>
            <a:ext cx="10911535" cy="0"/>
          </a:xfrm>
          <a:prstGeom prst="bentConnector3">
            <a:avLst/>
          </a:prstGeom>
          <a:ln w="9525">
            <a:solidFill>
              <a:srgbClr val="D7E0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40080" y="651052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950" b="0" i="0">
                <a:solidFill>
                  <a:srgbClr val="7C8B97"/>
                </a:solidFill>
                <a:latin typeface="Microsoft JhengHei"/>
                <a:ea typeface="Microsoft JhengHei"/>
                <a:cs typeface="Microsoft JhengHei"/>
              </a:rPr>
              <a:t>海勤人力資源與作業安全決策系統  ·  114-2 巨量資料與雲端運算  第 2 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54335" y="6510528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500"/>
              </a:spcAft>
            </a:pPr>
            <a:r>
              <a:rPr sz="950" b="0" i="0">
                <a:solidFill>
                  <a:srgbClr val="7C8B97"/>
                </a:solidFill>
                <a:latin typeface="Consolas"/>
                <a:ea typeface="Microsoft JhengHei"/>
                <a:cs typeface="Consolas"/>
              </a:rPr>
              <a:t>37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874519"/>
            <a:ext cx="5669280" cy="74980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7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1874519"/>
            <a:ext cx="82296" cy="749808"/>
          </a:xfrm>
          <a:prstGeom prst="rect">
            <a:avLst/>
          </a:prstGeom>
          <a:solidFill>
            <a:srgbClr val="BC5B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965959"/>
            <a:ext cx="521208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400" b="1" i="0">
                <a:solidFill>
                  <a:srgbClr val="1C3D5A"/>
                </a:solidFill>
                <a:latin typeface="Microsoft JhengHei"/>
                <a:ea typeface="Microsoft JhengHei"/>
                <a:cs typeface="Microsoft JhengHei"/>
              </a:rPr>
              <a:t>勤務決策建議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295143"/>
            <a:ext cx="5212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100" b="0" i="0">
                <a:solidFill>
                  <a:srgbClr val="7C8B97"/>
                </a:solidFill>
                <a:latin typeface="Microsoft JhengHei"/>
                <a:ea typeface="Microsoft JhengHei"/>
                <a:cs typeface="Microsoft JhengHei"/>
              </a:rPr>
              <a:t>海況警示 · 海域風險 · 外海暴露 Top 8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0" y="1874519"/>
            <a:ext cx="5669280" cy="74980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7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583680" y="1874519"/>
            <a:ext cx="82296" cy="749808"/>
          </a:xfrm>
          <a:prstGeom prst="rect">
            <a:avLst/>
          </a:prstGeom>
          <a:solidFill>
            <a:srgbClr val="1C3D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0" y="1965959"/>
            <a:ext cx="521208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400" b="1" i="0">
                <a:solidFill>
                  <a:srgbClr val="1C3D5A"/>
                </a:solidFill>
                <a:latin typeface="Microsoft JhengHei"/>
                <a:ea typeface="Microsoft JhengHei"/>
                <a:cs typeface="Microsoft JhengHei"/>
              </a:rPr>
              <a:t>時序趨勢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0" y="2295143"/>
            <a:ext cx="5212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100" b="0" i="0">
                <a:solidFill>
                  <a:srgbClr val="7C8B97"/>
                </a:solidFill>
                <a:latin typeface="Microsoft JhengHei"/>
                <a:ea typeface="Microsoft JhengHei"/>
                <a:cs typeface="Microsoft JhengHei"/>
              </a:rPr>
              <a:t>月度趨勢 · 請假走勢 · 週幾出勤（3）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2770631"/>
            <a:ext cx="5669280" cy="74980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7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40080" y="2770631"/>
            <a:ext cx="82296" cy="749808"/>
          </a:xfrm>
          <a:prstGeom prst="rect">
            <a:avLst/>
          </a:prstGeom>
          <a:solidFill>
            <a:srgbClr val="C892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2862071"/>
            <a:ext cx="521208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400" b="1" i="0">
                <a:solidFill>
                  <a:srgbClr val="1C3D5A"/>
                </a:solidFill>
                <a:latin typeface="Microsoft JhengHei"/>
                <a:ea typeface="Microsoft JhengHei"/>
                <a:cs typeface="Microsoft JhengHei"/>
              </a:rPr>
              <a:t>預測與建模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3191255"/>
            <a:ext cx="5212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100" b="0" i="0">
                <a:solidFill>
                  <a:srgbClr val="7C8B97"/>
                </a:solidFill>
                <a:latin typeface="Microsoft JhengHei"/>
                <a:ea typeface="Microsoft JhengHei"/>
                <a:cs typeface="Microsoft JhengHei"/>
              </a:rPr>
              <a:t>線性 · Holt · 相關 · OLS · 特徵重要度（5）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83680" y="2770631"/>
            <a:ext cx="5669280" cy="74980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7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583680" y="2770631"/>
            <a:ext cx="82296" cy="749808"/>
          </a:xfrm>
          <a:prstGeom prst="rect">
            <a:avLst/>
          </a:prstGeom>
          <a:solidFill>
            <a:srgbClr val="4E8C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858000" y="2862071"/>
            <a:ext cx="521208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400" b="1" i="0">
                <a:solidFill>
                  <a:srgbClr val="1C3D5A"/>
                </a:solidFill>
                <a:latin typeface="Microsoft JhengHei"/>
                <a:ea typeface="Microsoft JhengHei"/>
                <a:cs typeface="Microsoft JhengHei"/>
              </a:rPr>
              <a:t>海域 × 海況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0" y="3191255"/>
            <a:ext cx="5212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100" b="0" i="0">
                <a:solidFill>
                  <a:srgbClr val="7C8B97"/>
                </a:solidFill>
                <a:latin typeface="Microsoft JhengHei"/>
                <a:ea typeface="Microsoft JhengHei"/>
                <a:cs typeface="Microsoft JhengHei"/>
              </a:rPr>
              <a:t>分布 · 堆疊 · 箱型 · 工時熱力（4）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3666743"/>
            <a:ext cx="5669280" cy="74980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7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40080" y="3666743"/>
            <a:ext cx="82296" cy="749808"/>
          </a:xfrm>
          <a:prstGeom prst="rect">
            <a:avLst/>
          </a:prstGeom>
          <a:solidFill>
            <a:srgbClr val="C892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14400" y="3758183"/>
            <a:ext cx="521208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400" b="1" i="0">
                <a:solidFill>
                  <a:srgbClr val="1C3D5A"/>
                </a:solidFill>
                <a:latin typeface="Microsoft JhengHei"/>
                <a:ea typeface="Microsoft JhengHei"/>
                <a:cs typeface="Microsoft JhengHei"/>
              </a:rPr>
              <a:t>人力資源決策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0" y="4087367"/>
            <a:ext cx="5212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100" b="0" i="0">
                <a:solidFill>
                  <a:srgbClr val="7C8B97"/>
                </a:solidFill>
                <a:latin typeface="Microsoft JhengHei"/>
                <a:ea typeface="Microsoft JhengHei"/>
                <a:cs typeface="Microsoft JhengHei"/>
              </a:rPr>
              <a:t>疲勞 · Lorenz · 船艦 · 雷達 · 分群 · MILP（6）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583680" y="3666743"/>
            <a:ext cx="5669280" cy="74980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7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583680" y="3666743"/>
            <a:ext cx="82296" cy="749808"/>
          </a:xfrm>
          <a:prstGeom prst="rect">
            <a:avLst/>
          </a:prstGeom>
          <a:solidFill>
            <a:srgbClr val="1C3D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858000" y="3758183"/>
            <a:ext cx="521208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400" b="1" i="0">
                <a:solidFill>
                  <a:srgbClr val="1C3D5A"/>
                </a:solidFill>
                <a:latin typeface="Microsoft JhengHei"/>
                <a:ea typeface="Microsoft JhengHei"/>
                <a:cs typeface="Microsoft JhengHei"/>
              </a:rPr>
              <a:t>資源調度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58000" y="4087367"/>
            <a:ext cx="5212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100" b="0" i="0">
                <a:solidFill>
                  <a:srgbClr val="7C8B97"/>
                </a:solidFill>
                <a:latin typeface="Microsoft JhengHei"/>
                <a:ea typeface="Microsoft JhengHei"/>
                <a:cs typeface="Microsoft JhengHei"/>
              </a:rPr>
              <a:t>船艦次數 · Pareto · 人員熱力（3）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40080" y="4562855"/>
            <a:ext cx="10911535" cy="74980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7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40080" y="4562855"/>
            <a:ext cx="82296" cy="749808"/>
          </a:xfrm>
          <a:prstGeom prst="rect">
            <a:avLst/>
          </a:prstGeom>
          <a:solidFill>
            <a:srgbClr val="BC5B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14400" y="4654295"/>
            <a:ext cx="10454335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400" b="1" i="0">
                <a:solidFill>
                  <a:srgbClr val="1C3D5A"/>
                </a:solidFill>
                <a:latin typeface="Microsoft JhengHei"/>
                <a:ea typeface="Microsoft JhengHei"/>
                <a:cs typeface="Microsoft JhengHei"/>
              </a:rPr>
              <a:t>異常診斷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14400" y="4983479"/>
            <a:ext cx="104543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100" b="0" i="0">
                <a:solidFill>
                  <a:srgbClr val="7C8B97"/>
                </a:solidFill>
                <a:latin typeface="Microsoft JhengHei"/>
                <a:ea typeface="Microsoft JhengHei"/>
                <a:cs typeface="Microsoft JhengHei"/>
              </a:rPr>
              <a:t>Z-score + Isolation Forest（2）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40080" y="5650992"/>
            <a:ext cx="10911535" cy="566928"/>
          </a:xfrm>
          <a:prstGeom prst="roundRect">
            <a:avLst>
              <a:gd name="adj" fmla="val 10000"/>
            </a:avLst>
          </a:prstGeom>
          <a:solidFill>
            <a:srgbClr val="FBF4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40080" y="5650992"/>
            <a:ext cx="82296" cy="566928"/>
          </a:xfrm>
          <a:prstGeom prst="rect">
            <a:avLst/>
          </a:prstGeom>
          <a:solidFill>
            <a:srgbClr val="C892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96112" y="5650992"/>
            <a:ext cx="137160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200" b="1" i="0">
                <a:solidFill>
                  <a:srgbClr val="C8922E"/>
                </a:solidFill>
                <a:latin typeface="Microsoft JhengHei"/>
                <a:ea typeface="Microsoft JhengHei"/>
                <a:cs typeface="Microsoft JhengHei"/>
              </a:rPr>
              <a:t>技術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331720" y="5650992"/>
            <a:ext cx="8991295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300" b="0" i="0">
                <a:solidFill>
                  <a:srgbClr val="1C3D5A"/>
                </a:solidFill>
                <a:latin typeface="Microsoft JhengHei"/>
                <a:ea typeface="Microsoft JhengHei"/>
                <a:cs typeface="Microsoft JhengHei"/>
              </a:rPr>
              <a:t>篩選在 SQL 層執行（不佔記憶體）；結果存 filtered_*，不覆蓋全覽，PHP 儀表板持續可用。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20624"/>
            <a:ext cx="109115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200" b="1" i="0">
                <a:solidFill>
                  <a:srgbClr val="C8922E"/>
                </a:solidFill>
                <a:latin typeface="Microsoft JhengHei"/>
                <a:ea typeface="Microsoft JhengHei"/>
                <a:cs typeface="Microsoft JhengHei"/>
              </a:rPr>
              <a:t>互動介面 · FOLIUM 地圖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76656"/>
            <a:ext cx="10911535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2500" b="1" i="0">
                <a:solidFill>
                  <a:srgbClr val="1C3D5A"/>
                </a:solidFill>
                <a:latin typeface="Microsoft JhengHei"/>
                <a:ea typeface="Microsoft JhengHei"/>
                <a:cs typeface="Microsoft JhengHei"/>
              </a:rPr>
              <a:t>三海域風險圈 + 船艦 + CWA 浮標站互動地圖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40080" y="1417320"/>
            <a:ext cx="566928" cy="0"/>
          </a:xfrm>
          <a:prstGeom prst="bentConnector3">
            <a:avLst/>
          </a:prstGeom>
          <a:ln w="30480">
            <a:solidFill>
              <a:srgbClr val="C892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640080" y="6455664"/>
            <a:ext cx="10911535" cy="0"/>
          </a:xfrm>
          <a:prstGeom prst="bentConnector3">
            <a:avLst/>
          </a:prstGeom>
          <a:ln w="9525">
            <a:solidFill>
              <a:srgbClr val="D7E0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40080" y="651052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950" b="0" i="0">
                <a:solidFill>
                  <a:srgbClr val="7C8B97"/>
                </a:solidFill>
                <a:latin typeface="Microsoft JhengHei"/>
                <a:ea typeface="Microsoft JhengHei"/>
                <a:cs typeface="Microsoft JhengHei"/>
              </a:rPr>
              <a:t>海勤人力資源與作業安全決策系統  ·  114-2 巨量資料與雲端運算  第 2 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54335" y="6510528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500"/>
              </a:spcAft>
            </a:pPr>
            <a:r>
              <a:rPr sz="950" b="0" i="0">
                <a:solidFill>
                  <a:srgbClr val="7C8B97"/>
                </a:solidFill>
                <a:latin typeface="Consolas"/>
                <a:ea typeface="Microsoft JhengHei"/>
                <a:cs typeface="Consolas"/>
              </a:rPr>
              <a:t>38</a:t>
            </a:r>
          </a:p>
        </p:txBody>
      </p:sp>
      <p:pic>
        <p:nvPicPr>
          <p:cNvPr id="8" name="Picture 7" descr="zone_map_stati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8672" y="1874519"/>
            <a:ext cx="4889374" cy="4023360"/>
          </a:xfrm>
          <a:prstGeom prst="rect">
            <a:avLst/>
          </a:prstGeom>
          <a:ln w="9525">
            <a:solidFill>
              <a:srgbClr val="C5D2DA"/>
            </a:solidFill>
          </a:ln>
        </p:spPr>
      </p:pic>
      <p:sp>
        <p:nvSpPr>
          <p:cNvPr id="9" name="TextBox 8"/>
          <p:cNvSpPr txBox="1"/>
          <p:nvPr/>
        </p:nvSpPr>
        <p:spPr>
          <a:xfrm>
            <a:off x="7680960" y="1874519"/>
            <a:ext cx="3870655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350" b="1" i="0">
                <a:solidFill>
                  <a:srgbClr val="1C3D5A"/>
                </a:solidFill>
                <a:latin typeface="Microsoft JhengHei"/>
                <a:ea typeface="Microsoft JhengHei"/>
                <a:cs typeface="Microsoft JhengHei"/>
              </a:rPr>
              <a:t>地圖功能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680960" y="2203703"/>
            <a:ext cx="3870655" cy="0"/>
          </a:xfrm>
          <a:prstGeom prst="bentConnector3">
            <a:avLst/>
          </a:prstGeom>
          <a:ln w="12700">
            <a:solidFill>
              <a:srgbClr val="D7E0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7680960" y="2331719"/>
            <a:ext cx="3870655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250" b="1" i="0">
                <a:solidFill>
                  <a:srgbClr val="C8922E"/>
                </a:solidFill>
                <a:latin typeface="Microsoft JhengHei"/>
                <a:ea typeface="Microsoft JhengHei"/>
                <a:cs typeface="Microsoft JhengHei"/>
              </a:rPr>
              <a:t>▪  </a:t>
            </a:r>
            <a:r>
              <a:rPr sz="1250" b="0" i="0">
                <a:solidFill>
                  <a:srgbClr val="3D4D5A"/>
                </a:solidFill>
                <a:latin typeface="Microsoft JhengHei"/>
                <a:ea typeface="Microsoft JhengHei"/>
                <a:cs typeface="Microsoft JhengHei"/>
              </a:rPr>
              <a:t>Folium（leaflet.js）輸出 duty_map.html</a:t>
            </a:r>
          </a:p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250" b="1" i="0">
                <a:solidFill>
                  <a:srgbClr val="C8922E"/>
                </a:solidFill>
                <a:latin typeface="Microsoft JhengHei"/>
                <a:ea typeface="Microsoft JhengHei"/>
                <a:cs typeface="Microsoft JhengHei"/>
              </a:rPr>
              <a:t>▪  </a:t>
            </a:r>
            <a:r>
              <a:rPr sz="1250" b="0" i="0">
                <a:solidFill>
                  <a:srgbClr val="3D4D5A"/>
                </a:solidFill>
                <a:latin typeface="Microsoft JhengHei"/>
                <a:ea typeface="Microsoft JhengHei"/>
                <a:cs typeface="Microsoft JhengHei"/>
              </a:rPr>
              <a:t>縮放 / 平移 / 點擊 popup 互動</a:t>
            </a:r>
          </a:p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250" b="1" i="0">
                <a:solidFill>
                  <a:srgbClr val="C8922E"/>
                </a:solidFill>
                <a:latin typeface="Microsoft JhengHei"/>
                <a:ea typeface="Microsoft JhengHei"/>
                <a:cs typeface="Microsoft JhengHei"/>
              </a:rPr>
              <a:t>▪  </a:t>
            </a:r>
            <a:r>
              <a:rPr sz="1250" b="0" i="0">
                <a:solidFill>
                  <a:srgbClr val="3D4D5A"/>
                </a:solidFill>
                <a:latin typeface="Microsoft JhengHei"/>
                <a:ea typeface="Microsoft JhengHei"/>
                <a:cs typeface="Microsoft JhengHei"/>
              </a:rPr>
              <a:t>三海域半透明風險圈</a:t>
            </a:r>
          </a:p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250" b="1" i="0">
                <a:solidFill>
                  <a:srgbClr val="C8922E"/>
                </a:solidFill>
                <a:latin typeface="Microsoft JhengHei"/>
                <a:ea typeface="Microsoft JhengHei"/>
                <a:cs typeface="Microsoft JhengHei"/>
              </a:rPr>
              <a:t>▪  </a:t>
            </a:r>
            <a:r>
              <a:rPr sz="1250" b="0" i="0">
                <a:solidFill>
                  <a:srgbClr val="3D4D5A"/>
                </a:solidFill>
                <a:latin typeface="Microsoft JhengHei"/>
                <a:ea typeface="Microsoft JhengHei"/>
                <a:cs typeface="Microsoft JhengHei"/>
              </a:rPr>
              <a:t>點船艦標記：編號 / 海域 / 狀態</a:t>
            </a:r>
          </a:p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250" b="1" i="0">
                <a:solidFill>
                  <a:srgbClr val="C8922E"/>
                </a:solidFill>
                <a:latin typeface="Microsoft JhengHei"/>
                <a:ea typeface="Microsoft JhengHei"/>
                <a:cs typeface="Microsoft JhengHei"/>
              </a:rPr>
              <a:t>▪  </a:t>
            </a:r>
            <a:r>
              <a:rPr sz="1250" b="0" i="0">
                <a:solidFill>
                  <a:srgbClr val="3D4D5A"/>
                </a:solidFill>
                <a:latin typeface="Microsoft JhengHei"/>
                <a:ea typeface="Microsoft JhengHei"/>
                <a:cs typeface="Microsoft JhengHei"/>
              </a:rPr>
              <a:t>點浮標站：最新波高 / 海況</a:t>
            </a:r>
          </a:p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250" b="1" i="0">
                <a:solidFill>
                  <a:srgbClr val="C8922E"/>
                </a:solidFill>
                <a:latin typeface="Microsoft JhengHei"/>
                <a:ea typeface="Microsoft JhengHei"/>
                <a:cs typeface="Microsoft JhengHei"/>
              </a:rPr>
              <a:t>▪  </a:t>
            </a:r>
            <a:r>
              <a:rPr sz="1250" b="0" i="0">
                <a:solidFill>
                  <a:srgbClr val="3D4D5A"/>
                </a:solidFill>
                <a:latin typeface="Microsoft JhengHei"/>
                <a:ea typeface="Microsoft JhengHei"/>
                <a:cs typeface="Microsoft JhengHei"/>
              </a:rPr>
              <a:t>靜態 PNG 內嵌 PHP，HTML 版以 iframe 呈現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20624"/>
            <a:ext cx="109115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200" b="1" i="0">
                <a:solidFill>
                  <a:srgbClr val="C8922E"/>
                </a:solidFill>
                <a:latin typeface="Microsoft JhengHei"/>
                <a:ea typeface="Microsoft JhengHei"/>
                <a:cs typeface="Microsoft JhengHei"/>
              </a:rPr>
              <a:t>工程品質 · GITHUB &amp; CI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76656"/>
            <a:ext cx="10911535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2500" b="1" i="0">
                <a:solidFill>
                  <a:srgbClr val="1C3D5A"/>
                </a:solidFill>
                <a:latin typeface="Microsoft JhengHei"/>
                <a:ea typeface="Microsoft JhengHei"/>
                <a:cs typeface="Microsoft JhengHei"/>
              </a:rPr>
              <a:t>規範化 commit + 45 項自動化測試全綠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40080" y="1417320"/>
            <a:ext cx="566928" cy="0"/>
          </a:xfrm>
          <a:prstGeom prst="bentConnector3">
            <a:avLst/>
          </a:prstGeom>
          <a:ln w="30480">
            <a:solidFill>
              <a:srgbClr val="C892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640080" y="6455664"/>
            <a:ext cx="10911535" cy="0"/>
          </a:xfrm>
          <a:prstGeom prst="bentConnector3">
            <a:avLst/>
          </a:prstGeom>
          <a:ln w="9525">
            <a:solidFill>
              <a:srgbClr val="D7E0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40080" y="651052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950" b="0" i="0">
                <a:solidFill>
                  <a:srgbClr val="7C8B97"/>
                </a:solidFill>
                <a:latin typeface="Microsoft JhengHei"/>
                <a:ea typeface="Microsoft JhengHei"/>
                <a:cs typeface="Microsoft JhengHei"/>
              </a:rPr>
              <a:t>海勤人力資源與作業安全決策系統  ·  114-2 巨量資料與雲端運算  第 2 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54335" y="6510528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500"/>
              </a:spcAft>
            </a:pPr>
            <a:r>
              <a:rPr sz="950" b="0" i="0">
                <a:solidFill>
                  <a:srgbClr val="7C8B97"/>
                </a:solidFill>
                <a:latin typeface="Consolas"/>
                <a:ea typeface="Microsoft JhengHei"/>
                <a:cs typeface="Consolas"/>
              </a:rPr>
              <a:t>39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874519"/>
            <a:ext cx="1554480" cy="420624"/>
          </a:xfrm>
          <a:prstGeom prst="rect">
            <a:avLst/>
          </a:prstGeom>
          <a:solidFill>
            <a:srgbClr val="1C3D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9808" y="1874519"/>
            <a:ext cx="137160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25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類型</a:t>
            </a:r>
          </a:p>
        </p:txBody>
      </p:sp>
      <p:sp>
        <p:nvSpPr>
          <p:cNvPr id="10" name="Rectangle 9"/>
          <p:cNvSpPr/>
          <p:nvPr/>
        </p:nvSpPr>
        <p:spPr>
          <a:xfrm>
            <a:off x="2194560" y="1874519"/>
            <a:ext cx="5760720" cy="420624"/>
          </a:xfrm>
          <a:prstGeom prst="rect">
            <a:avLst/>
          </a:prstGeom>
          <a:solidFill>
            <a:srgbClr val="1C3D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304288" y="1874519"/>
            <a:ext cx="557784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25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commit 說明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2295143"/>
            <a:ext cx="731520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9808" y="2295143"/>
            <a:ext cx="137160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200" b="1" i="0">
                <a:solidFill>
                  <a:srgbClr val="34506A"/>
                </a:solidFill>
                <a:latin typeface="Consolas"/>
                <a:ea typeface="Microsoft JhengHei"/>
                <a:cs typeface="Consolas"/>
              </a:rPr>
              <a:t>[docker]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304288" y="2295143"/>
            <a:ext cx="557784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200" b="0" i="0">
                <a:solidFill>
                  <a:srgbClr val="3D4D5A"/>
                </a:solidFill>
                <a:latin typeface="Microsoft JhengHei"/>
                <a:ea typeface="Microsoft JhengHei"/>
                <a:cs typeface="Microsoft JhengHei"/>
              </a:rPr>
              <a:t>三容器 docker-compose 配置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2798063"/>
            <a:ext cx="7315200" cy="502920"/>
          </a:xfrm>
          <a:prstGeom prst="rect">
            <a:avLst/>
          </a:prstGeom>
          <a:solidFill>
            <a:srgbClr val="F3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49808" y="2798063"/>
            <a:ext cx="137160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200" b="1" i="0">
                <a:solidFill>
                  <a:srgbClr val="34506A"/>
                </a:solidFill>
                <a:latin typeface="Consolas"/>
                <a:ea typeface="Microsoft JhengHei"/>
                <a:cs typeface="Consolas"/>
              </a:rPr>
              <a:t>[app]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304288" y="2798063"/>
            <a:ext cx="557784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200" b="0" i="0">
                <a:solidFill>
                  <a:srgbClr val="3D4D5A"/>
                </a:solidFill>
                <a:latin typeface="Microsoft JhengHei"/>
                <a:ea typeface="Microsoft JhengHei"/>
                <a:cs typeface="Microsoft JhengHei"/>
              </a:rPr>
              <a:t>PHP 系統 + 明日排班決策頁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" y="3300983"/>
            <a:ext cx="731520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49808" y="3300983"/>
            <a:ext cx="137160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200" b="1" i="0">
                <a:solidFill>
                  <a:srgbClr val="34506A"/>
                </a:solidFill>
                <a:latin typeface="Consolas"/>
                <a:ea typeface="Microsoft JhengHei"/>
                <a:cs typeface="Consolas"/>
              </a:rPr>
              <a:t>[data]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304288" y="3300983"/>
            <a:ext cx="557784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200" b="0" i="0">
                <a:solidFill>
                  <a:srgbClr val="3D4D5A"/>
                </a:solidFill>
                <a:latin typeface="Microsoft JhengHei"/>
                <a:ea typeface="Microsoft JhengHei"/>
                <a:cs typeface="Microsoft JhengHei"/>
              </a:rPr>
              <a:t>模擬資料 + CWA 海象管線（AR(1)）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080" y="3803903"/>
            <a:ext cx="7315200" cy="502920"/>
          </a:xfrm>
          <a:prstGeom prst="rect">
            <a:avLst/>
          </a:prstGeom>
          <a:solidFill>
            <a:srgbClr val="F3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49808" y="3803903"/>
            <a:ext cx="137160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200" b="1" i="0">
                <a:solidFill>
                  <a:srgbClr val="C8922E"/>
                </a:solidFill>
                <a:latin typeface="Consolas"/>
                <a:ea typeface="Microsoft JhengHei"/>
                <a:cs typeface="Consolas"/>
              </a:rPr>
              <a:t>[analysis]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304288" y="3803903"/>
            <a:ext cx="557784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200" b="0" i="0">
                <a:solidFill>
                  <a:srgbClr val="3D4D5A"/>
                </a:solidFill>
                <a:latin typeface="Microsoft JhengHei"/>
                <a:ea typeface="Microsoft JhengHei"/>
                <a:cs typeface="Microsoft JhengHei"/>
              </a:rPr>
              <a:t>排班 MILP + 25 圖 + ML + IsoForest + Holt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0080" y="4306823"/>
            <a:ext cx="731520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49808" y="4306823"/>
            <a:ext cx="137160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200" b="1" i="0">
                <a:solidFill>
                  <a:srgbClr val="34506A"/>
                </a:solidFill>
                <a:latin typeface="Consolas"/>
                <a:ea typeface="Microsoft JhengHei"/>
                <a:cs typeface="Consolas"/>
              </a:rPr>
              <a:t>[docs]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304288" y="4306823"/>
            <a:ext cx="557784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200" b="0" i="0">
                <a:solidFill>
                  <a:srgbClr val="3D4D5A"/>
                </a:solidFill>
                <a:latin typeface="Microsoft JhengHei"/>
                <a:ea typeface="Microsoft JhengHei"/>
                <a:cs typeface="Microsoft JhengHei"/>
              </a:rPr>
              <a:t>期末報告 · 投影片 · stats_summary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40080" y="4809743"/>
            <a:ext cx="7315200" cy="502920"/>
          </a:xfrm>
          <a:prstGeom prst="rect">
            <a:avLst/>
          </a:prstGeom>
          <a:solidFill>
            <a:srgbClr val="F3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49808" y="4809743"/>
            <a:ext cx="137160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200" b="1" i="0">
                <a:solidFill>
                  <a:srgbClr val="34506A"/>
                </a:solidFill>
                <a:latin typeface="Consolas"/>
                <a:ea typeface="Microsoft JhengHei"/>
                <a:cs typeface="Consolas"/>
              </a:rPr>
              <a:t>[fix]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304288" y="4809743"/>
            <a:ext cx="557784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200" b="0" i="0">
                <a:solidFill>
                  <a:srgbClr val="3D4D5A"/>
                </a:solidFill>
                <a:latin typeface="Microsoft JhengHei"/>
                <a:ea typeface="Microsoft JhengHei"/>
                <a:cs typeface="Microsoft JhengHei"/>
              </a:rPr>
              <a:t>start_demo.sh 自動建 .env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40080" y="1874519"/>
            <a:ext cx="7315200" cy="3438144"/>
          </a:xfrm>
          <a:prstGeom prst="rect">
            <a:avLst/>
          </a:prstGeom>
          <a:noFill/>
          <a:ln w="9525">
            <a:solidFill>
              <a:srgbClr val="D7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8321040" y="1874519"/>
            <a:ext cx="3230575" cy="4069080"/>
          </a:xfrm>
          <a:prstGeom prst="roundRect">
            <a:avLst>
              <a:gd name="adj" fmla="val 5000"/>
            </a:avLst>
          </a:prstGeom>
          <a:solidFill>
            <a:srgbClr val="F3F7F9"/>
          </a:solidFill>
          <a:ln w="9525">
            <a:solidFill>
              <a:srgbClr val="D7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549640" y="2011680"/>
            <a:ext cx="2773375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400" b="1" i="0">
                <a:solidFill>
                  <a:srgbClr val="1C3D5A"/>
                </a:solidFill>
                <a:latin typeface="Microsoft JhengHei"/>
                <a:ea typeface="Microsoft JhengHei"/>
                <a:cs typeface="Microsoft JhengHei"/>
              </a:rPr>
              <a:t>GitHub Actions CI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8549640" y="2377440"/>
            <a:ext cx="2773375" cy="0"/>
          </a:xfrm>
          <a:prstGeom prst="bentConnector3">
            <a:avLst/>
          </a:prstGeom>
          <a:ln w="12700">
            <a:solidFill>
              <a:srgbClr val="C5D2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8549640" y="2542032"/>
            <a:ext cx="18288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200" b="0" i="0">
                <a:solidFill>
                  <a:srgbClr val="3D4D5A"/>
                </a:solidFill>
                <a:latin typeface="Microsoft JhengHei"/>
                <a:ea typeface="Microsoft JhengHei"/>
                <a:cs typeface="Microsoft JhengHei"/>
              </a:rPr>
              <a:t>45 項測試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549640" y="2542032"/>
            <a:ext cx="2773375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500"/>
              </a:spcAft>
            </a:pPr>
            <a:r>
              <a:rPr sz="1200" b="1" i="0">
                <a:solidFill>
                  <a:srgbClr val="4E8C8A"/>
                </a:solidFill>
                <a:latin typeface="Microsoft JhengHei"/>
                <a:ea typeface="Microsoft JhengHei"/>
                <a:cs typeface="Microsoft JhengHei"/>
              </a:rPr>
              <a:t>✓ 全數通過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549640" y="2999232"/>
            <a:ext cx="18288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200" b="0" i="0">
                <a:solidFill>
                  <a:srgbClr val="3D4D5A"/>
                </a:solidFill>
                <a:latin typeface="Microsoft JhengHei"/>
                <a:ea typeface="Microsoft JhengHei"/>
                <a:cs typeface="Microsoft JhengHei"/>
              </a:rPr>
              <a:t>MILP 排班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549640" y="2999232"/>
            <a:ext cx="2773375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500"/>
              </a:spcAft>
            </a:pPr>
            <a:r>
              <a:rPr sz="1200" b="1" i="0">
                <a:solidFill>
                  <a:srgbClr val="4E8C8A"/>
                </a:solidFill>
                <a:latin typeface="Microsoft JhengHei"/>
                <a:ea typeface="Microsoft JhengHei"/>
                <a:cs typeface="Microsoft JhengHei"/>
              </a:rPr>
              <a:t>✓ 無雙重指派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549640" y="3456432"/>
            <a:ext cx="18288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200" b="0" i="0">
                <a:solidFill>
                  <a:srgbClr val="3D4D5A"/>
                </a:solidFill>
                <a:latin typeface="Microsoft JhengHei"/>
                <a:ea typeface="Microsoft JhengHei"/>
                <a:cs typeface="Microsoft JhengHei"/>
              </a:rPr>
              <a:t>Holt 預測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549640" y="3456432"/>
            <a:ext cx="2773375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500"/>
              </a:spcAft>
            </a:pPr>
            <a:r>
              <a:rPr sz="1200" b="1" i="0">
                <a:solidFill>
                  <a:srgbClr val="4E8C8A"/>
                </a:solidFill>
                <a:latin typeface="Microsoft JhengHei"/>
                <a:ea typeface="Microsoft JhengHei"/>
                <a:cs typeface="Microsoft JhengHei"/>
              </a:rPr>
              <a:t>✓ 趨勢追蹤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549640" y="3913632"/>
            <a:ext cx="18288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200" b="0" i="0">
                <a:solidFill>
                  <a:srgbClr val="3D4D5A"/>
                </a:solidFill>
                <a:latin typeface="Microsoft JhengHei"/>
                <a:ea typeface="Microsoft JhengHei"/>
                <a:cs typeface="Microsoft JhengHei"/>
              </a:rPr>
              <a:t>IsoForest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549640" y="3913632"/>
            <a:ext cx="2773375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500"/>
              </a:spcAft>
            </a:pPr>
            <a:r>
              <a:rPr sz="1200" b="1" i="0">
                <a:solidFill>
                  <a:srgbClr val="4E8C8A"/>
                </a:solidFill>
                <a:latin typeface="Microsoft JhengHei"/>
                <a:ea typeface="Microsoft JhengHei"/>
                <a:cs typeface="Microsoft JhengHei"/>
              </a:rPr>
              <a:t>✓ 5% 污染率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549640" y="4370832"/>
            <a:ext cx="18288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200" b="0" i="0">
                <a:solidFill>
                  <a:srgbClr val="3D4D5A"/>
                </a:solidFill>
                <a:latin typeface="Microsoft JhengHei"/>
                <a:ea typeface="Microsoft JhengHei"/>
                <a:cs typeface="Microsoft JhengHei"/>
              </a:rPr>
              <a:t>ML CV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549640" y="4370832"/>
            <a:ext cx="2773375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500"/>
              </a:spcAft>
            </a:pPr>
            <a:r>
              <a:rPr sz="1200" b="1" i="0">
                <a:solidFill>
                  <a:srgbClr val="4E8C8A"/>
                </a:solidFill>
                <a:latin typeface="Microsoft JhengHei"/>
                <a:ea typeface="Microsoft JhengHei"/>
                <a:cs typeface="Microsoft JhengHei"/>
              </a:rPr>
              <a:t>✓ 時序分割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549640" y="4828032"/>
            <a:ext cx="18288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200" b="0" i="0">
                <a:solidFill>
                  <a:srgbClr val="3D4D5A"/>
                </a:solidFill>
                <a:latin typeface="Microsoft JhengHei"/>
                <a:ea typeface="Microsoft JhengHei"/>
                <a:cs typeface="Microsoft JhengHei"/>
              </a:rPr>
              <a:t>25 圖表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549640" y="4828032"/>
            <a:ext cx="2773375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500"/>
              </a:spcAft>
            </a:pPr>
            <a:r>
              <a:rPr sz="1200" b="1" i="0">
                <a:solidFill>
                  <a:srgbClr val="4E8C8A"/>
                </a:solidFill>
                <a:latin typeface="Microsoft JhengHei"/>
                <a:ea typeface="Microsoft JhengHei"/>
                <a:cs typeface="Microsoft JhengHei"/>
              </a:rPr>
              <a:t>✓ 全部生成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8549640" y="5440680"/>
            <a:ext cx="2773375" cy="384048"/>
          </a:xfrm>
          <a:prstGeom prst="roundRect">
            <a:avLst>
              <a:gd name="adj" fmla="val 20000"/>
            </a:avLst>
          </a:prstGeom>
          <a:solidFill>
            <a:srgbClr val="1C3D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549640" y="5440680"/>
            <a:ext cx="2773375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  <a:spcAft>
                <a:spcPts val="500"/>
              </a:spcAft>
            </a:pPr>
            <a:r>
              <a:rPr sz="1200" b="1" i="0">
                <a:solidFill>
                  <a:srgbClr val="FFFFFF"/>
                </a:solidFill>
                <a:latin typeface="Consolas"/>
                <a:ea typeface="Microsoft JhengHei"/>
                <a:cs typeface="Consolas"/>
              </a:rPr>
              <a:t>45 passed in 17.87s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20624"/>
            <a:ext cx="109115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200" b="1" i="0">
                <a:solidFill>
                  <a:srgbClr val="C8922E"/>
                </a:solidFill>
                <a:latin typeface="Microsoft JhengHei"/>
                <a:ea typeface="Microsoft JhengHei"/>
                <a:cs typeface="Microsoft JhengHei"/>
              </a:rPr>
              <a:t>工程品質 · 技術清單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76656"/>
            <a:ext cx="10911535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2500" b="1" i="0">
                <a:solidFill>
                  <a:srgbClr val="1C3D5A"/>
                </a:solidFill>
                <a:latin typeface="Microsoft JhengHei"/>
                <a:ea typeface="Microsoft JhengHei"/>
                <a:cs typeface="Microsoft JhengHei"/>
              </a:rPr>
              <a:t>必要 4／4 · 選擇性 7 · 差異化創新 4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40080" y="1417320"/>
            <a:ext cx="566928" cy="0"/>
          </a:xfrm>
          <a:prstGeom prst="bentConnector3">
            <a:avLst/>
          </a:prstGeom>
          <a:ln w="30480">
            <a:solidFill>
              <a:srgbClr val="C892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640080" y="6455664"/>
            <a:ext cx="10911535" cy="0"/>
          </a:xfrm>
          <a:prstGeom prst="bentConnector3">
            <a:avLst/>
          </a:prstGeom>
          <a:ln w="9525">
            <a:solidFill>
              <a:srgbClr val="D7E0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40080" y="651052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950" b="0" i="0">
                <a:solidFill>
                  <a:srgbClr val="7C8B97"/>
                </a:solidFill>
                <a:latin typeface="Microsoft JhengHei"/>
                <a:ea typeface="Microsoft JhengHei"/>
                <a:cs typeface="Microsoft JhengHei"/>
              </a:rPr>
              <a:t>海勤人力資源與作業安全決策系統  ·  114-2 巨量資料與雲端運算  第 2 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54335" y="6510528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500"/>
              </a:spcAft>
            </a:pPr>
            <a:r>
              <a:rPr sz="950" b="0" i="0">
                <a:solidFill>
                  <a:srgbClr val="7C8B97"/>
                </a:solidFill>
                <a:latin typeface="Consolas"/>
                <a:ea typeface="Microsoft JhengHei"/>
                <a:cs typeface="Consolas"/>
              </a:rPr>
              <a:t>40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874519"/>
            <a:ext cx="3423818" cy="4114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7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1874519"/>
            <a:ext cx="3423818" cy="457200"/>
          </a:xfrm>
          <a:prstGeom prst="rect">
            <a:avLst/>
          </a:prstGeom>
          <a:solidFill>
            <a:srgbClr val="1C3D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874519"/>
            <a:ext cx="3423818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  <a:spcAft>
                <a:spcPts val="500"/>
              </a:spcAft>
            </a:pPr>
            <a:r>
              <a:rPr sz="140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必要技術 (4)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8" y="2487168"/>
            <a:ext cx="305805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200" b="1" i="0">
                <a:solidFill>
                  <a:srgbClr val="1C3D5A"/>
                </a:solidFill>
                <a:latin typeface="Microsoft JhengHei"/>
                <a:ea typeface="Microsoft JhengHei"/>
                <a:cs typeface="Microsoft JhengHei"/>
              </a:rPr>
              <a:t>✓ </a:t>
            </a:r>
          </a:p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250" b="1" i="0">
                <a:solidFill>
                  <a:srgbClr val="1C3D5A"/>
                </a:solidFill>
                <a:latin typeface="Microsoft JhengHei"/>
                <a:ea typeface="Microsoft JhengHei"/>
                <a:cs typeface="Microsoft JhengHei"/>
              </a:rPr>
              <a:t>Python + Pandas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3000" y="2706624"/>
            <a:ext cx="278373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000" b="0" i="0">
                <a:solidFill>
                  <a:srgbClr val="7C8B97"/>
                </a:solidFill>
                <a:latin typeface="Microsoft JhengHei"/>
                <a:ea typeface="Microsoft JhengHei"/>
                <a:cs typeface="Microsoft JhengHei"/>
              </a:rPr>
              <a:t>清洗 / 統計 / 排班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8" y="2944368"/>
            <a:ext cx="305805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200" b="1" i="0">
                <a:solidFill>
                  <a:srgbClr val="1C3D5A"/>
                </a:solidFill>
                <a:latin typeface="Microsoft JhengHei"/>
                <a:ea typeface="Microsoft JhengHei"/>
                <a:cs typeface="Microsoft JhengHei"/>
              </a:rPr>
              <a:t>✓ </a:t>
            </a:r>
          </a:p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250" b="1" i="0">
                <a:solidFill>
                  <a:srgbClr val="1C3D5A"/>
                </a:solidFill>
                <a:latin typeface="Microsoft JhengHei"/>
                <a:ea typeface="Microsoft JhengHei"/>
                <a:cs typeface="Microsoft JhengHei"/>
              </a:rPr>
              <a:t>Matplotlib / Seaborn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" y="3163824"/>
            <a:ext cx="278373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000" b="0" i="0">
                <a:solidFill>
                  <a:srgbClr val="7C8B97"/>
                </a:solidFill>
                <a:latin typeface="Microsoft JhengHei"/>
                <a:ea typeface="Microsoft JhengHei"/>
                <a:cs typeface="Microsoft JhengHei"/>
              </a:rPr>
              <a:t>25 張圖表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1248" y="3401568"/>
            <a:ext cx="305805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200" b="1" i="0">
                <a:solidFill>
                  <a:srgbClr val="1C3D5A"/>
                </a:solidFill>
                <a:latin typeface="Microsoft JhengHei"/>
                <a:ea typeface="Microsoft JhengHei"/>
                <a:cs typeface="Microsoft JhengHei"/>
              </a:rPr>
              <a:t>✓ </a:t>
            </a:r>
          </a:p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250" b="1" i="0">
                <a:solidFill>
                  <a:srgbClr val="1C3D5A"/>
                </a:solidFill>
                <a:latin typeface="Microsoft JhengHei"/>
                <a:ea typeface="Microsoft JhengHei"/>
                <a:cs typeface="Microsoft JhengHei"/>
              </a:rPr>
              <a:t>Docker Compose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43000" y="3621024"/>
            <a:ext cx="278373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000" b="0" i="0">
                <a:solidFill>
                  <a:srgbClr val="7C8B97"/>
                </a:solidFill>
                <a:latin typeface="Microsoft JhengHei"/>
                <a:ea typeface="Microsoft JhengHei"/>
                <a:cs typeface="Microsoft JhengHei"/>
              </a:rPr>
              <a:t>三容器一鍵部署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8" y="3858768"/>
            <a:ext cx="305805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200" b="1" i="0">
                <a:solidFill>
                  <a:srgbClr val="1C3D5A"/>
                </a:solidFill>
                <a:latin typeface="Microsoft JhengHei"/>
                <a:ea typeface="Microsoft JhengHei"/>
                <a:cs typeface="Microsoft JhengHei"/>
              </a:rPr>
              <a:t>✓ </a:t>
            </a:r>
          </a:p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250" b="1" i="0">
                <a:solidFill>
                  <a:srgbClr val="1C3D5A"/>
                </a:solidFill>
                <a:latin typeface="Microsoft JhengHei"/>
                <a:ea typeface="Microsoft JhengHei"/>
                <a:cs typeface="Microsoft JhengHei"/>
              </a:rPr>
              <a:t>Git / GitHub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43000" y="4078224"/>
            <a:ext cx="278373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000" b="0" i="0">
                <a:solidFill>
                  <a:srgbClr val="7C8B97"/>
                </a:solidFill>
                <a:latin typeface="Microsoft JhengHei"/>
                <a:ea typeface="Microsoft JhengHei"/>
                <a:cs typeface="Microsoft JhengHei"/>
              </a:rPr>
              <a:t>CI 45 tests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383938" y="1874519"/>
            <a:ext cx="3423818" cy="4114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7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383938" y="1874519"/>
            <a:ext cx="3423818" cy="457200"/>
          </a:xfrm>
          <a:prstGeom prst="rect">
            <a:avLst/>
          </a:prstGeom>
          <a:solidFill>
            <a:srgbClr val="3450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383938" y="1874519"/>
            <a:ext cx="3423818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  <a:spcAft>
                <a:spcPts val="500"/>
              </a:spcAft>
            </a:pPr>
            <a:r>
              <a:rPr sz="140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選擇性技術 (7)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85106" y="2487168"/>
            <a:ext cx="305805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200" b="1" i="0">
                <a:solidFill>
                  <a:srgbClr val="34506A"/>
                </a:solidFill>
                <a:latin typeface="Microsoft JhengHei"/>
                <a:ea typeface="Microsoft JhengHei"/>
                <a:cs typeface="Microsoft JhengHei"/>
              </a:rPr>
              <a:t>✓ </a:t>
            </a:r>
          </a:p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250" b="1" i="0">
                <a:solidFill>
                  <a:srgbClr val="1C3D5A"/>
                </a:solidFill>
                <a:latin typeface="Microsoft JhengHei"/>
                <a:ea typeface="Microsoft JhengHei"/>
                <a:cs typeface="Microsoft JhengHei"/>
              </a:rPr>
              <a:t>MySQL 8.0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886858" y="2706624"/>
            <a:ext cx="278373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000" b="0" i="0">
                <a:solidFill>
                  <a:srgbClr val="7C8B97"/>
                </a:solidFill>
                <a:latin typeface="Microsoft JhengHei"/>
                <a:ea typeface="Microsoft JhengHei"/>
                <a:cs typeface="Microsoft JhengHei"/>
              </a:rPr>
              <a:t>四張資料表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85106" y="2944368"/>
            <a:ext cx="305805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200" b="1" i="0">
                <a:solidFill>
                  <a:srgbClr val="34506A"/>
                </a:solidFill>
                <a:latin typeface="Microsoft JhengHei"/>
                <a:ea typeface="Microsoft JhengHei"/>
                <a:cs typeface="Microsoft JhengHei"/>
              </a:rPr>
              <a:t>✓ </a:t>
            </a:r>
          </a:p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250" b="1" i="0">
                <a:solidFill>
                  <a:srgbClr val="1C3D5A"/>
                </a:solidFill>
                <a:latin typeface="Microsoft JhengHei"/>
                <a:ea typeface="Microsoft JhengHei"/>
                <a:cs typeface="Microsoft JhengHei"/>
              </a:rPr>
              <a:t>Apache + PHP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886858" y="3163824"/>
            <a:ext cx="278373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000" b="0" i="0">
                <a:solidFill>
                  <a:srgbClr val="7C8B97"/>
                </a:solidFill>
                <a:latin typeface="Microsoft JhengHei"/>
                <a:ea typeface="Microsoft JhengHei"/>
                <a:cs typeface="Microsoft JhengHei"/>
              </a:rPr>
              <a:t>完整業務系統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85106" y="3401568"/>
            <a:ext cx="305805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200" b="1" i="0">
                <a:solidFill>
                  <a:srgbClr val="34506A"/>
                </a:solidFill>
                <a:latin typeface="Microsoft JhengHei"/>
                <a:ea typeface="Microsoft JhengHei"/>
                <a:cs typeface="Microsoft JhengHei"/>
              </a:rPr>
              <a:t>✓ </a:t>
            </a:r>
          </a:p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250" b="1" i="0">
                <a:solidFill>
                  <a:srgbClr val="1C3D5A"/>
                </a:solidFill>
                <a:latin typeface="Microsoft JhengHei"/>
                <a:ea typeface="Microsoft JhengHei"/>
                <a:cs typeface="Microsoft JhengHei"/>
              </a:rPr>
              <a:t>scikit-learn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886858" y="3621024"/>
            <a:ext cx="278373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000" b="0" i="0">
                <a:solidFill>
                  <a:srgbClr val="7C8B97"/>
                </a:solidFill>
                <a:latin typeface="Microsoft JhengHei"/>
                <a:ea typeface="Microsoft JhengHei"/>
                <a:cs typeface="Microsoft JhengHei"/>
              </a:rPr>
              <a:t>RF + IsoForest + GridSearch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85106" y="3858768"/>
            <a:ext cx="305805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200" b="1" i="0">
                <a:solidFill>
                  <a:srgbClr val="34506A"/>
                </a:solidFill>
                <a:latin typeface="Microsoft JhengHei"/>
                <a:ea typeface="Microsoft JhengHei"/>
                <a:cs typeface="Microsoft JhengHei"/>
              </a:rPr>
              <a:t>✓ </a:t>
            </a:r>
          </a:p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250" b="1" i="0">
                <a:solidFill>
                  <a:srgbClr val="1C3D5A"/>
                </a:solidFill>
                <a:latin typeface="Microsoft JhengHei"/>
                <a:ea typeface="Microsoft JhengHei"/>
                <a:cs typeface="Microsoft JhengHei"/>
              </a:rPr>
              <a:t>Folium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886858" y="4078224"/>
            <a:ext cx="278373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000" b="0" i="0">
                <a:solidFill>
                  <a:srgbClr val="7C8B97"/>
                </a:solidFill>
                <a:latin typeface="Microsoft JhengHei"/>
                <a:ea typeface="Microsoft JhengHei"/>
                <a:cs typeface="Microsoft JhengHei"/>
              </a:rPr>
              <a:t>互動海域地圖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85106" y="4315968"/>
            <a:ext cx="305805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200" b="1" i="0">
                <a:solidFill>
                  <a:srgbClr val="34506A"/>
                </a:solidFill>
                <a:latin typeface="Microsoft JhengHei"/>
                <a:ea typeface="Microsoft JhengHei"/>
                <a:cs typeface="Microsoft JhengHei"/>
              </a:rPr>
              <a:t>✓ </a:t>
            </a:r>
          </a:p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250" b="1" i="0">
                <a:solidFill>
                  <a:srgbClr val="1C3D5A"/>
                </a:solidFill>
                <a:latin typeface="Microsoft JhengHei"/>
                <a:ea typeface="Microsoft JhengHei"/>
                <a:cs typeface="Microsoft JhengHei"/>
              </a:rPr>
              <a:t>Gradio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886858" y="4535424"/>
            <a:ext cx="278373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000" b="0" i="0">
                <a:solidFill>
                  <a:srgbClr val="7C8B97"/>
                </a:solidFill>
                <a:latin typeface="Microsoft JhengHei"/>
                <a:ea typeface="Microsoft JhengHei"/>
                <a:cs typeface="Microsoft JhengHei"/>
              </a:rPr>
              <a:t>互動分析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85106" y="4773168"/>
            <a:ext cx="305805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200" b="1" i="0">
                <a:solidFill>
                  <a:srgbClr val="34506A"/>
                </a:solidFill>
                <a:latin typeface="Microsoft JhengHei"/>
                <a:ea typeface="Microsoft JhengHei"/>
                <a:cs typeface="Microsoft JhengHei"/>
              </a:rPr>
              <a:t>✓ </a:t>
            </a:r>
          </a:p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250" b="1" i="0">
                <a:solidFill>
                  <a:srgbClr val="1C3D5A"/>
                </a:solidFill>
                <a:latin typeface="Microsoft JhengHei"/>
                <a:ea typeface="Microsoft JhengHei"/>
                <a:cs typeface="Microsoft JhengHei"/>
              </a:rPr>
              <a:t>CWA 開放資料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886858" y="4992624"/>
            <a:ext cx="278373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000" b="0" i="0">
                <a:solidFill>
                  <a:srgbClr val="7C8B97"/>
                </a:solidFill>
                <a:latin typeface="Microsoft JhengHei"/>
                <a:ea typeface="Microsoft JhengHei"/>
                <a:cs typeface="Microsoft JhengHei"/>
              </a:rPr>
              <a:t>浮標海象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85106" y="5230368"/>
            <a:ext cx="305805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200" b="1" i="0">
                <a:solidFill>
                  <a:srgbClr val="34506A"/>
                </a:solidFill>
                <a:latin typeface="Microsoft JhengHei"/>
                <a:ea typeface="Microsoft JhengHei"/>
                <a:cs typeface="Microsoft JhengHei"/>
              </a:rPr>
              <a:t>✓ </a:t>
            </a:r>
          </a:p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250" b="1" i="0">
                <a:solidFill>
                  <a:srgbClr val="1C3D5A"/>
                </a:solidFill>
                <a:latin typeface="Microsoft JhengHei"/>
                <a:ea typeface="Microsoft JhengHei"/>
                <a:cs typeface="Microsoft JhengHei"/>
              </a:rPr>
              <a:t>Jupyter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886858" y="5449824"/>
            <a:ext cx="278373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000" b="0" i="0">
                <a:solidFill>
                  <a:srgbClr val="7C8B97"/>
                </a:solidFill>
                <a:latin typeface="Microsoft JhengHei"/>
                <a:ea typeface="Microsoft JhengHei"/>
                <a:cs typeface="Microsoft JhengHei"/>
              </a:rPr>
              <a:t>EDA 紀錄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127796" y="1874519"/>
            <a:ext cx="3423818" cy="4114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7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8127796" y="1874519"/>
            <a:ext cx="3423818" cy="457200"/>
          </a:xfrm>
          <a:prstGeom prst="rect">
            <a:avLst/>
          </a:prstGeom>
          <a:solidFill>
            <a:srgbClr val="C892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127796" y="1874519"/>
            <a:ext cx="3423818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  <a:spcAft>
                <a:spcPts val="500"/>
              </a:spcAft>
            </a:pPr>
            <a:r>
              <a:rPr sz="140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差異化創新 (4)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328964" y="2487168"/>
            <a:ext cx="305805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200" b="1" i="0">
                <a:solidFill>
                  <a:srgbClr val="C8922E"/>
                </a:solidFill>
                <a:latin typeface="Microsoft JhengHei"/>
                <a:ea typeface="Microsoft JhengHei"/>
                <a:cs typeface="Microsoft JhengHei"/>
              </a:rPr>
              <a:t>✓ </a:t>
            </a:r>
          </a:p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250" b="1" i="0">
                <a:solidFill>
                  <a:srgbClr val="1C3D5A"/>
                </a:solidFill>
                <a:latin typeface="Microsoft JhengHei"/>
                <a:ea typeface="Microsoft JhengHei"/>
                <a:cs typeface="Microsoft JhengHei"/>
              </a:rPr>
              <a:t>MILP (HiGHS)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630716" y="2706624"/>
            <a:ext cx="278373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000" b="0" i="0">
                <a:solidFill>
                  <a:srgbClr val="7C8B97"/>
                </a:solidFill>
                <a:latin typeface="Microsoft JhengHei"/>
                <a:ea typeface="Microsoft JhengHei"/>
                <a:cs typeface="Microsoft JhengHei"/>
              </a:rPr>
              <a:t>排班全域最佳化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328964" y="2944368"/>
            <a:ext cx="305805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200" b="1" i="0">
                <a:solidFill>
                  <a:srgbClr val="C8922E"/>
                </a:solidFill>
                <a:latin typeface="Microsoft JhengHei"/>
                <a:ea typeface="Microsoft JhengHei"/>
                <a:cs typeface="Microsoft JhengHei"/>
              </a:rPr>
              <a:t>✓ </a:t>
            </a:r>
          </a:p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250" b="1" i="0">
                <a:solidFill>
                  <a:srgbClr val="1C3D5A"/>
                </a:solidFill>
                <a:latin typeface="Microsoft JhengHei"/>
                <a:ea typeface="Microsoft JhengHei"/>
                <a:cs typeface="Microsoft JhengHei"/>
              </a:rPr>
              <a:t>Isolation Forest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630716" y="3163824"/>
            <a:ext cx="278373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000" b="0" i="0">
                <a:solidFill>
                  <a:srgbClr val="7C8B97"/>
                </a:solidFill>
                <a:latin typeface="Microsoft JhengHei"/>
                <a:ea typeface="Microsoft JhengHei"/>
                <a:cs typeface="Microsoft JhengHei"/>
              </a:rPr>
              <a:t>5 維異常偵測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328964" y="3401568"/>
            <a:ext cx="305805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200" b="1" i="0">
                <a:solidFill>
                  <a:srgbClr val="C8922E"/>
                </a:solidFill>
                <a:latin typeface="Microsoft JhengHei"/>
                <a:ea typeface="Microsoft JhengHei"/>
                <a:cs typeface="Microsoft JhengHei"/>
              </a:rPr>
              <a:t>✓ </a:t>
            </a:r>
          </a:p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250" b="1" i="0">
                <a:solidFill>
                  <a:srgbClr val="1C3D5A"/>
                </a:solidFill>
                <a:latin typeface="Microsoft JhengHei"/>
                <a:ea typeface="Microsoft JhengHei"/>
                <a:cs typeface="Microsoft JhengHei"/>
              </a:rPr>
              <a:t>Holt 平滑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630716" y="3621024"/>
            <a:ext cx="278373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000" b="0" i="0">
                <a:solidFill>
                  <a:srgbClr val="7C8B97"/>
                </a:solidFill>
                <a:latin typeface="Microsoft JhengHei"/>
                <a:ea typeface="Microsoft JhengHei"/>
                <a:cs typeface="Microsoft JhengHei"/>
              </a:rPr>
              <a:t>純 NumPy 趨勢預測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328964" y="3858768"/>
            <a:ext cx="305805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200" b="1" i="0">
                <a:solidFill>
                  <a:srgbClr val="C8922E"/>
                </a:solidFill>
                <a:latin typeface="Microsoft JhengHei"/>
                <a:ea typeface="Microsoft JhengHei"/>
                <a:cs typeface="Microsoft JhengHei"/>
              </a:rPr>
              <a:t>✓ </a:t>
            </a:r>
          </a:p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250" b="1" i="0">
                <a:solidFill>
                  <a:srgbClr val="1C3D5A"/>
                </a:solidFill>
                <a:latin typeface="Microsoft JhengHei"/>
                <a:ea typeface="Microsoft JhengHei"/>
                <a:cs typeface="Microsoft JhengHei"/>
              </a:rPr>
              <a:t>人員雷達圖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630716" y="4078224"/>
            <a:ext cx="278373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000" b="0" i="0">
                <a:solidFill>
                  <a:srgbClr val="7C8B97"/>
                </a:solidFill>
                <a:latin typeface="Microsoft JhengHei"/>
                <a:ea typeface="Microsoft JhengHei"/>
                <a:cs typeface="Microsoft JhengHei"/>
              </a:rPr>
              <a:t>五維調度輪廓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C892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66560"/>
            <a:ext cx="12191695" cy="91440"/>
          </a:xfrm>
          <a:prstGeom prst="rect">
            <a:avLst/>
          </a:prstGeom>
          <a:solidFill>
            <a:srgbClr val="C892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C3D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502920"/>
            <a:ext cx="10911535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300" b="1" i="0">
                <a:solidFill>
                  <a:srgbClr val="C8922E"/>
                </a:solidFill>
                <a:latin typeface="Consolas"/>
                <a:ea typeface="Microsoft JhengHei"/>
                <a:cs typeface="Consolas"/>
              </a:rPr>
              <a:t>結語 · CONCLUSION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82296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2800" b="1" i="0">
                <a:solidFill>
                  <a:srgbClr val="1C3D5A"/>
                </a:solidFill>
                <a:latin typeface="Microsoft JhengHei"/>
                <a:ea typeface="Microsoft JhengHei"/>
                <a:cs typeface="Microsoft JhengHei"/>
              </a:rPr>
              <a:t>本學期達成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508760"/>
            <a:ext cx="10911535" cy="475488"/>
          </a:xfrm>
          <a:prstGeom prst="roundRect">
            <a:avLst>
              <a:gd name="adj" fmla="val 8000"/>
            </a:avLst>
          </a:prstGeom>
          <a:solidFill>
            <a:srgbClr val="F3F7F9"/>
          </a:solidFill>
          <a:ln w="9525">
            <a:solidFill>
              <a:srgbClr val="D7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508760"/>
            <a:ext cx="45720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600" b="1" i="0">
                <a:solidFill>
                  <a:srgbClr val="4E8C8A"/>
                </a:solidFill>
                <a:latin typeface="Microsoft JhengHei"/>
                <a:ea typeface="Microsoft JhengHei"/>
                <a:cs typeface="Microsoft JhengHei"/>
              </a:rPr>
              <a:t>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80160" y="1508760"/>
            <a:ext cx="10088575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250" b="0" i="0">
                <a:solidFill>
                  <a:srgbClr val="1C3D5A"/>
                </a:solidFill>
                <a:latin typeface="Microsoft JhengHei"/>
                <a:ea typeface="Microsoft JhengHei"/>
                <a:cs typeface="Microsoft JhengHei"/>
              </a:rPr>
              <a:t>Docker 三容器一鍵部署，修正跨平台轉移問題（start_demo.sh 自動建 .env）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057400"/>
            <a:ext cx="10911535" cy="47548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7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2057400"/>
            <a:ext cx="45720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600" b="1" i="0">
                <a:solidFill>
                  <a:srgbClr val="4E8C8A"/>
                </a:solidFill>
                <a:latin typeface="Microsoft JhengHei"/>
                <a:ea typeface="Microsoft JhengHei"/>
                <a:cs typeface="Microsoft JhengHei"/>
              </a:rP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0160" y="2057400"/>
            <a:ext cx="10088575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250" b="0" i="0">
                <a:solidFill>
                  <a:srgbClr val="1C3D5A"/>
                </a:solidFill>
                <a:latin typeface="Microsoft JhengHei"/>
                <a:ea typeface="Microsoft JhengHei"/>
                <a:cs typeface="Microsoft JhengHei"/>
              </a:rPr>
              <a:t>MILP 整數規劃排班引擎 — 全域最優性差距 0%，全班唯一具名班表輸出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2606040"/>
            <a:ext cx="10911535" cy="475488"/>
          </a:xfrm>
          <a:prstGeom prst="roundRect">
            <a:avLst>
              <a:gd name="adj" fmla="val 8000"/>
            </a:avLst>
          </a:prstGeom>
          <a:solidFill>
            <a:srgbClr val="F3F7F9"/>
          </a:solidFill>
          <a:ln w="9525">
            <a:solidFill>
              <a:srgbClr val="D7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2606040"/>
            <a:ext cx="45720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600" b="1" i="0">
                <a:solidFill>
                  <a:srgbClr val="4E8C8A"/>
                </a:solidFill>
                <a:latin typeface="Microsoft JhengHei"/>
                <a:ea typeface="Microsoft JhengHei"/>
                <a:cs typeface="Microsoft JhengHei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80160" y="2606040"/>
            <a:ext cx="10088575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250" b="0" i="0">
                <a:solidFill>
                  <a:srgbClr val="1C3D5A"/>
                </a:solidFill>
                <a:latin typeface="Microsoft JhengHei"/>
                <a:ea typeface="Microsoft JhengHei"/>
                <a:cs typeface="Microsoft JhengHei"/>
              </a:rPr>
              <a:t>RandomForest（acc 0.949 / AUC 0.811）+ Markov 雙模型海況預測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3154680"/>
            <a:ext cx="10911535" cy="47548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7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3154680"/>
            <a:ext cx="45720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600" b="1" i="0">
                <a:solidFill>
                  <a:srgbClr val="4E8C8A"/>
                </a:solidFill>
                <a:latin typeface="Microsoft JhengHei"/>
                <a:ea typeface="Microsoft JhengHei"/>
                <a:cs typeface="Microsoft JhengHei"/>
              </a:rPr>
              <a:t>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80160" y="3154680"/>
            <a:ext cx="10088575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250" b="0" i="0">
                <a:solidFill>
                  <a:srgbClr val="1C3D5A"/>
                </a:solidFill>
                <a:latin typeface="Microsoft JhengHei"/>
                <a:ea typeface="Microsoft JhengHei"/>
                <a:cs typeface="Microsoft JhengHei"/>
              </a:rPr>
              <a:t>Isolation Forest 5 維異常偵測，補強 Z-score 盲區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" y="3703320"/>
            <a:ext cx="10911535" cy="475488"/>
          </a:xfrm>
          <a:prstGeom prst="roundRect">
            <a:avLst>
              <a:gd name="adj" fmla="val 8000"/>
            </a:avLst>
          </a:prstGeom>
          <a:solidFill>
            <a:srgbClr val="F3F7F9"/>
          </a:solidFill>
          <a:ln w="9525">
            <a:solidFill>
              <a:srgbClr val="D7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60" y="3703320"/>
            <a:ext cx="45720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600" b="1" i="0">
                <a:solidFill>
                  <a:srgbClr val="4E8C8A"/>
                </a:solidFill>
                <a:latin typeface="Microsoft JhengHei"/>
                <a:ea typeface="Microsoft JhengHei"/>
                <a:cs typeface="Microsoft JhengHei"/>
              </a:rPr>
              <a:t>✓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80160" y="3703320"/>
            <a:ext cx="10088575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250" b="0" i="0">
                <a:solidFill>
                  <a:srgbClr val="1C3D5A"/>
                </a:solidFill>
                <a:latin typeface="Microsoft JhengHei"/>
                <a:ea typeface="Microsoft JhengHei"/>
                <a:cs typeface="Microsoft JhengHei"/>
              </a:rPr>
              <a:t>Holt 雙指數平滑 + 線性外推雙趨勢預測（純 NumPy）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" y="4251960"/>
            <a:ext cx="10911535" cy="47548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7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2960" y="4251960"/>
            <a:ext cx="45720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600" b="1" i="0">
                <a:solidFill>
                  <a:srgbClr val="4E8C8A"/>
                </a:solidFill>
                <a:latin typeface="Microsoft JhengHei"/>
                <a:ea typeface="Microsoft JhengHei"/>
                <a:cs typeface="Microsoft JhengHei"/>
              </a:rPr>
              <a:t>✓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80160" y="4251960"/>
            <a:ext cx="10088575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250" b="0" i="0">
                <a:solidFill>
                  <a:srgbClr val="1C3D5A"/>
                </a:solidFill>
                <a:latin typeface="Microsoft JhengHei"/>
                <a:ea typeface="Microsoft JhengHei"/>
                <a:cs typeface="Microsoft JhengHei"/>
              </a:rPr>
              <a:t>人員雷達圖 · 疲勞指數 · Gini 0.042 · 船艦可用性四項人力決策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4800600"/>
            <a:ext cx="10911535" cy="475488"/>
          </a:xfrm>
          <a:prstGeom prst="roundRect">
            <a:avLst>
              <a:gd name="adj" fmla="val 8000"/>
            </a:avLst>
          </a:prstGeom>
          <a:solidFill>
            <a:srgbClr val="F3F7F9"/>
          </a:solidFill>
          <a:ln w="9525">
            <a:solidFill>
              <a:srgbClr val="D7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2960" y="4800600"/>
            <a:ext cx="45720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600" b="1" i="0">
                <a:solidFill>
                  <a:srgbClr val="4E8C8A"/>
                </a:solidFill>
                <a:latin typeface="Microsoft JhengHei"/>
                <a:ea typeface="Microsoft JhengHei"/>
                <a:cs typeface="Microsoft JhengHei"/>
              </a:rPr>
              <a:t>✓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280160" y="4800600"/>
            <a:ext cx="10088575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250" b="0" i="0">
                <a:solidFill>
                  <a:srgbClr val="1C3D5A"/>
                </a:solidFill>
                <a:latin typeface="Microsoft JhengHei"/>
                <a:ea typeface="Microsoft JhengHei"/>
                <a:cs typeface="Microsoft JhengHei"/>
              </a:rPr>
              <a:t>25 張圖表 · 45 項 CI 全綠 · F=181.4 · χ²=349.6 · R²=0.784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40080" y="5440680"/>
            <a:ext cx="10911535" cy="457200"/>
          </a:xfrm>
          <a:prstGeom prst="roundRect">
            <a:avLst>
              <a:gd name="adj" fmla="val 10000"/>
            </a:avLst>
          </a:prstGeom>
          <a:solidFill>
            <a:srgbClr val="E9F0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22960" y="5440680"/>
            <a:ext cx="10545775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250" b="0" i="0">
                <a:solidFill>
                  <a:srgbClr val="34506A"/>
                </a:solidFill>
                <a:latin typeface="Microsoft JhengHei"/>
                <a:ea typeface="Microsoft JhengHei"/>
                <a:cs typeface="Microsoft JhengHei"/>
              </a:rPr>
              <a:t>未來展望：CWA 即時 API · 多日滾動排班 · 行動裝置打卡推播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40080" y="6035040"/>
            <a:ext cx="10911535" cy="566928"/>
          </a:xfrm>
          <a:prstGeom prst="roundRect">
            <a:avLst>
              <a:gd name="adj" fmla="val 10000"/>
            </a:avLst>
          </a:prstGeom>
          <a:solidFill>
            <a:srgbClr val="1C3D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0080" y="6035040"/>
            <a:ext cx="10911535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  <a:spcAft>
                <a:spcPts val="500"/>
              </a:spcAft>
            </a:pPr>
            <a:r>
              <a:rPr sz="170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海象感知 × 人力資源 × 自動排班 — 從資料到決策的完整技術鏈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